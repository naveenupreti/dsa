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36" r:id="rId2"/>
    <p:sldId id="257" r:id="rId3"/>
    <p:sldId id="264" r:id="rId4"/>
    <p:sldId id="265" r:id="rId5"/>
    <p:sldId id="263" r:id="rId6"/>
    <p:sldId id="269" r:id="rId7"/>
    <p:sldId id="267" r:id="rId8"/>
    <p:sldId id="268" r:id="rId9"/>
    <p:sldId id="272" r:id="rId10"/>
    <p:sldId id="271" r:id="rId11"/>
    <p:sldId id="274" r:id="rId12"/>
    <p:sldId id="273" r:id="rId13"/>
    <p:sldId id="270" r:id="rId14"/>
    <p:sldId id="260" r:id="rId15"/>
    <p:sldId id="261" r:id="rId16"/>
    <p:sldId id="262" r:id="rId17"/>
    <p:sldId id="275" r:id="rId18"/>
    <p:sldId id="276" r:id="rId19"/>
    <p:sldId id="277" r:id="rId20"/>
    <p:sldId id="278" r:id="rId21"/>
    <p:sldId id="279" r:id="rId22"/>
    <p:sldId id="280" r:id="rId23"/>
    <p:sldId id="328" r:id="rId24"/>
    <p:sldId id="329" r:id="rId25"/>
    <p:sldId id="330" r:id="rId26"/>
    <p:sldId id="281" r:id="rId27"/>
    <p:sldId id="282" r:id="rId28"/>
    <p:sldId id="335" r:id="rId29"/>
    <p:sldId id="283" r:id="rId30"/>
    <p:sldId id="331" r:id="rId31"/>
    <p:sldId id="332" r:id="rId32"/>
    <p:sldId id="285" r:id="rId33"/>
    <p:sldId id="286" r:id="rId34"/>
    <p:sldId id="287" r:id="rId35"/>
    <p:sldId id="288" r:id="rId36"/>
    <p:sldId id="333" r:id="rId37"/>
    <p:sldId id="326" r:id="rId38"/>
    <p:sldId id="289" r:id="rId39"/>
    <p:sldId id="334" r:id="rId40"/>
    <p:sldId id="290" r:id="rId41"/>
    <p:sldId id="291"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8" d="100"/>
          <a:sy n="48" d="100"/>
        </p:scale>
        <p:origin x="1146" y="4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0-05-21T11:54:15"/>
    </inkml:context>
    <inkml:brush xml:id="br0">
      <inkml:brushProperty name="width" value="0.05292" units="cm"/>
      <inkml:brushProperty name="height" value="0.05292" units="cm"/>
      <inkml:brushProperty name="color" value="#FF0000"/>
    </inkml:brush>
  </inkml:definitions>
  <inkml:trace contextRef="#ctx0" brushRef="#br0">586 468,'-25'0,"0"0,0 0,-24 25,49 24,-25-49,25 25,-24-25,-1 25,0 0,25-1,-49 1,49 0,-25-25,25 25,-25 0,0-1,25 26,0-25,-24-25,24 24,-25 1,25 0,0 0,0-1,0 1,0 0,0 0,0 0,0-1,0 1,0 0,0 0,0 24,0-24,0 0,0 0,0-1,0 1,0 0,0 0,0-1,0 1,0 0,0 0,0-1,0 1,0 0,0 25,0-26,0 1,25-25,-1 25,-24 0,0-1,0 1,25 0,0 0,0 0,-1-25,-24 49,25 1,0-26,0 1,-25 0,24 0,-24-1,25-24,0 25,-25 0,24-25,-24 50,50-50,-50-25,0 0,0-25,0 26,0-1,0 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0-05-21T11:54:15"/>
    </inkml:context>
    <inkml:brush xml:id="br0">
      <inkml:brushProperty name="width" value="0.05292" units="cm"/>
      <inkml:brushProperty name="height" value="0.05292" units="cm"/>
      <inkml:brushProperty name="color" value="#FF0000"/>
    </inkml:brush>
  </inkml:definitions>
  <inkml:trace contextRef="#ctx0" brushRef="#br0">583 465,'25'25,"-1"0,-24-1,25 1,-25 0,25 0,-25-1,25 1,-1 0,-24 0,0 0,25-25,0 24,-25 1,0 0,25-25,-25 50,0-26,24 51,-24-51,0 1,0 25,0-25,0 24,0-24,0 0,0 0,0-1,0 1,0 0,0 0,0-1,0 1,0 0,0 0,0 0,0-1,0 26,0-25,0 0,0-1,0 1,-24-25,24 50,0-26,-25 1,0 0,0-25,25 25,-24 0,24-1,-25-24,25 25,-25 0,0-25,25 25,-24-25,-1 24,25 1,-25 25,1-50,24 25,-25-25,0 0,0 24,25 1,-24 0,-1-25,0 25,0 0,1-25,-1 0,25-50,0 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0-05-21T11:54:15"/>
    </inkml:context>
    <inkml:brush xml:id="br0">
      <inkml:brushProperty name="width" value="0.05292" units="cm"/>
      <inkml:brushProperty name="height" value="0.05292" units="cm"/>
      <inkml:brushProperty name="color" value="#FF0000"/>
    </inkml:brush>
  </inkml:definitions>
  <inkml:trace contextRef="#ctx0" brushRef="#br0">556 405,'-25'0,"0"0,1 50,-1-26,0 26,-24-1,24-24,0 0,25 0,-24-25,24 25,-25-1,25 1,-25-25,25 25,0 0,0 0,-25-25,25 24,0 1,0 49,-24-74,24 25,0 0,-25 0,25 24,0-24,0 0,0 0,0 0,0-1,0 1,0 0,0 0,0-1,0 26,0-25,0 0,0-1,0 26,0-25,0-1,0 1,0 0,25 0,-25 0,0-1,24 1,-24 0,25 25,-25-26,25 1,0 0,-25 0,24-1,-24 1,25-25,-25 25,0 0,25 0,-1-25,1 0,25-50,-26 0,1 1</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0-05-21T11:54:15"/>
    </inkml:context>
    <inkml:brush xml:id="br0">
      <inkml:brushProperty name="width" value="0.05292" units="cm"/>
      <inkml:brushProperty name="height" value="0.05292" units="cm"/>
      <inkml:brushProperty name="color" value="#FF0000"/>
    </inkml:brush>
  </inkml:definitions>
  <inkml:trace contextRef="#ctx0" brushRef="#br0">464 398,'0'25,"0"0,0-1,0 1,0 0,24 25,1-50,-25 24,0 1,0 0,25-25,-25 25,0 0,0 0,0-1,0 1,25 0,-25 25,24-26,-24 1,0 0,0 0,0 0,0-1,0 1,0 0,25 0,-25 0,0 0,0-1,0 1,0 0,0 25,0-26,0 1,0 0,0 0,0 24,0-24,0 0,0 0,0 24,0-24,0 0,0 0,0 0,0 0,0-1,0 1,0 0,0 0,-25 0,25-1,-24 1,-1 0,0-25,25 25,-25-25,1 49,-1-24,-25 0,50 0,-24-25,24 25,-25 0,0-25</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0-05-21T11:54:15"/>
    </inkml:context>
    <inkml:brush xml:id="br0">
      <inkml:brushProperty name="width" value="0.05292" units="cm"/>
      <inkml:brushProperty name="height" value="0.05292" units="cm"/>
      <inkml:brushProperty name="color" value="#FF0000"/>
    </inkml:brush>
  </inkml:definitions>
  <inkml:trace contextRef="#ctx0" brushRef="#br0">317 395,'0'25,"0"-1,25 1,-25 0,25-25,0 25,0-1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7/5/2023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7/5/2023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7/5/2023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7/5/2023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t>7/5/2023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7/5/2023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7/5/2023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7/5/2023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7/5/2023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7/5/2023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7/5/2023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7/5/2023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25.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24.png"/><Relationship Id="rId4" Type="http://schemas.openxmlformats.org/officeDocument/2006/relationships/image" Target="../media/image21.png"/><Relationship Id="rId9" Type="http://schemas.openxmlformats.org/officeDocument/2006/relationships/customXml" Target="../ink/ink4.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2514600"/>
            <a:ext cx="7772400" cy="1470025"/>
          </a:xfrm>
        </p:spPr>
        <p:txBody>
          <a:bodyPr>
            <a:noAutofit/>
          </a:bodyPr>
          <a:lstStyle/>
          <a:p>
            <a:r>
              <a:rPr lang="en-IN" sz="13800" b="1" dirty="0" smtClean="0"/>
              <a:t>HASHING</a:t>
            </a:r>
            <a:endParaRPr lang="en-US" sz="13800" b="1" dirty="0"/>
          </a:p>
        </p:txBody>
      </p:sp>
    </p:spTree>
    <p:extLst>
      <p:ext uri="{BB962C8B-B14F-4D97-AF65-F5344CB8AC3E}">
        <p14:creationId xmlns:p14="http://schemas.microsoft.com/office/powerpoint/2010/main" val="3158481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838200"/>
            <a:ext cx="8001000" cy="5016758"/>
          </a:xfrm>
          <a:prstGeom prst="rect">
            <a:avLst/>
          </a:prstGeom>
          <a:noFill/>
        </p:spPr>
        <p:txBody>
          <a:bodyPr wrap="square" rtlCol="0">
            <a:spAutoFit/>
          </a:bodyPr>
          <a:lstStyle/>
          <a:p>
            <a:pPr marL="571500" indent="-571500" algn="just">
              <a:buFont typeface="Arial" panose="020B0604020202020204" pitchFamily="34" charset="0"/>
              <a:buChar char="•"/>
            </a:pPr>
            <a:r>
              <a:rPr lang="en-US" sz="4000" dirty="0" smtClean="0"/>
              <a:t>Time complexity of Linear Search is O(n) and of Binary Search is O(log</a:t>
            </a:r>
            <a:r>
              <a:rPr lang="en-US" sz="4000" baseline="-25000" dirty="0" smtClean="0"/>
              <a:t>2</a:t>
            </a:r>
            <a:r>
              <a:rPr lang="en-US" sz="4000" dirty="0" smtClean="0"/>
              <a:t>n). </a:t>
            </a:r>
          </a:p>
          <a:p>
            <a:pPr marL="571500" indent="-571500" algn="just">
              <a:buFont typeface="Arial" panose="020B0604020202020204" pitchFamily="34" charset="0"/>
              <a:buChar char="•"/>
            </a:pPr>
            <a:r>
              <a:rPr lang="en-US" sz="4000" dirty="0" smtClean="0"/>
              <a:t>Objective </a:t>
            </a:r>
            <a:r>
              <a:rPr lang="en-US" sz="4000" dirty="0" smtClean="0"/>
              <a:t>is to achieve O(1) time complexity so that searching doesn’t depend on the size of the input i.e. the number of elements in the array.</a:t>
            </a:r>
            <a:endParaRPr lang="en-US" sz="4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0891" y="457200"/>
            <a:ext cx="8610600" cy="5509200"/>
          </a:xfrm>
          <a:prstGeom prst="rect">
            <a:avLst/>
          </a:prstGeom>
        </p:spPr>
        <p:txBody>
          <a:bodyPr wrap="square">
            <a:spAutoFit/>
          </a:bodyPr>
          <a:lstStyle/>
          <a:p>
            <a:pPr algn="just"/>
            <a:r>
              <a:rPr lang="en-US" sz="3200" b="1" dirty="0"/>
              <a:t>Hashing</a:t>
            </a:r>
            <a:r>
              <a:rPr lang="en-US" sz="3200" dirty="0"/>
              <a:t> </a:t>
            </a:r>
            <a:r>
              <a:rPr lang="en-US" sz="2000" dirty="0"/>
              <a:t>is </a:t>
            </a:r>
            <a:r>
              <a:rPr lang="en-US" sz="2000" dirty="0" smtClean="0"/>
              <a:t>an approach </a:t>
            </a:r>
            <a:r>
              <a:rPr lang="en-US" sz="2000" dirty="0"/>
              <a:t>in which time required to search an element doesn't depend on the total number of </a:t>
            </a:r>
            <a:r>
              <a:rPr lang="en-US" sz="2000" dirty="0" smtClean="0"/>
              <a:t>elements. </a:t>
            </a:r>
            <a:r>
              <a:rPr lang="en-US" sz="2000" dirty="0"/>
              <a:t>Using hashing data structure, a given element is searched with </a:t>
            </a:r>
            <a:r>
              <a:rPr lang="en-US" sz="2000" b="1" dirty="0"/>
              <a:t>constant time complexity</a:t>
            </a:r>
            <a:r>
              <a:rPr lang="en-US" sz="2000" dirty="0"/>
              <a:t>. Hashing is an effective way to reduce the number of comparisons to search an element in a data structure.</a:t>
            </a:r>
          </a:p>
          <a:p>
            <a:pPr algn="just"/>
            <a:r>
              <a:rPr lang="en-US" sz="2000" b="1" dirty="0"/>
              <a:t> </a:t>
            </a:r>
            <a:endParaRPr lang="en-US" sz="2000" dirty="0"/>
          </a:p>
          <a:p>
            <a:pPr algn="just"/>
            <a:r>
              <a:rPr lang="en-US" sz="2000" b="1" dirty="0"/>
              <a:t>Hashing is the process of indexing and retrieving element (data) in a data structure to provide a faster way of finding the element using a hash key.</a:t>
            </a:r>
            <a:endParaRPr lang="en-US" sz="2000" dirty="0"/>
          </a:p>
          <a:p>
            <a:pPr algn="just"/>
            <a:r>
              <a:rPr lang="en-US" sz="2000" b="1" dirty="0"/>
              <a:t> </a:t>
            </a:r>
            <a:endParaRPr lang="en-US" sz="2000" dirty="0"/>
          </a:p>
          <a:p>
            <a:pPr algn="just"/>
            <a:r>
              <a:rPr lang="en-US" sz="2000" dirty="0"/>
              <a:t>Here, the </a:t>
            </a:r>
            <a:r>
              <a:rPr lang="en-US" sz="2000" dirty="0">
                <a:solidFill>
                  <a:srgbClr val="FF0000"/>
                </a:solidFill>
              </a:rPr>
              <a:t>hash key is a value which provides the index value where the actual data is likely to be stored in the data structure</a:t>
            </a:r>
            <a:r>
              <a:rPr lang="en-US" sz="2000" dirty="0" smtClean="0"/>
              <a:t>.</a:t>
            </a:r>
          </a:p>
          <a:p>
            <a:pPr algn="just"/>
            <a:r>
              <a:rPr lang="en-US" sz="2000" dirty="0"/>
              <a:t/>
            </a:r>
            <a:br>
              <a:rPr lang="en-US" sz="2000" dirty="0"/>
            </a:br>
            <a:r>
              <a:rPr lang="en-US" sz="2000" dirty="0"/>
              <a:t>In this data structure, we use a concept called </a:t>
            </a:r>
            <a:r>
              <a:rPr lang="en-US" sz="2000" b="1" dirty="0"/>
              <a:t>Hash table</a:t>
            </a:r>
            <a:r>
              <a:rPr lang="en-US" sz="2000" dirty="0"/>
              <a:t> to store data. All the data values are inserted into the hash table based on the hash key value. The hash key value is used to map the data with an index in the hash table. And the hash key is generated for every data using a </a:t>
            </a:r>
            <a:r>
              <a:rPr lang="en-US" sz="2000" b="1" dirty="0"/>
              <a:t>hash function</a:t>
            </a:r>
            <a:r>
              <a:rPr lang="en-US" sz="2000" dirty="0"/>
              <a:t>. That means </a:t>
            </a:r>
            <a:r>
              <a:rPr lang="en-US" sz="2000" dirty="0">
                <a:solidFill>
                  <a:srgbClr val="FF0000"/>
                </a:solidFill>
              </a:rPr>
              <a:t>every entry in the hash table is based on the hash key value generated using the hash function.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534400" cy="6370975"/>
          </a:xfrm>
          <a:prstGeom prst="rect">
            <a:avLst/>
          </a:prstGeom>
        </p:spPr>
        <p:txBody>
          <a:bodyPr wrap="square">
            <a:spAutoFit/>
          </a:bodyPr>
          <a:lstStyle/>
          <a:p>
            <a:pPr algn="just"/>
            <a:r>
              <a:rPr lang="en-US" sz="2400" b="1" dirty="0"/>
              <a:t>Hash table is just an array which maps a key (data) into the data structure with the help of hash function such that insertion, deletion and search operations are performed with constant time complexity (i.e. O(1)).</a:t>
            </a:r>
            <a:endParaRPr lang="en-US" sz="2400" dirty="0"/>
          </a:p>
          <a:p>
            <a:pPr algn="just"/>
            <a:r>
              <a:rPr lang="en-US" sz="2400" b="1" dirty="0"/>
              <a:t> </a:t>
            </a:r>
            <a:endParaRPr lang="en-US" sz="2400" dirty="0"/>
          </a:p>
          <a:p>
            <a:pPr algn="just"/>
            <a:r>
              <a:rPr lang="en-US" sz="2400" dirty="0"/>
              <a:t>Hash tables are used to perform insertion, deletion and search operations very quickly in a data structure. Using hash table concept, insertion, deletion, and search operations are accomplished in constant time complexity. Generally, every hash table makes use of a function called </a:t>
            </a:r>
            <a:r>
              <a:rPr lang="en-US" sz="2400" b="1" dirty="0"/>
              <a:t>hash function</a:t>
            </a:r>
            <a:r>
              <a:rPr lang="en-US" sz="2400" dirty="0"/>
              <a:t> to map the data into the hash table.</a:t>
            </a:r>
          </a:p>
          <a:p>
            <a:pPr algn="just"/>
            <a:r>
              <a:rPr lang="en-US" sz="2400" dirty="0"/>
              <a:t/>
            </a:r>
            <a:br>
              <a:rPr lang="en-US" sz="2400" dirty="0"/>
            </a:br>
            <a:r>
              <a:rPr lang="en-US" sz="2400" dirty="0"/>
              <a:t/>
            </a:r>
            <a:br>
              <a:rPr lang="en-US" sz="2400" dirty="0"/>
            </a:br>
            <a:r>
              <a:rPr lang="en-US" sz="2400" dirty="0"/>
              <a:t>A hash function is defined as follows...</a:t>
            </a:r>
          </a:p>
          <a:p>
            <a:pPr algn="just"/>
            <a:r>
              <a:rPr lang="en-US" sz="2400" b="1" dirty="0">
                <a:solidFill>
                  <a:srgbClr val="FF0000"/>
                </a:solidFill>
              </a:rPr>
              <a:t>Hash function </a:t>
            </a:r>
            <a:r>
              <a:rPr lang="en-US" sz="2400" dirty="0">
                <a:solidFill>
                  <a:srgbClr val="FF0000"/>
                </a:solidFill>
              </a:rPr>
              <a:t>is a function which takes a piece of data (i.e. key) as input and produces an integer (i.e. hash value) as output which maps the data to a particular index in the hash table.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www.gatevidyalay.com/wp-content/uploads/2018/06/Hashing-Diagra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04800"/>
            <a:ext cx="8520319" cy="6324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l="7033" t="3367" r="15609" b="6397"/>
          <a:stretch>
            <a:fillRect/>
          </a:stretch>
        </p:blipFill>
        <p:spPr>
          <a:xfrm>
            <a:off x="609600" y="381000"/>
            <a:ext cx="7696200" cy="59436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685800"/>
            <a:ext cx="8001000" cy="3477875"/>
          </a:xfrm>
          <a:prstGeom prst="rect">
            <a:avLst/>
          </a:prstGeom>
        </p:spPr>
        <p:txBody>
          <a:bodyPr wrap="square">
            <a:spAutoFit/>
          </a:bodyPr>
          <a:lstStyle/>
          <a:p>
            <a:pPr fontAlgn="base"/>
            <a:r>
              <a:rPr lang="en-US" sz="4400" dirty="0"/>
              <a:t>Types of Hash </a:t>
            </a:r>
            <a:r>
              <a:rPr lang="en-US" sz="4400" dirty="0" smtClean="0"/>
              <a:t>Functions</a:t>
            </a:r>
            <a:endParaRPr lang="en-US" sz="4400" dirty="0"/>
          </a:p>
          <a:p>
            <a:pPr fontAlgn="base"/>
            <a:endParaRPr lang="en-US" sz="4400" dirty="0"/>
          </a:p>
          <a:p>
            <a:pPr marL="914400" lvl="1" indent="-457200" fontAlgn="base">
              <a:buFont typeface="Arial" panose="020B0604020202020204" pitchFamily="34" charset="0"/>
              <a:buChar char="•"/>
            </a:pPr>
            <a:r>
              <a:rPr lang="en-US" sz="4400" dirty="0"/>
              <a:t>Division Hash Function</a:t>
            </a:r>
          </a:p>
          <a:p>
            <a:pPr marL="914400" lvl="1" indent="-457200" fontAlgn="base">
              <a:buFont typeface="Arial" panose="020B0604020202020204" pitchFamily="34" charset="0"/>
              <a:buChar char="•"/>
            </a:pPr>
            <a:r>
              <a:rPr lang="en-US" sz="4400" dirty="0" smtClean="0"/>
              <a:t>Mid </a:t>
            </a:r>
            <a:r>
              <a:rPr lang="en-US" sz="4400" dirty="0"/>
              <a:t>Square Hash Function</a:t>
            </a:r>
          </a:p>
          <a:p>
            <a:pPr marL="914400" lvl="1" indent="-457200" fontAlgn="base">
              <a:buFont typeface="Arial" panose="020B0604020202020204" pitchFamily="34" charset="0"/>
              <a:buChar char="•"/>
            </a:pPr>
            <a:r>
              <a:rPr lang="en-US" sz="4400" dirty="0" smtClean="0"/>
              <a:t>Folding </a:t>
            </a:r>
            <a:r>
              <a:rPr lang="en-US" sz="4400" dirty="0"/>
              <a:t>Hash Function </a:t>
            </a:r>
            <a:r>
              <a:rPr lang="en-US" sz="4400" dirty="0" smtClean="0"/>
              <a:t>etc.</a:t>
            </a:r>
            <a:endParaRPr lang="en-US" sz="4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304800" y="228600"/>
            <a:ext cx="8382000" cy="6248399"/>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t="13127" b="33815"/>
          <a:stretch>
            <a:fillRect/>
          </a:stretch>
        </p:blipFill>
        <p:spPr bwMode="auto">
          <a:xfrm>
            <a:off x="457200" y="304800"/>
            <a:ext cx="8229600" cy="5800725"/>
          </a:xfrm>
          <a:prstGeom prst="rect">
            <a:avLst/>
          </a:prstGeom>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t="13364" b="13366"/>
          <a:stretch>
            <a:fillRect/>
          </a:stretch>
        </p:blipFill>
        <p:spPr bwMode="auto">
          <a:xfrm>
            <a:off x="457200" y="228600"/>
            <a:ext cx="8305800" cy="6400800"/>
          </a:xfrm>
          <a:prstGeom prst="rect">
            <a:avLst/>
          </a:prstGeom>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375" y="976313"/>
            <a:ext cx="8477250" cy="490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7543800" y="76200"/>
            <a:ext cx="1524000" cy="923330"/>
          </a:xfrm>
          <a:prstGeom prst="rect">
            <a:avLst/>
          </a:prstGeom>
          <a:noFill/>
        </p:spPr>
        <p:txBody>
          <a:bodyPr wrap="square" rtlCol="0">
            <a:spAutoFit/>
          </a:bodyPr>
          <a:lstStyle/>
          <a:p>
            <a:r>
              <a:rPr lang="en-US" dirty="0" smtClean="0"/>
              <a:t>Index=</a:t>
            </a:r>
            <a:r>
              <a:rPr lang="en-US" dirty="0" err="1" smtClean="0"/>
              <a:t>Sum%sizeofArray</a:t>
            </a:r>
            <a:r>
              <a:rPr lang="en-US" dirty="0" smtClean="0"/>
              <a:t>(11 here)</a:t>
            </a:r>
            <a:endParaRPr lang="en-US" dirty="0"/>
          </a:p>
        </p:txBody>
      </p:sp>
      <p:sp>
        <p:nvSpPr>
          <p:cNvPr id="5" name="TextBox 4"/>
          <p:cNvSpPr txBox="1"/>
          <p:nvPr/>
        </p:nvSpPr>
        <p:spPr>
          <a:xfrm>
            <a:off x="6629400" y="52983"/>
            <a:ext cx="985045" cy="923330"/>
          </a:xfrm>
          <a:prstGeom prst="rect">
            <a:avLst/>
          </a:prstGeom>
          <a:noFill/>
        </p:spPr>
        <p:txBody>
          <a:bodyPr wrap="square" rtlCol="0">
            <a:spAutoFit/>
          </a:bodyPr>
          <a:lstStyle/>
          <a:p>
            <a:r>
              <a:rPr lang="en-US" dirty="0" smtClean="0"/>
              <a:t>Sum of ASCII codes</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t="12649" b="12888"/>
          <a:stretch>
            <a:fillRect/>
          </a:stretch>
        </p:blipFill>
        <p:spPr bwMode="auto">
          <a:xfrm>
            <a:off x="381000" y="457200"/>
            <a:ext cx="8458200" cy="6172200"/>
          </a:xfrm>
          <a:prstGeom prst="rect">
            <a:avLst/>
          </a:prstGeom>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381000" y="381000"/>
            <a:ext cx="8077199" cy="586740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228600" y="304800"/>
            <a:ext cx="8610600" cy="4100830"/>
          </a:xfrm>
          <a:prstGeom prst="rect">
            <a:avLst/>
          </a:prstGeom>
        </p:spPr>
      </p:pic>
      <p:pic>
        <p:nvPicPr>
          <p:cNvPr id="3" name="Picture 2"/>
          <p:cNvPicPr>
            <a:picLocks noChangeAspect="1"/>
          </p:cNvPicPr>
          <p:nvPr/>
        </p:nvPicPr>
        <p:blipFill>
          <a:blip r:embed="rId3"/>
          <a:stretch>
            <a:fillRect/>
          </a:stretch>
        </p:blipFill>
        <p:spPr>
          <a:xfrm>
            <a:off x="228600" y="4450830"/>
            <a:ext cx="8695690" cy="2117725"/>
          </a:xfrm>
          <a:prstGeom prst="rect">
            <a:avLst/>
          </a:prstGeom>
        </p:spPr>
      </p:pic>
      <p:sp>
        <p:nvSpPr>
          <p:cNvPr id="4" name="TextBox 3"/>
          <p:cNvSpPr txBox="1"/>
          <p:nvPr/>
        </p:nvSpPr>
        <p:spPr>
          <a:xfrm>
            <a:off x="304800" y="4114800"/>
            <a:ext cx="8534400" cy="400110"/>
          </a:xfrm>
          <a:prstGeom prst="rect">
            <a:avLst/>
          </a:prstGeom>
          <a:noFill/>
        </p:spPr>
        <p:txBody>
          <a:bodyPr wrap="square" rtlCol="0">
            <a:spAutoFit/>
          </a:bodyPr>
          <a:lstStyle/>
          <a:p>
            <a:r>
              <a:rPr lang="en-IN" sz="2000" dirty="0" smtClean="0"/>
              <a:t>P1+P2+P3=2079, The carry 2 is ignored to form an address of three digit number</a:t>
            </a:r>
            <a:endParaRPr lang="en-US" sz="20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228600" y="381000"/>
            <a:ext cx="8229600" cy="60960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l="8304" t="2716" r="11801" b="5667"/>
          <a:stretch>
            <a:fillRect/>
          </a:stretch>
        </p:blipFill>
        <p:spPr>
          <a:xfrm>
            <a:off x="533400" y="304800"/>
            <a:ext cx="7924799" cy="617220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s://www.gatevidyalay.com/wp-content/uploads/2018/06/Collision-Resolution-Techniques-1.png"/>
          <p:cNvPicPr/>
          <p:nvPr/>
        </p:nvPicPr>
        <p:blipFill>
          <a:blip r:embed="rId2">
            <a:extLst>
              <a:ext uri="{28A0092B-C50C-407E-A947-70E740481C1C}">
                <a14:useLocalDpi xmlns:a14="http://schemas.microsoft.com/office/drawing/2010/main" val="0"/>
              </a:ext>
            </a:extLst>
          </a:blip>
          <a:srcRect/>
          <a:stretch>
            <a:fillRect/>
          </a:stretch>
        </p:blipFill>
        <p:spPr bwMode="auto">
          <a:xfrm>
            <a:off x="685800" y="457200"/>
            <a:ext cx="7848600" cy="5791200"/>
          </a:xfrm>
          <a:prstGeom prst="rect">
            <a:avLst/>
          </a:prstGeom>
          <a:noFill/>
          <a:ln>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l="8411" t="2300" r="9856" b="3724"/>
          <a:stretch>
            <a:fillRect/>
          </a:stretch>
        </p:blipFill>
        <p:spPr>
          <a:xfrm>
            <a:off x="609600" y="76200"/>
            <a:ext cx="8153400" cy="662940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l="9599" t="13366" r="7146" b="14332"/>
          <a:stretch>
            <a:fillRect/>
          </a:stretch>
        </p:blipFill>
        <p:spPr bwMode="auto">
          <a:xfrm>
            <a:off x="152400" y="228600"/>
            <a:ext cx="8763000" cy="6400800"/>
          </a:xfrm>
          <a:prstGeom prst="rect">
            <a:avLst/>
          </a:prstGeom>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l="8775" t="13842" r="19447" b="14319"/>
          <a:stretch>
            <a:fillRect/>
          </a:stretch>
        </p:blipFill>
        <p:spPr bwMode="auto">
          <a:xfrm>
            <a:off x="152400" y="152400"/>
            <a:ext cx="8686799" cy="6477000"/>
          </a:xfrm>
          <a:prstGeom prst="rect">
            <a:avLst/>
          </a:prstGeom>
          <a:ln>
            <a:no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762000" y="304800"/>
            <a:ext cx="7848600" cy="6172199"/>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762000" y="914400"/>
            <a:ext cx="7467599" cy="44196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1696085" y="4178935"/>
              <a:ext cx="142875" cy="607060"/>
            </p14:xfrm>
          </p:contentPart>
        </mc:Choice>
        <mc:Fallback xmlns="">
          <p:pic>
            <p:nvPicPr>
              <p:cNvPr id="3" name="Ink 2"/>
            </p:nvPicPr>
            <p:blipFill>
              <a:blip r:embed="rId4"/>
            </p:blipFill>
            <p:spPr>
              <a:xfrm>
                <a:off x="1696085" y="4178935"/>
                <a:ext cx="142875" cy="607060"/>
              </a:xfrm>
              <a:prstGeom prst="rect"/>
            </p:spPr>
          </p:pic>
        </mc:Fallback>
      </mc:AlternateContent>
      <mc:AlternateContent xmlns:mc="http://schemas.openxmlformats.org/markup-compatibility/2006" xmlns:p14="http://schemas.microsoft.com/office/powerpoint/2010/main">
        <mc:Choice Requires="p14">
          <p:contentPart p14:bwMode="auto" r:id="rId5">
            <p14:nvContentPartPr>
              <p14:cNvPr id="4" name="Ink 3"/>
              <p14:cNvContentPartPr/>
              <p14:nvPr/>
            </p14:nvContentPartPr>
            <p14:xfrm>
              <a:off x="2776855" y="4152265"/>
              <a:ext cx="187325" cy="598170"/>
            </p14:xfrm>
          </p:contentPart>
        </mc:Choice>
        <mc:Fallback xmlns="">
          <p:pic>
            <p:nvPicPr>
              <p:cNvPr id="4" name="Ink 3"/>
            </p:nvPicPr>
            <p:blipFill>
              <a:blip r:embed="rId6"/>
            </p:blipFill>
            <p:spPr>
              <a:xfrm>
                <a:off x="2776855" y="4152265"/>
                <a:ext cx="187325" cy="598170"/>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5" name="Ink 4"/>
              <p14:cNvContentPartPr/>
              <p14:nvPr/>
            </p14:nvContentPartPr>
            <p14:xfrm>
              <a:off x="1651635" y="3616325"/>
              <a:ext cx="133985" cy="553720"/>
            </p14:xfrm>
          </p:contentPart>
        </mc:Choice>
        <mc:Fallback xmlns="">
          <p:pic>
            <p:nvPicPr>
              <p:cNvPr id="5" name="Ink 4"/>
            </p:nvPicPr>
            <p:blipFill>
              <a:blip r:embed="rId8"/>
            </p:blipFill>
            <p:spPr>
              <a:xfrm>
                <a:off x="1651635" y="3616325"/>
                <a:ext cx="133985" cy="553720"/>
              </a:xfrm>
              <a:prstGeom prst="rect"/>
            </p:spPr>
          </p:pic>
        </mc:Fallback>
      </mc:AlternateContent>
      <mc:AlternateContent xmlns:mc="http://schemas.openxmlformats.org/markup-compatibility/2006" xmlns:p14="http://schemas.microsoft.com/office/powerpoint/2010/main">
        <mc:Choice Requires="p14">
          <p:contentPart p14:bwMode="auto" r:id="rId9">
            <p14:nvContentPartPr>
              <p14:cNvPr id="6" name="Ink 5"/>
              <p14:cNvContentPartPr/>
              <p14:nvPr/>
            </p14:nvContentPartPr>
            <p14:xfrm>
              <a:off x="2812415" y="3553460"/>
              <a:ext cx="107315" cy="589915"/>
            </p14:xfrm>
          </p:contentPart>
        </mc:Choice>
        <mc:Fallback xmlns="">
          <p:pic>
            <p:nvPicPr>
              <p:cNvPr id="6" name="Ink 5"/>
            </p:nvPicPr>
            <p:blipFill>
              <a:blip r:embed="rId10"/>
            </p:blipFill>
            <p:spPr>
              <a:xfrm>
                <a:off x="2812415" y="3553460"/>
                <a:ext cx="107315" cy="589915"/>
              </a:xfrm>
              <a:prstGeom prst="rect"/>
            </p:spPr>
          </p:pic>
        </mc:Fallback>
      </mc:AlternateContent>
      <mc:AlternateContent xmlns:mc="http://schemas.openxmlformats.org/markup-compatibility/2006" xmlns:p14="http://schemas.microsoft.com/office/powerpoint/2010/main">
        <mc:Choice Requires="p14">
          <p:contentPart p14:bwMode="auto" r:id="rId11">
            <p14:nvContentPartPr>
              <p14:cNvPr id="7" name="Ink 6"/>
              <p14:cNvContentPartPr/>
              <p14:nvPr/>
            </p14:nvContentPartPr>
            <p14:xfrm>
              <a:off x="2830195" y="3526790"/>
              <a:ext cx="36195" cy="53975"/>
            </p14:xfrm>
          </p:contentPart>
        </mc:Choice>
        <mc:Fallback xmlns="">
          <p:pic>
            <p:nvPicPr>
              <p:cNvPr id="7" name="Ink 6"/>
            </p:nvPicPr>
            <p:blipFill>
              <a:blip r:embed="rId12"/>
            </p:blipFill>
            <p:spPr>
              <a:xfrm>
                <a:off x="2830195" y="3526790"/>
                <a:ext cx="36195" cy="53975"/>
              </a:xfrm>
              <a:prstGeom prst="rect"/>
            </p:spPr>
          </p:pic>
        </mc:Fallback>
      </mc:AlternateContent>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800" y="571500"/>
            <a:ext cx="9753600" cy="5715000"/>
          </a:xfrm>
          <a:prstGeom prst="rect">
            <a:avLst/>
          </a:prstGeom>
        </p:spPr>
      </p:pic>
    </p:spTree>
    <p:extLst>
      <p:ext uri="{BB962C8B-B14F-4D97-AF65-F5344CB8AC3E}">
        <p14:creationId xmlns:p14="http://schemas.microsoft.com/office/powerpoint/2010/main" val="421136384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800" y="152400"/>
            <a:ext cx="9753600" cy="6134100"/>
          </a:xfrm>
          <a:prstGeom prst="rect">
            <a:avLst/>
          </a:prstGeom>
        </p:spPr>
      </p:pic>
    </p:spTree>
    <p:extLst>
      <p:ext uri="{BB962C8B-B14F-4D97-AF65-F5344CB8AC3E}">
        <p14:creationId xmlns:p14="http://schemas.microsoft.com/office/powerpoint/2010/main" val="19796680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800" y="228600"/>
            <a:ext cx="9753600" cy="6057900"/>
          </a:xfrm>
          <a:prstGeom prst="rect">
            <a:avLst/>
          </a:prstGeom>
        </p:spPr>
      </p:pic>
    </p:spTree>
    <p:extLst>
      <p:ext uri="{BB962C8B-B14F-4D97-AF65-F5344CB8AC3E}">
        <p14:creationId xmlns:p14="http://schemas.microsoft.com/office/powerpoint/2010/main" val="249494586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381000" y="533400"/>
            <a:ext cx="8001000" cy="5791199"/>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t="12410" b="12888"/>
          <a:stretch>
            <a:fillRect/>
          </a:stretch>
        </p:blipFill>
        <p:spPr bwMode="auto">
          <a:xfrm>
            <a:off x="381000" y="533400"/>
            <a:ext cx="8001000" cy="5715000"/>
          </a:xfrm>
          <a:prstGeom prst="rect">
            <a:avLst/>
          </a:prstGeom>
          <a:ln>
            <a:noFill/>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609600"/>
            <a:ext cx="8153400" cy="1470025"/>
          </a:xfrm>
        </p:spPr>
        <p:txBody>
          <a:bodyPr/>
          <a:lstStyle/>
          <a:p>
            <a:r>
              <a:rPr lang="en-IN" dirty="0" smtClean="0"/>
              <a:t>KCA-205, MCA -2021-22 </a:t>
            </a:r>
            <a:br>
              <a:rPr lang="en-IN" dirty="0" smtClean="0"/>
            </a:br>
            <a:r>
              <a:rPr lang="en-IN" dirty="0" smtClean="0"/>
              <a:t>[Q4(b), 10 marks]</a:t>
            </a:r>
            <a:endParaRPr lang="en-US" dirty="0"/>
          </a:p>
        </p:txBody>
      </p:sp>
      <p:sp>
        <p:nvSpPr>
          <p:cNvPr id="3" name="Subtitle 2"/>
          <p:cNvSpPr>
            <a:spLocks noGrp="1"/>
          </p:cNvSpPr>
          <p:nvPr>
            <p:ph type="subTitle" idx="1"/>
          </p:nvPr>
        </p:nvSpPr>
        <p:spPr>
          <a:xfrm>
            <a:off x="381000" y="2286000"/>
            <a:ext cx="8458200" cy="3048000"/>
          </a:xfrm>
        </p:spPr>
        <p:txBody>
          <a:bodyPr>
            <a:normAutofit/>
          </a:bodyPr>
          <a:lstStyle/>
          <a:p>
            <a:pPr algn="just"/>
            <a:r>
              <a:rPr lang="en-IN" dirty="0" smtClean="0">
                <a:solidFill>
                  <a:schemeClr val="tx1"/>
                </a:solidFill>
              </a:rPr>
              <a:t>Q. What do you understand by Hashing? Consider inserting the following keys </a:t>
            </a:r>
          </a:p>
          <a:p>
            <a:pPr algn="just"/>
            <a:r>
              <a:rPr lang="en-IN" dirty="0" smtClean="0">
                <a:solidFill>
                  <a:schemeClr val="tx1"/>
                </a:solidFill>
              </a:rPr>
              <a:t>{ 76, 26, 37, 59, 21, 65, 88 } into a </a:t>
            </a:r>
            <a:r>
              <a:rPr lang="en-IN" dirty="0" err="1" smtClean="0">
                <a:solidFill>
                  <a:schemeClr val="tx1"/>
                </a:solidFill>
              </a:rPr>
              <a:t>hashtable</a:t>
            </a:r>
            <a:r>
              <a:rPr lang="en-IN" dirty="0" smtClean="0">
                <a:solidFill>
                  <a:schemeClr val="tx1"/>
                </a:solidFill>
              </a:rPr>
              <a:t> of size m=11 using Linear Probing. Consider the primary hash function as h(k)=k mod m</a:t>
            </a:r>
            <a:endParaRPr lang="en-US" dirty="0">
              <a:solidFill>
                <a:schemeClr val="tx1"/>
              </a:solidFill>
            </a:endParaRPr>
          </a:p>
        </p:txBody>
      </p:sp>
    </p:spTree>
    <p:extLst>
      <p:ext uri="{BB962C8B-B14F-4D97-AF65-F5344CB8AC3E}">
        <p14:creationId xmlns:p14="http://schemas.microsoft.com/office/powerpoint/2010/main" val="200679571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609600" y="685800"/>
            <a:ext cx="7772399" cy="541020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800" y="571500"/>
            <a:ext cx="9753600" cy="5715000"/>
          </a:xfrm>
          <a:prstGeom prst="rect">
            <a:avLst/>
          </a:prstGeom>
        </p:spPr>
      </p:pic>
    </p:spTree>
    <p:extLst>
      <p:ext uri="{BB962C8B-B14F-4D97-AF65-F5344CB8AC3E}">
        <p14:creationId xmlns:p14="http://schemas.microsoft.com/office/powerpoint/2010/main" val="375637948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800" y="571500"/>
            <a:ext cx="9753600" cy="5715000"/>
          </a:xfrm>
          <a:prstGeom prst="rect">
            <a:avLst/>
          </a:prstGeom>
        </p:spPr>
      </p:pic>
    </p:spTree>
    <p:extLst>
      <p:ext uri="{BB962C8B-B14F-4D97-AF65-F5344CB8AC3E}">
        <p14:creationId xmlns:p14="http://schemas.microsoft.com/office/powerpoint/2010/main" val="30353145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381000" y="457200"/>
            <a:ext cx="8229600" cy="5943600"/>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457200" y="457200"/>
            <a:ext cx="8077200" cy="5867400"/>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609600" y="533400"/>
            <a:ext cx="7619999" cy="5943599"/>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609600" y="762000"/>
            <a:ext cx="7924800" cy="5181600"/>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800" y="571500"/>
            <a:ext cx="9753600" cy="5715000"/>
          </a:xfrm>
          <a:prstGeom prst="rect">
            <a:avLst/>
          </a:prstGeom>
        </p:spPr>
      </p:pic>
    </p:spTree>
    <p:extLst>
      <p:ext uri="{BB962C8B-B14F-4D97-AF65-F5344CB8AC3E}">
        <p14:creationId xmlns:p14="http://schemas.microsoft.com/office/powerpoint/2010/main" val="391180792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1640" y="1469390"/>
            <a:ext cx="8301355" cy="4921250"/>
          </a:xfrm>
          <a:prstGeom prst="rect">
            <a:avLst/>
          </a:prstGeom>
        </p:spPr>
      </p:pic>
      <p:sp>
        <p:nvSpPr>
          <p:cNvPr id="3" name="Text Box 2"/>
          <p:cNvSpPr txBox="1"/>
          <p:nvPr/>
        </p:nvSpPr>
        <p:spPr>
          <a:xfrm>
            <a:off x="3173730" y="120650"/>
            <a:ext cx="3385185" cy="953135"/>
          </a:xfrm>
          <a:prstGeom prst="rect">
            <a:avLst/>
          </a:prstGeom>
          <a:noFill/>
        </p:spPr>
        <p:txBody>
          <a:bodyPr wrap="square" rtlCol="0">
            <a:spAutoFit/>
          </a:bodyPr>
          <a:lstStyle/>
          <a:p>
            <a:r>
              <a:rPr lang="en-US" sz="2800"/>
              <a:t>H1(k) = k%10</a:t>
            </a:r>
          </a:p>
          <a:p>
            <a:r>
              <a:rPr lang="en-US" sz="2800"/>
              <a:t>H2(k) = 7 - (k%7)</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381000" y="1183640"/>
            <a:ext cx="8153400" cy="5414010"/>
          </a:xfrm>
          <a:prstGeom prst="rect">
            <a:avLst/>
          </a:prstGeom>
        </p:spPr>
      </p:pic>
      <p:sp>
        <p:nvSpPr>
          <p:cNvPr id="3" name="Text Box 2"/>
          <p:cNvSpPr txBox="1"/>
          <p:nvPr/>
        </p:nvSpPr>
        <p:spPr>
          <a:xfrm>
            <a:off x="381000" y="120650"/>
            <a:ext cx="8762999" cy="954107"/>
          </a:xfrm>
          <a:prstGeom prst="rect">
            <a:avLst/>
          </a:prstGeom>
          <a:noFill/>
        </p:spPr>
        <p:txBody>
          <a:bodyPr wrap="square" rtlCol="0">
            <a:spAutoFit/>
          </a:bodyPr>
          <a:lstStyle/>
          <a:p>
            <a:r>
              <a:rPr lang="en-US" sz="2800" dirty="0"/>
              <a:t>H1(k) = k%7  </a:t>
            </a:r>
          </a:p>
          <a:p>
            <a:r>
              <a:rPr lang="en-US" sz="2800" dirty="0"/>
              <a:t>H2(k) = R - (</a:t>
            </a:r>
            <a:r>
              <a:rPr lang="en-US" sz="2800" dirty="0" err="1"/>
              <a:t>k%R</a:t>
            </a:r>
            <a:r>
              <a:rPr lang="en-US" sz="2800" dirty="0" smtClean="0"/>
              <a:t>)  //R can be the nearest prime less than 7</a:t>
            </a:r>
            <a:endParaRPr lang="en-US" sz="28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800" y="571500"/>
            <a:ext cx="9753600" cy="5715000"/>
          </a:xfrm>
          <a:prstGeom prst="rect">
            <a:avLst/>
          </a:prstGeom>
        </p:spPr>
      </p:pic>
    </p:spTree>
    <p:extLst>
      <p:ext uri="{BB962C8B-B14F-4D97-AF65-F5344CB8AC3E}">
        <p14:creationId xmlns:p14="http://schemas.microsoft.com/office/powerpoint/2010/main" val="417556890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t="12887" b="14321"/>
          <a:stretch>
            <a:fillRect/>
          </a:stretch>
        </p:blipFill>
        <p:spPr bwMode="auto">
          <a:xfrm>
            <a:off x="914400" y="457200"/>
            <a:ext cx="7315200" cy="5257800"/>
          </a:xfrm>
          <a:prstGeom prst="rect">
            <a:avLst/>
          </a:prstGeom>
          <a:ln>
            <a:noFill/>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t="12649" b="12649"/>
          <a:stretch>
            <a:fillRect/>
          </a:stretch>
        </p:blipFill>
        <p:spPr bwMode="auto">
          <a:xfrm>
            <a:off x="533399" y="457200"/>
            <a:ext cx="8077199" cy="5562600"/>
          </a:xfrm>
          <a:prstGeom prst="rect">
            <a:avLst/>
          </a:prstGeom>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58274</TotalTime>
  <Words>246</Words>
  <Application>Microsoft Office PowerPoint</Application>
  <PresentationFormat>On-screen Show (4:3)</PresentationFormat>
  <Paragraphs>29</Paragraphs>
  <Slides>41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HASHING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KCA-205, MCA -2021-22  [Q4(b), 10 marks]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NVN</dc:creator>
  <cp:lastModifiedBy>Naveen</cp:lastModifiedBy>
  <cp:revision>45</cp:revision>
  <dcterms:created xsi:type="dcterms:W3CDTF">2006-08-16T00:00:00Z</dcterms:created>
  <dcterms:modified xsi:type="dcterms:W3CDTF">2023-07-10T15:46:20Z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1033-11.2.0.9363</vt:lpwstr>
  </property>
</Properties>
</file>