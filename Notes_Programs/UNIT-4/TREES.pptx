
<file path=[Content_Types].xml><?xml version="1.0" encoding="utf-8"?>
<Types xmlns="http://schemas.openxmlformats.org/package/2006/content-types">
  <Default Extension="png" ContentType="image/pn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9"/>
  </p:notesMasterIdLst>
  <p:sldIdLst>
    <p:sldId id="256" r:id="rId2"/>
    <p:sldId id="257" r:id="rId3"/>
    <p:sldId id="258" r:id="rId4"/>
    <p:sldId id="259" r:id="rId5"/>
    <p:sldId id="260" r:id="rId6"/>
    <p:sldId id="261" r:id="rId7"/>
    <p:sldId id="262" r:id="rId8"/>
    <p:sldId id="263" r:id="rId9"/>
    <p:sldId id="264" r:id="rId10"/>
    <p:sldId id="321" r:id="rId11"/>
    <p:sldId id="337" r:id="rId12"/>
    <p:sldId id="336" r:id="rId13"/>
    <p:sldId id="322" r:id="rId14"/>
    <p:sldId id="265" r:id="rId15"/>
    <p:sldId id="266" r:id="rId16"/>
    <p:sldId id="340" r:id="rId17"/>
    <p:sldId id="341" r:id="rId18"/>
    <p:sldId id="342" r:id="rId19"/>
    <p:sldId id="343" r:id="rId20"/>
    <p:sldId id="344" r:id="rId21"/>
    <p:sldId id="345" r:id="rId22"/>
    <p:sldId id="267" r:id="rId23"/>
    <p:sldId id="332" r:id="rId24"/>
    <p:sldId id="268" r:id="rId25"/>
    <p:sldId id="323" r:id="rId26"/>
    <p:sldId id="311" r:id="rId27"/>
    <p:sldId id="331" r:id="rId28"/>
    <p:sldId id="313" r:id="rId29"/>
    <p:sldId id="314" r:id="rId30"/>
    <p:sldId id="333" r:id="rId31"/>
    <p:sldId id="339" r:id="rId32"/>
    <p:sldId id="338" r:id="rId33"/>
    <p:sldId id="269" r:id="rId34"/>
    <p:sldId id="270" r:id="rId35"/>
    <p:sldId id="271" r:id="rId36"/>
    <p:sldId id="272" r:id="rId37"/>
    <p:sldId id="273" r:id="rId38"/>
    <p:sldId id="324" r:id="rId39"/>
    <p:sldId id="275" r:id="rId40"/>
    <p:sldId id="276" r:id="rId41"/>
    <p:sldId id="334" r:id="rId42"/>
    <p:sldId id="368" r:id="rId43"/>
    <p:sldId id="367" r:id="rId44"/>
    <p:sldId id="369" r:id="rId45"/>
    <p:sldId id="335" r:id="rId46"/>
    <p:sldId id="370" r:id="rId47"/>
    <p:sldId id="277" r:id="rId48"/>
    <p:sldId id="330" r:id="rId49"/>
    <p:sldId id="278" r:id="rId50"/>
    <p:sldId id="279" r:id="rId51"/>
    <p:sldId id="280" r:id="rId52"/>
    <p:sldId id="281" r:id="rId53"/>
    <p:sldId id="316" r:id="rId54"/>
    <p:sldId id="318" r:id="rId55"/>
    <p:sldId id="319" r:id="rId56"/>
    <p:sldId id="325" r:id="rId57"/>
    <p:sldId id="328" r:id="rId58"/>
    <p:sldId id="327" r:id="rId59"/>
    <p:sldId id="329" r:id="rId60"/>
    <p:sldId id="288" r:id="rId61"/>
    <p:sldId id="382" r:id="rId62"/>
    <p:sldId id="383" r:id="rId63"/>
    <p:sldId id="381" r:id="rId64"/>
    <p:sldId id="371" r:id="rId65"/>
    <p:sldId id="294" r:id="rId66"/>
    <p:sldId id="291" r:id="rId67"/>
    <p:sldId id="295" r:id="rId68"/>
    <p:sldId id="296" r:id="rId69"/>
    <p:sldId id="297" r:id="rId70"/>
    <p:sldId id="298" r:id="rId71"/>
    <p:sldId id="299" r:id="rId72"/>
    <p:sldId id="300" r:id="rId73"/>
    <p:sldId id="372" r:id="rId74"/>
    <p:sldId id="301" r:id="rId75"/>
    <p:sldId id="373" r:id="rId76"/>
    <p:sldId id="302" r:id="rId77"/>
    <p:sldId id="374" r:id="rId78"/>
    <p:sldId id="375" r:id="rId79"/>
    <p:sldId id="346" r:id="rId80"/>
    <p:sldId id="350" r:id="rId81"/>
    <p:sldId id="351" r:id="rId82"/>
    <p:sldId id="366" r:id="rId83"/>
    <p:sldId id="347" r:id="rId84"/>
    <p:sldId id="353" r:id="rId85"/>
    <p:sldId id="354" r:id="rId86"/>
    <p:sldId id="376" r:id="rId87"/>
    <p:sldId id="359" r:id="rId88"/>
    <p:sldId id="360" r:id="rId89"/>
    <p:sldId id="363" r:id="rId90"/>
    <p:sldId id="364" r:id="rId91"/>
    <p:sldId id="365" r:id="rId92"/>
    <p:sldId id="377" r:id="rId93"/>
    <p:sldId id="379" r:id="rId94"/>
    <p:sldId id="380" r:id="rId95"/>
    <p:sldId id="378" r:id="rId96"/>
    <p:sldId id="348" r:id="rId97"/>
    <p:sldId id="355" r:id="rId98"/>
    <p:sldId id="356" r:id="rId99"/>
    <p:sldId id="362" r:id="rId100"/>
    <p:sldId id="361" r:id="rId101"/>
    <p:sldId id="303" r:id="rId102"/>
    <p:sldId id="306" r:id="rId103"/>
    <p:sldId id="304" r:id="rId104"/>
    <p:sldId id="305" r:id="rId105"/>
    <p:sldId id="308" r:id="rId106"/>
    <p:sldId id="309" r:id="rId107"/>
    <p:sldId id="310" r:id="rId10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974" autoAdjust="0"/>
  </p:normalViewPr>
  <p:slideViewPr>
    <p:cSldViewPr>
      <p:cViewPr varScale="1">
        <p:scale>
          <a:sx n="44" d="100"/>
          <a:sy n="44" d="100"/>
        </p:scale>
        <p:origin x="660"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notesMaster" Target="notesMasters/notes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286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20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86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286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C0901B6C-5167-4B6B-940F-67C1F0946A9F}" type="slidenum">
              <a:rPr lang="en-US"/>
              <a:pPr>
                <a:defRPr/>
              </a:pPr>
              <a:t>‹#›</a:t>
            </a:fld>
            <a:endParaRPr lang="en-US"/>
          </a:p>
        </p:txBody>
      </p:sp>
    </p:spTree>
    <p:extLst>
      <p:ext uri="{BB962C8B-B14F-4D97-AF65-F5344CB8AC3E}">
        <p14:creationId xmlns:p14="http://schemas.microsoft.com/office/powerpoint/2010/main" val="28596291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p:cNvSpPr>
            <a:spLocks noGrp="1" noRot="1" noChangeAspect="1" noTextEdit="1"/>
          </p:cNvSpPr>
          <p:nvPr>
            <p:ph type="sldImg"/>
          </p:nvPr>
        </p:nvSpPr>
        <p:spPr>
          <a:ln/>
        </p:spPr>
      </p:sp>
      <p:sp>
        <p:nvSpPr>
          <p:cNvPr id="40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Arial" panose="020B0604020202020204" pitchFamily="34" charset="0"/>
            </a:endParaRPr>
          </a:p>
        </p:txBody>
      </p:sp>
      <p:sp>
        <p:nvSpPr>
          <p:cNvPr id="41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A4263A4-40C3-43D8-9D46-C9147795B3D4}" type="slidenum">
              <a:rPr lang="en-US" smtClean="0"/>
              <a:pPr>
                <a:spcBef>
                  <a:spcPct val="0"/>
                </a:spcBef>
              </a:pPr>
              <a:t>1</a:t>
            </a:fld>
            <a:endParaRPr lang="en-US" smtClean="0"/>
          </a:p>
        </p:txBody>
      </p:sp>
    </p:spTree>
    <p:extLst>
      <p:ext uri="{BB962C8B-B14F-4D97-AF65-F5344CB8AC3E}">
        <p14:creationId xmlns:p14="http://schemas.microsoft.com/office/powerpoint/2010/main" val="1087475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E8C5E25-44ED-4718-9CE4-071343DAD2C6}" type="slidenum">
              <a:rPr lang="en-US"/>
              <a:pPr>
                <a:defRPr/>
              </a:pPr>
              <a:t>‹#›</a:t>
            </a:fld>
            <a:endParaRPr lang="en-US"/>
          </a:p>
        </p:txBody>
      </p:sp>
    </p:spTree>
    <p:extLst>
      <p:ext uri="{BB962C8B-B14F-4D97-AF65-F5344CB8AC3E}">
        <p14:creationId xmlns:p14="http://schemas.microsoft.com/office/powerpoint/2010/main" val="6168217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26F6C5A-909C-41CB-856A-984AE94D65EE}" type="slidenum">
              <a:rPr lang="en-US"/>
              <a:pPr>
                <a:defRPr/>
              </a:pPr>
              <a:t>‹#›</a:t>
            </a:fld>
            <a:endParaRPr lang="en-US"/>
          </a:p>
        </p:txBody>
      </p:sp>
    </p:spTree>
    <p:extLst>
      <p:ext uri="{BB962C8B-B14F-4D97-AF65-F5344CB8AC3E}">
        <p14:creationId xmlns:p14="http://schemas.microsoft.com/office/powerpoint/2010/main" val="1953361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E60181A-536C-4822-9514-D48A1A010BF6}" type="slidenum">
              <a:rPr lang="en-US"/>
              <a:pPr>
                <a:defRPr/>
              </a:pPr>
              <a:t>‹#›</a:t>
            </a:fld>
            <a:endParaRPr lang="en-US"/>
          </a:p>
        </p:txBody>
      </p:sp>
    </p:spTree>
    <p:extLst>
      <p:ext uri="{BB962C8B-B14F-4D97-AF65-F5344CB8AC3E}">
        <p14:creationId xmlns:p14="http://schemas.microsoft.com/office/powerpoint/2010/main" val="12175696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8B7DB73-DDBD-4587-B393-81150B2B1A73}" type="slidenum">
              <a:rPr lang="en-US"/>
              <a:pPr>
                <a:defRPr/>
              </a:pPr>
              <a:t>‹#›</a:t>
            </a:fld>
            <a:endParaRPr lang="en-US"/>
          </a:p>
        </p:txBody>
      </p:sp>
    </p:spTree>
    <p:extLst>
      <p:ext uri="{BB962C8B-B14F-4D97-AF65-F5344CB8AC3E}">
        <p14:creationId xmlns:p14="http://schemas.microsoft.com/office/powerpoint/2010/main" val="1076163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63EC2212-D8CF-432C-95E4-82CAD8BA7F08}" type="slidenum">
              <a:rPr lang="en-US"/>
              <a:pPr>
                <a:defRPr/>
              </a:pPr>
              <a:t>‹#›</a:t>
            </a:fld>
            <a:endParaRPr lang="en-US"/>
          </a:p>
        </p:txBody>
      </p:sp>
    </p:spTree>
    <p:extLst>
      <p:ext uri="{BB962C8B-B14F-4D97-AF65-F5344CB8AC3E}">
        <p14:creationId xmlns:p14="http://schemas.microsoft.com/office/powerpoint/2010/main" val="29145251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DFB23298-DD53-4E44-A580-0F2456B8DC1B}" type="slidenum">
              <a:rPr lang="en-US"/>
              <a:pPr>
                <a:defRPr/>
              </a:pPr>
              <a:t>‹#›</a:t>
            </a:fld>
            <a:endParaRPr lang="en-US"/>
          </a:p>
        </p:txBody>
      </p:sp>
    </p:spTree>
    <p:extLst>
      <p:ext uri="{BB962C8B-B14F-4D97-AF65-F5344CB8AC3E}">
        <p14:creationId xmlns:p14="http://schemas.microsoft.com/office/powerpoint/2010/main" val="1024517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CE5D4B50-F876-4C9D-AF52-99E4DA1D6344}" type="slidenum">
              <a:rPr lang="en-US"/>
              <a:pPr>
                <a:defRPr/>
              </a:pPr>
              <a:t>‹#›</a:t>
            </a:fld>
            <a:endParaRPr lang="en-US"/>
          </a:p>
        </p:txBody>
      </p:sp>
    </p:spTree>
    <p:extLst>
      <p:ext uri="{BB962C8B-B14F-4D97-AF65-F5344CB8AC3E}">
        <p14:creationId xmlns:p14="http://schemas.microsoft.com/office/powerpoint/2010/main" val="1821469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23130E6-B969-4BE8-9108-87B7277DFBA8}" type="slidenum">
              <a:rPr lang="en-US"/>
              <a:pPr>
                <a:defRPr/>
              </a:pPr>
              <a:t>‹#›</a:t>
            </a:fld>
            <a:endParaRPr lang="en-US"/>
          </a:p>
        </p:txBody>
      </p:sp>
    </p:spTree>
    <p:extLst>
      <p:ext uri="{BB962C8B-B14F-4D97-AF65-F5344CB8AC3E}">
        <p14:creationId xmlns:p14="http://schemas.microsoft.com/office/powerpoint/2010/main" val="1141126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CE40C7C4-B288-4C57-ACB1-0B5BFCBD6E08}" type="slidenum">
              <a:rPr lang="en-US"/>
              <a:pPr>
                <a:defRPr/>
              </a:pPr>
              <a:t>‹#›</a:t>
            </a:fld>
            <a:endParaRPr lang="en-US"/>
          </a:p>
        </p:txBody>
      </p:sp>
    </p:spTree>
    <p:extLst>
      <p:ext uri="{BB962C8B-B14F-4D97-AF65-F5344CB8AC3E}">
        <p14:creationId xmlns:p14="http://schemas.microsoft.com/office/powerpoint/2010/main" val="145952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EBEB3EC-AE7E-442B-8296-F86EBC6B0B64}" type="slidenum">
              <a:rPr lang="en-US"/>
              <a:pPr>
                <a:defRPr/>
              </a:pPr>
              <a:t>‹#›</a:t>
            </a:fld>
            <a:endParaRPr lang="en-US"/>
          </a:p>
        </p:txBody>
      </p:sp>
    </p:spTree>
    <p:extLst>
      <p:ext uri="{BB962C8B-B14F-4D97-AF65-F5344CB8AC3E}">
        <p14:creationId xmlns:p14="http://schemas.microsoft.com/office/powerpoint/2010/main" val="18988680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588C853-F682-410D-ADA5-07094A03A6E4}" type="slidenum">
              <a:rPr lang="en-US"/>
              <a:pPr>
                <a:defRPr/>
              </a:pPr>
              <a:t>‹#›</a:t>
            </a:fld>
            <a:endParaRPr lang="en-US"/>
          </a:p>
        </p:txBody>
      </p:sp>
    </p:spTree>
    <p:extLst>
      <p:ext uri="{BB962C8B-B14F-4D97-AF65-F5344CB8AC3E}">
        <p14:creationId xmlns:p14="http://schemas.microsoft.com/office/powerpoint/2010/main" val="31412994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600200"/>
            <a:ext cx="8229600" cy="4525963"/>
          </a:xfrm>
        </p:spPr>
        <p:txBody>
          <a:bodyPr/>
          <a:lstStyle/>
          <a:p>
            <a:pPr lvl="0"/>
            <a:endParaRPr lang="en-US" noProof="0" smtClean="0"/>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36736F8-BFF1-4D03-9944-8798F396B175}" type="slidenum">
              <a:rPr lang="en-US"/>
              <a:pPr>
                <a:defRPr/>
              </a:pPr>
              <a:t>‹#›</a:t>
            </a:fld>
            <a:endParaRPr lang="en-US"/>
          </a:p>
        </p:txBody>
      </p:sp>
    </p:spTree>
    <p:extLst>
      <p:ext uri="{BB962C8B-B14F-4D97-AF65-F5344CB8AC3E}">
        <p14:creationId xmlns:p14="http://schemas.microsoft.com/office/powerpoint/2010/main" val="19909455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9EEFAEA4-7303-4F97-B74A-8035C1C0C65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just"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just" rtl="0" eaLnBrk="0" fontAlgn="base" hangingPunct="0">
        <a:spcBef>
          <a:spcPct val="20000"/>
        </a:spcBef>
        <a:spcAft>
          <a:spcPct val="0"/>
        </a:spcAft>
        <a:buChar char="–"/>
        <a:defRPr sz="2800">
          <a:solidFill>
            <a:schemeClr val="tx1"/>
          </a:solidFill>
          <a:latin typeface="+mn-lt"/>
        </a:defRPr>
      </a:lvl2pPr>
      <a:lvl3pPr marL="1143000" indent="-228600" algn="just" rtl="0" eaLnBrk="0" fontAlgn="base" hangingPunct="0">
        <a:spcBef>
          <a:spcPct val="20000"/>
        </a:spcBef>
        <a:spcAft>
          <a:spcPct val="0"/>
        </a:spcAft>
        <a:buChar char="•"/>
        <a:defRPr sz="2400">
          <a:solidFill>
            <a:schemeClr val="tx1"/>
          </a:solidFill>
          <a:latin typeface="+mn-lt"/>
        </a:defRPr>
      </a:lvl3pPr>
      <a:lvl4pPr marL="1600200" indent="-228600" algn="just" rtl="0" eaLnBrk="0" fontAlgn="base" hangingPunct="0">
        <a:spcBef>
          <a:spcPct val="20000"/>
        </a:spcBef>
        <a:spcAft>
          <a:spcPct val="0"/>
        </a:spcAft>
        <a:buChar char="–"/>
        <a:defRPr sz="2000">
          <a:solidFill>
            <a:schemeClr val="tx1"/>
          </a:solidFill>
          <a:latin typeface="+mn-lt"/>
        </a:defRPr>
      </a:lvl4pPr>
      <a:lvl5pPr marL="2057400" indent="-228600" algn="just" rtl="0" eaLnBrk="0" fontAlgn="base" hangingPunct="0">
        <a:spcBef>
          <a:spcPct val="20000"/>
        </a:spcBef>
        <a:spcAft>
          <a:spcPct val="0"/>
        </a:spcAft>
        <a:buChar char="»"/>
        <a:defRPr sz="2000">
          <a:solidFill>
            <a:schemeClr val="tx1"/>
          </a:solidFill>
          <a:latin typeface="+mn-lt"/>
        </a:defRPr>
      </a:lvl5pPr>
      <a:lvl6pPr marL="2514600" indent="-228600" algn="just" rtl="0" fontAlgn="base">
        <a:spcBef>
          <a:spcPct val="20000"/>
        </a:spcBef>
        <a:spcAft>
          <a:spcPct val="0"/>
        </a:spcAft>
        <a:buChar char="»"/>
        <a:defRPr sz="2000">
          <a:solidFill>
            <a:schemeClr val="tx1"/>
          </a:solidFill>
          <a:latin typeface="+mn-lt"/>
        </a:defRPr>
      </a:lvl6pPr>
      <a:lvl7pPr marL="2971800" indent="-228600" algn="just" rtl="0" fontAlgn="base">
        <a:spcBef>
          <a:spcPct val="20000"/>
        </a:spcBef>
        <a:spcAft>
          <a:spcPct val="0"/>
        </a:spcAft>
        <a:buChar char="»"/>
        <a:defRPr sz="2000">
          <a:solidFill>
            <a:schemeClr val="tx1"/>
          </a:solidFill>
          <a:latin typeface="+mn-lt"/>
        </a:defRPr>
      </a:lvl7pPr>
      <a:lvl8pPr marL="3429000" indent="-228600" algn="just" rtl="0" fontAlgn="base">
        <a:spcBef>
          <a:spcPct val="20000"/>
        </a:spcBef>
        <a:spcAft>
          <a:spcPct val="0"/>
        </a:spcAft>
        <a:buChar char="»"/>
        <a:defRPr sz="2000">
          <a:solidFill>
            <a:schemeClr val="tx1"/>
          </a:solidFill>
          <a:latin typeface="+mn-lt"/>
        </a:defRPr>
      </a:lvl8pPr>
      <a:lvl9pPr marL="3886200" indent="-228600" algn="just"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9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5.png"/></Relationships>
</file>

<file path=ppt/slides/_rels/slide9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F423AB71-68A0-4DB2-9E11-BA7943FFAA6A}" type="slidenum">
              <a:rPr lang="en-US" sz="1400" smtClean="0"/>
              <a:pPr algn="r">
                <a:spcBef>
                  <a:spcPct val="0"/>
                </a:spcBef>
                <a:buFontTx/>
                <a:buNone/>
              </a:pPr>
              <a:t>1</a:t>
            </a:fld>
            <a:endParaRPr lang="en-US" sz="1400" smtClean="0"/>
          </a:p>
        </p:txBody>
      </p:sp>
      <p:sp>
        <p:nvSpPr>
          <p:cNvPr id="3075" name="Rectangle 2"/>
          <p:cNvSpPr>
            <a:spLocks noGrp="1" noChangeArrowheads="1"/>
          </p:cNvSpPr>
          <p:nvPr>
            <p:ph type="ctrTitle"/>
          </p:nvPr>
        </p:nvSpPr>
        <p:spPr>
          <a:xfrm>
            <a:off x="609600" y="838200"/>
            <a:ext cx="7772400" cy="4648200"/>
          </a:xfrm>
        </p:spPr>
        <p:txBody>
          <a:bodyPr/>
          <a:lstStyle/>
          <a:p>
            <a:pPr eaLnBrk="1" hangingPunct="1"/>
            <a:r>
              <a:rPr lang="en-US" sz="14200" smtClean="0"/>
              <a:t>TREES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E3020074-0C0F-4DFE-B5E8-5108C2EFFD1D}" type="slidenum">
              <a:rPr lang="en-US" sz="1400" smtClean="0"/>
              <a:pPr algn="r">
                <a:spcBef>
                  <a:spcPct val="0"/>
                </a:spcBef>
                <a:buFontTx/>
                <a:buNone/>
              </a:pPr>
              <a:t>2</a:t>
            </a:fld>
            <a:endParaRPr lang="en-US" sz="1400" smtClean="0"/>
          </a:p>
        </p:txBody>
      </p:sp>
      <p:sp>
        <p:nvSpPr>
          <p:cNvPr id="5123" name="Rectangle 2"/>
          <p:cNvSpPr>
            <a:spLocks noGrp="1" noChangeArrowheads="1"/>
          </p:cNvSpPr>
          <p:nvPr>
            <p:ph type="title"/>
          </p:nvPr>
        </p:nvSpPr>
        <p:spPr/>
        <p:txBody>
          <a:bodyPr/>
          <a:lstStyle/>
          <a:p>
            <a:pPr eaLnBrk="1" hangingPunct="1"/>
            <a:r>
              <a:rPr lang="en-US" b="1" u="sng" smtClean="0"/>
              <a:t>TREE</a:t>
            </a:r>
          </a:p>
        </p:txBody>
      </p:sp>
      <p:sp>
        <p:nvSpPr>
          <p:cNvPr id="5124" name="Rectangle 3"/>
          <p:cNvSpPr>
            <a:spLocks noGrp="1" noChangeArrowheads="1"/>
          </p:cNvSpPr>
          <p:nvPr>
            <p:ph type="body" idx="1"/>
          </p:nvPr>
        </p:nvSpPr>
        <p:spPr/>
        <p:txBody>
          <a:bodyPr/>
          <a:lstStyle/>
          <a:p>
            <a:pPr eaLnBrk="1" hangingPunct="1"/>
            <a:r>
              <a:rPr lang="en-US" sz="2800" smtClean="0"/>
              <a:t>A tree is a non-linear data structure used to represent hierarchical relationship existing amongst several data items.</a:t>
            </a:r>
          </a:p>
          <a:p>
            <a:pPr eaLnBrk="1" hangingPunct="1"/>
            <a:r>
              <a:rPr lang="en-US" sz="2800" smtClean="0"/>
              <a:t>There is a special data item called the </a:t>
            </a:r>
            <a:r>
              <a:rPr lang="en-US" sz="2800" b="1" smtClean="0"/>
              <a:t>root</a:t>
            </a:r>
            <a:r>
              <a:rPr lang="en-US" sz="2800" smtClean="0"/>
              <a:t> of the tree.</a:t>
            </a:r>
          </a:p>
          <a:p>
            <a:pPr eaLnBrk="1" hangingPunct="1"/>
            <a:r>
              <a:rPr lang="en-US" sz="2800" smtClean="0"/>
              <a:t>And its remaining data items are partitioned into number of mutually exclusive (i.e., disjoint) subsets, each of which is itself a tree. And they are called </a:t>
            </a:r>
            <a:r>
              <a:rPr lang="en-US" sz="2800" b="1" smtClean="0"/>
              <a:t>sub trees.</a:t>
            </a:r>
            <a:endParaRPr lang="en-US" sz="2800" smtClean="0"/>
          </a:p>
          <a:p>
            <a:pPr eaLnBrk="1" hangingPunct="1"/>
            <a:endParaRPr lang="en-US" sz="280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48F7C14B-40A2-4536-9714-91B86000CA70}" type="slidenum">
              <a:rPr lang="en-US" sz="1400" smtClean="0"/>
              <a:pPr algn="r">
                <a:spcBef>
                  <a:spcPct val="0"/>
                </a:spcBef>
                <a:buFontTx/>
                <a:buNone/>
              </a:pPr>
              <a:t>3</a:t>
            </a:fld>
            <a:endParaRPr lang="en-US" sz="1400" smtClean="0"/>
          </a:p>
        </p:txBody>
      </p:sp>
      <p:sp>
        <p:nvSpPr>
          <p:cNvPr id="6147" name="Oval 38"/>
          <p:cNvSpPr>
            <a:spLocks noChangeArrowheads="1"/>
          </p:cNvSpPr>
          <p:nvPr/>
        </p:nvSpPr>
        <p:spPr bwMode="auto">
          <a:xfrm>
            <a:off x="3048000" y="8382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A</a:t>
            </a:r>
          </a:p>
        </p:txBody>
      </p:sp>
      <p:sp>
        <p:nvSpPr>
          <p:cNvPr id="6148" name="Oval 39"/>
          <p:cNvSpPr>
            <a:spLocks noChangeArrowheads="1"/>
          </p:cNvSpPr>
          <p:nvPr/>
        </p:nvSpPr>
        <p:spPr bwMode="auto">
          <a:xfrm>
            <a:off x="3048000" y="19050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C</a:t>
            </a:r>
          </a:p>
        </p:txBody>
      </p:sp>
      <p:sp>
        <p:nvSpPr>
          <p:cNvPr id="6149" name="Oval 40"/>
          <p:cNvSpPr>
            <a:spLocks noChangeArrowheads="1"/>
          </p:cNvSpPr>
          <p:nvPr/>
        </p:nvSpPr>
        <p:spPr bwMode="auto">
          <a:xfrm>
            <a:off x="4800600" y="18288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D</a:t>
            </a:r>
          </a:p>
        </p:txBody>
      </p:sp>
      <p:sp>
        <p:nvSpPr>
          <p:cNvPr id="6150" name="Oval 41"/>
          <p:cNvSpPr>
            <a:spLocks noChangeArrowheads="1"/>
          </p:cNvSpPr>
          <p:nvPr/>
        </p:nvSpPr>
        <p:spPr bwMode="auto">
          <a:xfrm>
            <a:off x="1219200" y="44196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J</a:t>
            </a:r>
          </a:p>
        </p:txBody>
      </p:sp>
      <p:sp>
        <p:nvSpPr>
          <p:cNvPr id="6151" name="Oval 42"/>
          <p:cNvSpPr>
            <a:spLocks noChangeArrowheads="1"/>
          </p:cNvSpPr>
          <p:nvPr/>
        </p:nvSpPr>
        <p:spPr bwMode="auto">
          <a:xfrm>
            <a:off x="1905000" y="31242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F</a:t>
            </a:r>
          </a:p>
        </p:txBody>
      </p:sp>
      <p:sp>
        <p:nvSpPr>
          <p:cNvPr id="6152" name="Oval 43"/>
          <p:cNvSpPr>
            <a:spLocks noChangeArrowheads="1"/>
          </p:cNvSpPr>
          <p:nvPr/>
        </p:nvSpPr>
        <p:spPr bwMode="auto">
          <a:xfrm>
            <a:off x="4876800" y="43434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K</a:t>
            </a:r>
          </a:p>
        </p:txBody>
      </p:sp>
      <p:sp>
        <p:nvSpPr>
          <p:cNvPr id="6153" name="Oval 44"/>
          <p:cNvSpPr>
            <a:spLocks noChangeArrowheads="1"/>
          </p:cNvSpPr>
          <p:nvPr/>
        </p:nvSpPr>
        <p:spPr bwMode="auto">
          <a:xfrm>
            <a:off x="1219200" y="19812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B</a:t>
            </a:r>
          </a:p>
        </p:txBody>
      </p:sp>
      <p:sp>
        <p:nvSpPr>
          <p:cNvPr id="6154" name="Oval 45"/>
          <p:cNvSpPr>
            <a:spLocks noChangeArrowheads="1"/>
          </p:cNvSpPr>
          <p:nvPr/>
        </p:nvSpPr>
        <p:spPr bwMode="auto">
          <a:xfrm>
            <a:off x="4343400" y="30480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H</a:t>
            </a:r>
          </a:p>
        </p:txBody>
      </p:sp>
      <p:sp>
        <p:nvSpPr>
          <p:cNvPr id="6155" name="Oval 46"/>
          <p:cNvSpPr>
            <a:spLocks noChangeArrowheads="1"/>
          </p:cNvSpPr>
          <p:nvPr/>
        </p:nvSpPr>
        <p:spPr bwMode="auto">
          <a:xfrm>
            <a:off x="7239000" y="43434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M</a:t>
            </a:r>
          </a:p>
        </p:txBody>
      </p:sp>
      <p:sp>
        <p:nvSpPr>
          <p:cNvPr id="6156" name="Oval 47"/>
          <p:cNvSpPr>
            <a:spLocks noChangeArrowheads="1"/>
          </p:cNvSpPr>
          <p:nvPr/>
        </p:nvSpPr>
        <p:spPr bwMode="auto">
          <a:xfrm>
            <a:off x="3124200" y="31242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G</a:t>
            </a:r>
          </a:p>
        </p:txBody>
      </p:sp>
      <p:sp>
        <p:nvSpPr>
          <p:cNvPr id="6157" name="Oval 48"/>
          <p:cNvSpPr>
            <a:spLocks noChangeArrowheads="1"/>
          </p:cNvSpPr>
          <p:nvPr/>
        </p:nvSpPr>
        <p:spPr bwMode="auto">
          <a:xfrm>
            <a:off x="6019800" y="30480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I</a:t>
            </a:r>
          </a:p>
        </p:txBody>
      </p:sp>
      <p:sp>
        <p:nvSpPr>
          <p:cNvPr id="6158" name="Oval 50"/>
          <p:cNvSpPr>
            <a:spLocks noChangeArrowheads="1"/>
          </p:cNvSpPr>
          <p:nvPr/>
        </p:nvSpPr>
        <p:spPr bwMode="auto">
          <a:xfrm>
            <a:off x="6096000" y="43434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L</a:t>
            </a:r>
          </a:p>
        </p:txBody>
      </p:sp>
      <p:sp>
        <p:nvSpPr>
          <p:cNvPr id="6159" name="Oval 51"/>
          <p:cNvSpPr>
            <a:spLocks noChangeArrowheads="1"/>
          </p:cNvSpPr>
          <p:nvPr/>
        </p:nvSpPr>
        <p:spPr bwMode="auto">
          <a:xfrm>
            <a:off x="152400" y="31242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1800"/>
              <a:t>E</a:t>
            </a:r>
          </a:p>
        </p:txBody>
      </p:sp>
      <p:sp>
        <p:nvSpPr>
          <p:cNvPr id="6160" name="Line 53"/>
          <p:cNvSpPr>
            <a:spLocks noChangeShapeType="1"/>
          </p:cNvSpPr>
          <p:nvPr/>
        </p:nvSpPr>
        <p:spPr bwMode="auto">
          <a:xfrm flipH="1">
            <a:off x="1752600" y="1219200"/>
            <a:ext cx="1295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61" name="Line 54"/>
          <p:cNvSpPr>
            <a:spLocks noChangeShapeType="1"/>
          </p:cNvSpPr>
          <p:nvPr/>
        </p:nvSpPr>
        <p:spPr bwMode="auto">
          <a:xfrm flipH="1">
            <a:off x="533400" y="2438400"/>
            <a:ext cx="7620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62" name="Line 55"/>
          <p:cNvSpPr>
            <a:spLocks noChangeShapeType="1"/>
          </p:cNvSpPr>
          <p:nvPr/>
        </p:nvSpPr>
        <p:spPr bwMode="auto">
          <a:xfrm>
            <a:off x="33528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63" name="Line 56"/>
          <p:cNvSpPr>
            <a:spLocks noChangeShapeType="1"/>
          </p:cNvSpPr>
          <p:nvPr/>
        </p:nvSpPr>
        <p:spPr bwMode="auto">
          <a:xfrm>
            <a:off x="3352800" y="2438400"/>
            <a:ext cx="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64" name="Line 58"/>
          <p:cNvSpPr>
            <a:spLocks noChangeShapeType="1"/>
          </p:cNvSpPr>
          <p:nvPr/>
        </p:nvSpPr>
        <p:spPr bwMode="auto">
          <a:xfrm>
            <a:off x="1600200" y="2514600"/>
            <a:ext cx="4572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65" name="Line 59"/>
          <p:cNvSpPr>
            <a:spLocks noChangeShapeType="1"/>
          </p:cNvSpPr>
          <p:nvPr/>
        </p:nvSpPr>
        <p:spPr bwMode="auto">
          <a:xfrm flipH="1">
            <a:off x="1676400" y="3657600"/>
            <a:ext cx="3810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66" name="Line 60"/>
          <p:cNvSpPr>
            <a:spLocks noChangeShapeType="1"/>
          </p:cNvSpPr>
          <p:nvPr/>
        </p:nvSpPr>
        <p:spPr bwMode="auto">
          <a:xfrm>
            <a:off x="3657600" y="1143000"/>
            <a:ext cx="12192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67" name="Line 61"/>
          <p:cNvSpPr>
            <a:spLocks noChangeShapeType="1"/>
          </p:cNvSpPr>
          <p:nvPr/>
        </p:nvSpPr>
        <p:spPr bwMode="auto">
          <a:xfrm flipH="1">
            <a:off x="4724400" y="2362200"/>
            <a:ext cx="3048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68" name="Line 62"/>
          <p:cNvSpPr>
            <a:spLocks noChangeShapeType="1"/>
          </p:cNvSpPr>
          <p:nvPr/>
        </p:nvSpPr>
        <p:spPr bwMode="auto">
          <a:xfrm>
            <a:off x="5334000" y="2286000"/>
            <a:ext cx="8382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69" name="Line 63"/>
          <p:cNvSpPr>
            <a:spLocks noChangeShapeType="1"/>
          </p:cNvSpPr>
          <p:nvPr/>
        </p:nvSpPr>
        <p:spPr bwMode="auto">
          <a:xfrm>
            <a:off x="6324600" y="3581400"/>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70" name="Line 64"/>
          <p:cNvSpPr>
            <a:spLocks noChangeShapeType="1"/>
          </p:cNvSpPr>
          <p:nvPr/>
        </p:nvSpPr>
        <p:spPr bwMode="auto">
          <a:xfrm flipH="1">
            <a:off x="5181600" y="3352800"/>
            <a:ext cx="838200" cy="990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71" name="Line 65"/>
          <p:cNvSpPr>
            <a:spLocks noChangeShapeType="1"/>
          </p:cNvSpPr>
          <p:nvPr/>
        </p:nvSpPr>
        <p:spPr bwMode="auto">
          <a:xfrm>
            <a:off x="6553200" y="3505200"/>
            <a:ext cx="9144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72" name="Text Box 66"/>
          <p:cNvSpPr txBox="1">
            <a:spLocks noChangeArrowheads="1"/>
          </p:cNvSpPr>
          <p:nvPr/>
        </p:nvSpPr>
        <p:spPr bwMode="auto">
          <a:xfrm>
            <a:off x="4191000" y="762000"/>
            <a:ext cx="1524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50000"/>
              </a:spcBef>
              <a:buFontTx/>
              <a:buNone/>
            </a:pPr>
            <a:r>
              <a:rPr lang="en-US"/>
              <a:t>Level 0</a:t>
            </a:r>
          </a:p>
        </p:txBody>
      </p:sp>
      <p:sp>
        <p:nvSpPr>
          <p:cNvPr id="6173" name="Text Box 67"/>
          <p:cNvSpPr txBox="1">
            <a:spLocks noChangeArrowheads="1"/>
          </p:cNvSpPr>
          <p:nvPr/>
        </p:nvSpPr>
        <p:spPr bwMode="auto">
          <a:xfrm>
            <a:off x="5638800" y="1828800"/>
            <a:ext cx="1524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50000"/>
              </a:spcBef>
              <a:buFontTx/>
              <a:buNone/>
            </a:pPr>
            <a:r>
              <a:rPr lang="en-US"/>
              <a:t>Level 1</a:t>
            </a:r>
          </a:p>
        </p:txBody>
      </p:sp>
      <p:sp>
        <p:nvSpPr>
          <p:cNvPr id="6174" name="Text Box 68"/>
          <p:cNvSpPr txBox="1">
            <a:spLocks noChangeArrowheads="1"/>
          </p:cNvSpPr>
          <p:nvPr/>
        </p:nvSpPr>
        <p:spPr bwMode="auto">
          <a:xfrm>
            <a:off x="6858000" y="3048000"/>
            <a:ext cx="1524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50000"/>
              </a:spcBef>
              <a:buFontTx/>
              <a:buNone/>
            </a:pPr>
            <a:r>
              <a:rPr lang="en-US"/>
              <a:t>Level 2</a:t>
            </a:r>
          </a:p>
        </p:txBody>
      </p:sp>
      <p:sp>
        <p:nvSpPr>
          <p:cNvPr id="6175" name="Text Box 69"/>
          <p:cNvSpPr txBox="1">
            <a:spLocks noChangeArrowheads="1"/>
          </p:cNvSpPr>
          <p:nvPr/>
        </p:nvSpPr>
        <p:spPr bwMode="auto">
          <a:xfrm>
            <a:off x="7848600" y="4343400"/>
            <a:ext cx="1295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50000"/>
              </a:spcBef>
              <a:buFontTx/>
              <a:buNone/>
            </a:pPr>
            <a:r>
              <a:rPr lang="en-US" sz="2000" b="1"/>
              <a:t>Level 3</a:t>
            </a:r>
          </a:p>
        </p:txBody>
      </p:sp>
      <p:sp>
        <p:nvSpPr>
          <p:cNvPr id="6176" name="Text Box 70"/>
          <p:cNvSpPr txBox="1">
            <a:spLocks noChangeArrowheads="1"/>
          </p:cNvSpPr>
          <p:nvPr/>
        </p:nvSpPr>
        <p:spPr bwMode="auto">
          <a:xfrm>
            <a:off x="1905000" y="762000"/>
            <a:ext cx="1676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50000"/>
              </a:spcBef>
              <a:buFontTx/>
              <a:buNone/>
            </a:pPr>
            <a:r>
              <a:rPr lang="en-US" sz="2800"/>
              <a:t>ROOT</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E2FA87A3-8E0E-4FB5-8ED6-771DF1DA4D23}" type="slidenum">
              <a:rPr lang="en-US" sz="1400" smtClean="0"/>
              <a:pPr algn="r">
                <a:spcBef>
                  <a:spcPct val="0"/>
                </a:spcBef>
                <a:buFontTx/>
                <a:buNone/>
              </a:pPr>
              <a:t>4</a:t>
            </a:fld>
            <a:endParaRPr lang="en-US" sz="1400" smtClean="0"/>
          </a:p>
        </p:txBody>
      </p:sp>
      <p:sp>
        <p:nvSpPr>
          <p:cNvPr id="7171" name="Rectangle 3"/>
          <p:cNvSpPr>
            <a:spLocks noGrp="1" noChangeArrowheads="1"/>
          </p:cNvSpPr>
          <p:nvPr>
            <p:ph type="body" idx="1"/>
          </p:nvPr>
        </p:nvSpPr>
        <p:spPr>
          <a:xfrm>
            <a:off x="457200" y="304800"/>
            <a:ext cx="8229600" cy="6172200"/>
          </a:xfrm>
        </p:spPr>
        <p:txBody>
          <a:bodyPr/>
          <a:lstStyle/>
          <a:p>
            <a:pPr eaLnBrk="1" hangingPunct="1"/>
            <a:r>
              <a:rPr lang="en-US" sz="2800" smtClean="0"/>
              <a:t>A tree is a non-empty collection of vertices and edges that satisfies certain requirements.</a:t>
            </a:r>
          </a:p>
          <a:p>
            <a:pPr eaLnBrk="1" hangingPunct="1"/>
            <a:r>
              <a:rPr lang="en-US" sz="2800" smtClean="0"/>
              <a:t>A vertex is a simple object (also referred to as a node) that can have a name and can carry other associated information.</a:t>
            </a:r>
          </a:p>
          <a:p>
            <a:pPr eaLnBrk="1" hangingPunct="1"/>
            <a:r>
              <a:rPr lang="en-US" sz="2800" smtClean="0"/>
              <a:t>An edge is a connection between two vertices.</a:t>
            </a:r>
          </a:p>
          <a:p>
            <a:pPr eaLnBrk="1" hangingPunct="1"/>
            <a:r>
              <a:rPr lang="en-US" sz="2800" smtClean="0"/>
              <a:t>A tree may, therefore, be defined as a finite set of zero or more vertices such that:</a:t>
            </a:r>
          </a:p>
          <a:p>
            <a:pPr lvl="1" eaLnBrk="1" hangingPunct="1"/>
            <a:r>
              <a:rPr lang="en-US" smtClean="0"/>
              <a:t>There is one specially designated vertex called ROOT, and </a:t>
            </a:r>
          </a:p>
          <a:p>
            <a:pPr lvl="1" eaLnBrk="1" hangingPunct="1"/>
            <a:r>
              <a:rPr lang="en-US" smtClean="0"/>
              <a:t>The remaining vertices are partitioned into a collection of sub- trees, each of which is also a tree. </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D93A3A8C-2E8E-4476-A960-52AA835F120F}" type="slidenum">
              <a:rPr lang="en-US" sz="1400" smtClean="0"/>
              <a:pPr algn="r">
                <a:spcBef>
                  <a:spcPct val="0"/>
                </a:spcBef>
                <a:buFontTx/>
                <a:buNone/>
              </a:pPr>
              <a:t>5</a:t>
            </a:fld>
            <a:endParaRPr lang="en-US" sz="1400" smtClean="0"/>
          </a:p>
        </p:txBody>
      </p:sp>
      <p:sp>
        <p:nvSpPr>
          <p:cNvPr id="8195" name="Rectangle 3"/>
          <p:cNvSpPr>
            <a:spLocks noGrp="1" noChangeArrowheads="1"/>
          </p:cNvSpPr>
          <p:nvPr>
            <p:ph type="body" idx="1"/>
          </p:nvPr>
        </p:nvSpPr>
        <p:spPr>
          <a:xfrm>
            <a:off x="457200" y="457200"/>
            <a:ext cx="8229600" cy="5668963"/>
          </a:xfrm>
        </p:spPr>
        <p:txBody>
          <a:bodyPr/>
          <a:lstStyle/>
          <a:p>
            <a:pPr eaLnBrk="1" hangingPunct="1"/>
            <a:r>
              <a:rPr lang="en-US" b="1" smtClean="0"/>
              <a:t>Root: </a:t>
            </a:r>
            <a:r>
              <a:rPr lang="en-US" smtClean="0"/>
              <a:t>It is specially designed data item in a tree. It is the first in the hierarchical arrangement for data items. In the above tree, </a:t>
            </a:r>
            <a:r>
              <a:rPr lang="en-US" b="1" smtClean="0"/>
              <a:t>A</a:t>
            </a:r>
            <a:r>
              <a:rPr lang="en-US" smtClean="0"/>
              <a:t> is the root item.</a:t>
            </a:r>
          </a:p>
          <a:p>
            <a:pPr eaLnBrk="1" hangingPunct="1"/>
            <a:r>
              <a:rPr lang="en-US" b="1" smtClean="0"/>
              <a:t>Node : </a:t>
            </a:r>
            <a:r>
              <a:rPr lang="en-US" smtClean="0"/>
              <a:t>Each data item in a tree is called a node. It is the basic structure in a tree. It specifies the data information and links (branches) to other data items. There are 13 nodes in the above tree.</a:t>
            </a:r>
          </a:p>
          <a:p>
            <a:pPr eaLnBrk="1" hangingPunct="1"/>
            <a:endParaRPr lang="en-US"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844DC915-AD3A-4F05-9952-B747E1C60637}" type="slidenum">
              <a:rPr lang="en-US" sz="1400" smtClean="0"/>
              <a:pPr algn="r">
                <a:spcBef>
                  <a:spcPct val="0"/>
                </a:spcBef>
                <a:buFontTx/>
                <a:buNone/>
              </a:pPr>
              <a:t>6</a:t>
            </a:fld>
            <a:endParaRPr lang="en-US" sz="1400" smtClean="0"/>
          </a:p>
        </p:txBody>
      </p:sp>
      <p:sp>
        <p:nvSpPr>
          <p:cNvPr id="9219" name="Rectangle 3"/>
          <p:cNvSpPr>
            <a:spLocks noGrp="1" noChangeArrowheads="1"/>
          </p:cNvSpPr>
          <p:nvPr>
            <p:ph type="body" idx="1"/>
          </p:nvPr>
        </p:nvSpPr>
        <p:spPr>
          <a:xfrm>
            <a:off x="457200" y="381000"/>
            <a:ext cx="8229600" cy="5745163"/>
          </a:xfrm>
        </p:spPr>
        <p:txBody>
          <a:bodyPr/>
          <a:lstStyle/>
          <a:p>
            <a:pPr eaLnBrk="1" hangingPunct="1"/>
            <a:r>
              <a:rPr lang="en-US" sz="2800" b="1" smtClean="0"/>
              <a:t>Degree of a node: </a:t>
            </a:r>
            <a:r>
              <a:rPr lang="en-US" sz="2800" smtClean="0"/>
              <a:t>It is the number of sub trees of a node in a given tree. In the above tree.</a:t>
            </a:r>
          </a:p>
          <a:p>
            <a:pPr lvl="1" eaLnBrk="1" hangingPunct="1"/>
            <a:r>
              <a:rPr lang="en-US" smtClean="0"/>
              <a:t>The degree of node A is 3</a:t>
            </a:r>
          </a:p>
          <a:p>
            <a:pPr lvl="1" eaLnBrk="1" hangingPunct="1"/>
            <a:r>
              <a:rPr lang="en-US" smtClean="0"/>
              <a:t>The degree of node C is 1</a:t>
            </a:r>
          </a:p>
          <a:p>
            <a:pPr lvl="1" eaLnBrk="1" hangingPunct="1"/>
            <a:r>
              <a:rPr lang="en-US" smtClean="0"/>
              <a:t>The degree of node B is 2</a:t>
            </a:r>
          </a:p>
          <a:p>
            <a:pPr lvl="1" eaLnBrk="1" hangingPunct="1"/>
            <a:r>
              <a:rPr lang="en-US" smtClean="0"/>
              <a:t>The degree of node H is 0</a:t>
            </a:r>
          </a:p>
          <a:p>
            <a:pPr lvl="1" eaLnBrk="1" hangingPunct="1"/>
            <a:r>
              <a:rPr lang="en-US" smtClean="0"/>
              <a:t>The degree of node I is 3</a:t>
            </a:r>
          </a:p>
          <a:p>
            <a:pPr eaLnBrk="1" hangingPunct="1"/>
            <a:r>
              <a:rPr lang="en-US" sz="2800" b="1" smtClean="0"/>
              <a:t>Degree of a tree: </a:t>
            </a:r>
            <a:r>
              <a:rPr lang="en-US" sz="2800" smtClean="0"/>
              <a:t>It is the maximum degree of nodes in a given tree. In the above tree the node A has degree 3 and another node I is also having its degree 3. In all this value is the maximum. So, the degree of the above tree is 3.</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8BC10CB9-FFFF-4589-B801-211F0F881852}" type="slidenum">
              <a:rPr lang="en-US" sz="1400" smtClean="0"/>
              <a:pPr algn="r">
                <a:spcBef>
                  <a:spcPct val="0"/>
                </a:spcBef>
                <a:buFontTx/>
                <a:buNone/>
              </a:pPr>
              <a:t>7</a:t>
            </a:fld>
            <a:endParaRPr lang="en-US" sz="1400" smtClean="0"/>
          </a:p>
        </p:txBody>
      </p:sp>
      <p:sp>
        <p:nvSpPr>
          <p:cNvPr id="10243" name="Rectangle 3"/>
          <p:cNvSpPr>
            <a:spLocks noGrp="1" noChangeArrowheads="1"/>
          </p:cNvSpPr>
          <p:nvPr>
            <p:ph type="body" idx="1"/>
          </p:nvPr>
        </p:nvSpPr>
        <p:spPr>
          <a:xfrm>
            <a:off x="457200" y="381000"/>
            <a:ext cx="8229600" cy="5745163"/>
          </a:xfrm>
        </p:spPr>
        <p:txBody>
          <a:bodyPr/>
          <a:lstStyle/>
          <a:p>
            <a:pPr eaLnBrk="1" hangingPunct="1"/>
            <a:r>
              <a:rPr lang="en-US" b="1" smtClean="0"/>
              <a:t>Terminal node (s): </a:t>
            </a:r>
            <a:r>
              <a:rPr lang="en-US" smtClean="0"/>
              <a:t>A node with degree zero is called a terminal node or a leaf. In the above tree, there are 7 terminal nodes. They are E,J,G,H,KL and M.</a:t>
            </a:r>
            <a:endParaRPr lang="en-US" b="1" smtClean="0"/>
          </a:p>
          <a:p>
            <a:pPr eaLnBrk="1" hangingPunct="1"/>
            <a:r>
              <a:rPr lang="en-US" b="1" smtClean="0"/>
              <a:t>Non-Terminal node (s) :</a:t>
            </a:r>
            <a:r>
              <a:rPr lang="en-US" smtClean="0"/>
              <a:t> Any node (except the root node) whose degree is not zero is called non-terminal node. Non-terminal nodes are the intermediate nodes in traversing the given tree from its root node to the terminal nodes (leaves). There are 5 non-terminal nodes.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59676A5E-676C-470F-AC1E-120EFD3B901B}" type="slidenum">
              <a:rPr lang="en-US" sz="1400" smtClean="0"/>
              <a:pPr algn="r">
                <a:spcBef>
                  <a:spcPct val="0"/>
                </a:spcBef>
                <a:buFontTx/>
                <a:buNone/>
              </a:pPr>
              <a:t>8</a:t>
            </a:fld>
            <a:endParaRPr lang="en-US" sz="1400" smtClean="0"/>
          </a:p>
        </p:txBody>
      </p:sp>
      <p:sp>
        <p:nvSpPr>
          <p:cNvPr id="11267" name="Rectangle 3"/>
          <p:cNvSpPr>
            <a:spLocks noGrp="1" noChangeArrowheads="1"/>
          </p:cNvSpPr>
          <p:nvPr>
            <p:ph type="body" idx="1"/>
          </p:nvPr>
        </p:nvSpPr>
        <p:spPr>
          <a:xfrm>
            <a:off x="457200" y="304800"/>
            <a:ext cx="8229600" cy="5821363"/>
          </a:xfrm>
        </p:spPr>
        <p:txBody>
          <a:bodyPr/>
          <a:lstStyle/>
          <a:p>
            <a:pPr eaLnBrk="1" hangingPunct="1">
              <a:lnSpc>
                <a:spcPct val="90000"/>
              </a:lnSpc>
            </a:pPr>
            <a:r>
              <a:rPr lang="en-US" b="1" smtClean="0"/>
              <a:t>Siblings: </a:t>
            </a:r>
            <a:r>
              <a:rPr lang="en-US" smtClean="0"/>
              <a:t>The children nodes of a given parent node are called siblings. They are also called brothers. In the above tree, </a:t>
            </a:r>
          </a:p>
          <a:p>
            <a:pPr lvl="1" eaLnBrk="1" hangingPunct="1">
              <a:lnSpc>
                <a:spcPct val="90000"/>
              </a:lnSpc>
            </a:pPr>
            <a:r>
              <a:rPr lang="en-US" smtClean="0"/>
              <a:t>E and F are siblings of parent node B.</a:t>
            </a:r>
          </a:p>
          <a:p>
            <a:pPr lvl="1" eaLnBrk="1" hangingPunct="1">
              <a:lnSpc>
                <a:spcPct val="90000"/>
              </a:lnSpc>
            </a:pPr>
            <a:r>
              <a:rPr lang="en-US" smtClean="0"/>
              <a:t>K,L and M are siblings of parent node .</a:t>
            </a:r>
          </a:p>
          <a:p>
            <a:pPr eaLnBrk="1" hangingPunct="1">
              <a:lnSpc>
                <a:spcPct val="90000"/>
              </a:lnSpc>
            </a:pPr>
            <a:r>
              <a:rPr lang="en-US" b="1" smtClean="0"/>
              <a:t>Level: </a:t>
            </a:r>
            <a:r>
              <a:rPr lang="en-US" smtClean="0"/>
              <a:t>The entire tree structure is leveled in such a way that the root node is always at level 0. Then, its immediate children are at level 1 and their immediate children are at level 2 and so on upto the terminal nodes. In general, if a node is at level n, then its children will be at level n+1. </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16EB4749-AFC3-4716-87B7-E8F99C7EE5D1}" type="slidenum">
              <a:rPr lang="en-US" sz="1400" smtClean="0"/>
              <a:pPr algn="r">
                <a:spcBef>
                  <a:spcPct val="0"/>
                </a:spcBef>
                <a:buFontTx/>
                <a:buNone/>
              </a:pPr>
              <a:t>9</a:t>
            </a:fld>
            <a:endParaRPr lang="en-US" sz="1400" smtClean="0"/>
          </a:p>
        </p:txBody>
      </p:sp>
      <p:sp>
        <p:nvSpPr>
          <p:cNvPr id="12291" name="Rectangle 3"/>
          <p:cNvSpPr>
            <a:spLocks noGrp="1" noChangeArrowheads="1"/>
          </p:cNvSpPr>
          <p:nvPr>
            <p:ph type="body" idx="1"/>
          </p:nvPr>
        </p:nvSpPr>
        <p:spPr>
          <a:xfrm>
            <a:off x="76200" y="304800"/>
            <a:ext cx="8915400" cy="6416675"/>
          </a:xfrm>
        </p:spPr>
        <p:txBody>
          <a:bodyPr/>
          <a:lstStyle/>
          <a:p>
            <a:pPr eaLnBrk="1" hangingPunct="1">
              <a:lnSpc>
                <a:spcPct val="90000"/>
              </a:lnSpc>
            </a:pPr>
            <a:r>
              <a:rPr lang="en-US" b="1" smtClean="0"/>
              <a:t>Edge: </a:t>
            </a:r>
            <a:r>
              <a:rPr lang="en-US" smtClean="0"/>
              <a:t>It is a connecting line of two nodes. That is, the line drawn from one node to another node is called an edge.</a:t>
            </a:r>
            <a:endParaRPr lang="en-US" b="1" smtClean="0"/>
          </a:p>
          <a:p>
            <a:pPr eaLnBrk="1" hangingPunct="1">
              <a:lnSpc>
                <a:spcPct val="90000"/>
              </a:lnSpc>
            </a:pPr>
            <a:r>
              <a:rPr lang="en-US" b="1" smtClean="0"/>
              <a:t>Path: </a:t>
            </a:r>
            <a:r>
              <a:rPr lang="en-US" smtClean="0"/>
              <a:t>It is a sequence of consecutive edges from the source node to the destination node. In the above tree, the path between A and J is given by the node pairs,</a:t>
            </a:r>
          </a:p>
          <a:p>
            <a:pPr eaLnBrk="1" hangingPunct="1">
              <a:lnSpc>
                <a:spcPct val="90000"/>
              </a:lnSpc>
            </a:pPr>
            <a:r>
              <a:rPr lang="en-US" smtClean="0"/>
              <a:t>			(A,B), (B,F) and (F,J)</a:t>
            </a:r>
          </a:p>
          <a:p>
            <a:pPr eaLnBrk="1" hangingPunct="1">
              <a:lnSpc>
                <a:spcPct val="90000"/>
              </a:lnSpc>
            </a:pPr>
            <a:r>
              <a:rPr lang="en-US" b="1" smtClean="0"/>
              <a:t>Simple Path: </a:t>
            </a:r>
            <a:r>
              <a:rPr lang="en-US" smtClean="0"/>
              <a:t>A path is simple if all of its vertices are distinct. </a:t>
            </a:r>
          </a:p>
          <a:p>
            <a:pPr eaLnBrk="1" hangingPunct="1">
              <a:lnSpc>
                <a:spcPct val="90000"/>
              </a:lnSpc>
            </a:pPr>
            <a:r>
              <a:rPr lang="en-US" b="1" smtClean="0"/>
              <a:t>Closed Path: </a:t>
            </a:r>
            <a:r>
              <a:rPr lang="en-US" smtClean="0"/>
              <a:t>A path is closed if the first vertex is the same as the last vertex (i.e., it starts and ends at the same vertex.)</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2"/>
          <p:cNvSpPr>
            <a:spLocks noGrp="1"/>
          </p:cNvSpPr>
          <p:nvPr>
            <p:ph idx="1"/>
          </p:nvPr>
        </p:nvSpPr>
        <p:spPr>
          <a:xfrm>
            <a:off x="228600" y="76200"/>
            <a:ext cx="8534400" cy="6629400"/>
          </a:xfrm>
        </p:spPr>
        <p:txBody>
          <a:bodyPr/>
          <a:lstStyle/>
          <a:p>
            <a:r>
              <a:rPr lang="en-US" sz="2800" b="1" dirty="0" smtClean="0"/>
              <a:t>Depth:</a:t>
            </a:r>
            <a:r>
              <a:rPr lang="en-US" sz="2800" dirty="0" smtClean="0"/>
              <a:t> The depth of a node X in a tree T is defined as the length of the simple path </a:t>
            </a:r>
            <a:r>
              <a:rPr lang="en-US" sz="2800" b="1" dirty="0" smtClean="0">
                <a:solidFill>
                  <a:srgbClr val="FF0000"/>
                </a:solidFill>
              </a:rPr>
              <a:t>(number of edges) from the </a:t>
            </a:r>
            <a:r>
              <a:rPr lang="en-US" sz="2800" b="1" dirty="0" smtClean="0">
                <a:solidFill>
                  <a:srgbClr val="0070C0"/>
                </a:solidFill>
              </a:rPr>
              <a:t>root</a:t>
            </a:r>
            <a:r>
              <a:rPr lang="en-US" sz="2800" b="1" dirty="0" smtClean="0">
                <a:solidFill>
                  <a:srgbClr val="FF0000"/>
                </a:solidFill>
              </a:rPr>
              <a:t> node to </a:t>
            </a:r>
            <a:r>
              <a:rPr lang="en-US" sz="2800" b="1" dirty="0" smtClean="0">
                <a:solidFill>
                  <a:srgbClr val="0070C0"/>
                </a:solidFill>
              </a:rPr>
              <a:t>X</a:t>
            </a:r>
            <a:r>
              <a:rPr lang="en-US" sz="2800" dirty="0" smtClean="0"/>
              <a:t>. </a:t>
            </a:r>
          </a:p>
          <a:p>
            <a:r>
              <a:rPr lang="en-US" sz="2800" b="1" dirty="0" smtClean="0"/>
              <a:t>Height:</a:t>
            </a:r>
            <a:r>
              <a:rPr lang="en-US" sz="2800" dirty="0" smtClean="0"/>
              <a:t> The height of a node Y is the </a:t>
            </a:r>
            <a:r>
              <a:rPr lang="en-US" sz="2800" dirty="0" smtClean="0">
                <a:solidFill>
                  <a:srgbClr val="FF0000"/>
                </a:solidFill>
              </a:rPr>
              <a:t>number of edges on the longest downward simple path from </a:t>
            </a:r>
            <a:r>
              <a:rPr lang="en-US" sz="2800" b="1" dirty="0" smtClean="0">
                <a:solidFill>
                  <a:srgbClr val="0070C0"/>
                </a:solidFill>
              </a:rPr>
              <a:t>Y</a:t>
            </a:r>
            <a:r>
              <a:rPr lang="en-US" sz="2800" dirty="0" smtClean="0"/>
              <a:t> </a:t>
            </a:r>
            <a:r>
              <a:rPr lang="en-US" sz="2800" dirty="0" smtClean="0">
                <a:solidFill>
                  <a:srgbClr val="FF0000"/>
                </a:solidFill>
              </a:rPr>
              <a:t>to a</a:t>
            </a:r>
            <a:r>
              <a:rPr lang="en-US" sz="2800" dirty="0" smtClean="0"/>
              <a:t> </a:t>
            </a:r>
            <a:r>
              <a:rPr lang="en-US" sz="2800" b="1" dirty="0" smtClean="0">
                <a:solidFill>
                  <a:srgbClr val="0070C0"/>
                </a:solidFill>
              </a:rPr>
              <a:t>leaf</a:t>
            </a:r>
            <a:r>
              <a:rPr lang="en-US" sz="2800" dirty="0" smtClean="0"/>
              <a:t>. </a:t>
            </a:r>
          </a:p>
          <a:p>
            <a:r>
              <a:rPr lang="en-US" sz="2800" dirty="0" smtClean="0"/>
              <a:t>The height of a tree is defined as the height of its root node. (</a:t>
            </a:r>
            <a:r>
              <a:rPr lang="en-US" sz="2800" dirty="0" smtClean="0">
                <a:solidFill>
                  <a:srgbClr val="FF0000"/>
                </a:solidFill>
              </a:rPr>
              <a:t>Number of edges in the </a:t>
            </a:r>
            <a:r>
              <a:rPr lang="en-US" sz="2800" b="1" dirty="0" smtClean="0">
                <a:solidFill>
                  <a:srgbClr val="0070C0"/>
                </a:solidFill>
              </a:rPr>
              <a:t>longest</a:t>
            </a:r>
            <a:r>
              <a:rPr lang="en-US" sz="2800" dirty="0" smtClean="0">
                <a:solidFill>
                  <a:srgbClr val="0070C0"/>
                </a:solidFill>
              </a:rPr>
              <a:t> </a:t>
            </a:r>
            <a:r>
              <a:rPr lang="en-US" sz="2800" dirty="0" smtClean="0">
                <a:solidFill>
                  <a:srgbClr val="FF0000"/>
                </a:solidFill>
              </a:rPr>
              <a:t>simple path from </a:t>
            </a:r>
            <a:r>
              <a:rPr lang="en-US" sz="2800" b="1" dirty="0" smtClean="0">
                <a:solidFill>
                  <a:srgbClr val="0070C0"/>
                </a:solidFill>
              </a:rPr>
              <a:t>root</a:t>
            </a:r>
            <a:r>
              <a:rPr lang="en-US" sz="2800" dirty="0" smtClean="0">
                <a:solidFill>
                  <a:srgbClr val="0070C0"/>
                </a:solidFill>
              </a:rPr>
              <a:t> </a:t>
            </a:r>
            <a:r>
              <a:rPr lang="en-US" sz="2800" dirty="0" smtClean="0">
                <a:solidFill>
                  <a:srgbClr val="FF0000"/>
                </a:solidFill>
              </a:rPr>
              <a:t>to  the </a:t>
            </a:r>
            <a:r>
              <a:rPr lang="en-US" sz="2800" b="1" dirty="0" smtClean="0">
                <a:solidFill>
                  <a:srgbClr val="0070C0"/>
                </a:solidFill>
              </a:rPr>
              <a:t>deepest leaf</a:t>
            </a:r>
            <a:r>
              <a:rPr lang="en-US" sz="2800" dirty="0" smtClean="0"/>
              <a:t>)</a:t>
            </a:r>
          </a:p>
          <a:p>
            <a:r>
              <a:rPr lang="en-US" sz="2800" dirty="0" smtClean="0"/>
              <a:t>So, the root always has a depth of 0 while leaf nodes always have a height of 0.</a:t>
            </a:r>
          </a:p>
          <a:p>
            <a:r>
              <a:rPr lang="en-US" sz="2800" dirty="0" smtClean="0"/>
              <a:t>Note that a simple path is a path without repeated vertices.</a:t>
            </a:r>
          </a:p>
        </p:txBody>
      </p:sp>
      <p:sp>
        <p:nvSpPr>
          <p:cNvPr id="13315"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32BA9EEC-1875-4C17-A5A6-51250B71BDE5}" type="slidenum">
              <a:rPr lang="en-US" sz="1400" smtClean="0"/>
              <a:pPr algn="r">
                <a:spcBef>
                  <a:spcPct val="0"/>
                </a:spcBef>
                <a:buFontTx/>
                <a:buNone/>
              </a:pPr>
              <a:t>10</a:t>
            </a:fld>
            <a:endParaRPr lang="en-US" sz="140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r>
              <a:rPr lang="en-US" dirty="0" smtClean="0"/>
              <a:t>For each node in a tree, we can define two features: height and depth. </a:t>
            </a:r>
          </a:p>
          <a:p>
            <a:r>
              <a:rPr lang="en-US" dirty="0" smtClean="0"/>
              <a:t>A node’s height is the number of edges to its most distant leaf node. </a:t>
            </a:r>
          </a:p>
          <a:p>
            <a:r>
              <a:rPr lang="en-US" dirty="0" smtClean="0"/>
              <a:t>On the other hand, a node’s depth is the number of edges back up to the root. </a:t>
            </a:r>
          </a:p>
          <a:p>
            <a:r>
              <a:rPr lang="en-US" dirty="0" smtClean="0"/>
              <a:t>So, the root always has a depth of 0 while leaf nodes always have a height of 0.</a:t>
            </a:r>
            <a:endParaRPr lang="en-US" dirty="0"/>
          </a:p>
        </p:txBody>
      </p:sp>
      <p:sp>
        <p:nvSpPr>
          <p:cNvPr id="4" name="Slide Number Placeholder 3"/>
          <p:cNvSpPr>
            <a:spLocks noGrp="1"/>
          </p:cNvSpPr>
          <p:nvPr>
            <p:ph type="sldNum" sz="quarter" idx="12"/>
          </p:nvPr>
        </p:nvSpPr>
        <p:spPr/>
        <p:txBody>
          <a:bodyPr/>
          <a:lstStyle/>
          <a:p>
            <a:pPr>
              <a:defRPr/>
            </a:pPr>
            <a:fld id="{C26F6C5A-909C-41CB-856A-984AE94D65EE}" type="slidenum">
              <a:rPr lang="en-US" smtClean="0"/>
              <a:pPr>
                <a:defRPr/>
              </a:pPr>
              <a:t>11</a:t>
            </a:fld>
            <a:endParaRPr lang="en-US"/>
          </a:p>
        </p:txBody>
      </p:sp>
    </p:spTree>
    <p:extLst>
      <p:ext uri="{BB962C8B-B14F-4D97-AF65-F5344CB8AC3E}">
        <p14:creationId xmlns:p14="http://schemas.microsoft.com/office/powerpoint/2010/main" val="32518434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C26F6C5A-909C-41CB-856A-984AE94D65EE}" type="slidenum">
              <a:rPr lang="en-US" smtClean="0"/>
              <a:pPr>
                <a:defRPr/>
              </a:pPr>
              <a:t>12</a:t>
            </a:fld>
            <a:endParaRPr lang="en-US"/>
          </a:p>
        </p:txBody>
      </p:sp>
      <p:pic>
        <p:nvPicPr>
          <p:cNvPr id="2" name="Picture 1"/>
          <p:cNvPicPr>
            <a:picLocks noChangeAspect="1"/>
          </p:cNvPicPr>
          <p:nvPr/>
        </p:nvPicPr>
        <p:blipFill>
          <a:blip r:embed="rId2"/>
          <a:stretch>
            <a:fillRect/>
          </a:stretch>
        </p:blipFill>
        <p:spPr>
          <a:xfrm>
            <a:off x="100012" y="1066800"/>
            <a:ext cx="8943975" cy="5178424"/>
          </a:xfrm>
          <a:prstGeom prst="rect">
            <a:avLst/>
          </a:prstGeom>
        </p:spPr>
      </p:pic>
    </p:spTree>
    <p:extLst>
      <p:ext uri="{BB962C8B-B14F-4D97-AF65-F5344CB8AC3E}">
        <p14:creationId xmlns:p14="http://schemas.microsoft.com/office/powerpoint/2010/main" val="369855791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p:cNvSpPr>
            <a:spLocks noGrp="1"/>
          </p:cNvSpPr>
          <p:nvPr>
            <p:ph idx="1"/>
          </p:nvPr>
        </p:nvSpPr>
        <p:spPr>
          <a:xfrm>
            <a:off x="304800" y="457200"/>
            <a:ext cx="8610600" cy="4525963"/>
          </a:xfrm>
        </p:spPr>
        <p:txBody>
          <a:bodyPr/>
          <a:lstStyle/>
          <a:p>
            <a:r>
              <a:rPr lang="en-US" smtClean="0"/>
              <a:t>The </a:t>
            </a:r>
            <a:r>
              <a:rPr lang="en-US" b="1" smtClean="0"/>
              <a:t>height of a tree</a:t>
            </a:r>
            <a:r>
              <a:rPr lang="en-US" smtClean="0"/>
              <a:t> is equal to the </a:t>
            </a:r>
            <a:r>
              <a:rPr lang="en-US" b="1" smtClean="0"/>
              <a:t>maximum depth</a:t>
            </a:r>
            <a:r>
              <a:rPr lang="en-US" smtClean="0"/>
              <a:t> of a tree. </a:t>
            </a:r>
          </a:p>
          <a:p>
            <a:r>
              <a:rPr lang="en-US" smtClean="0"/>
              <a:t>The depth of a node and the height of a node are not necessarily equal. </a:t>
            </a:r>
          </a:p>
          <a:p>
            <a:r>
              <a:rPr lang="en-US" smtClean="0"/>
              <a:t>Height of an empty tree = -1</a:t>
            </a:r>
          </a:p>
          <a:p>
            <a:r>
              <a:rPr lang="en-US" smtClean="0"/>
              <a:t>Height of tree with 1 node = 0</a:t>
            </a:r>
          </a:p>
          <a:p>
            <a:endParaRPr lang="en-US" smtClean="0"/>
          </a:p>
        </p:txBody>
      </p:sp>
      <p:sp>
        <p:nvSpPr>
          <p:cNvPr id="14339"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CEF0DC5B-7C62-42FD-89BF-0C5F405618BE}" type="slidenum">
              <a:rPr lang="en-US" sz="1400" smtClean="0"/>
              <a:pPr algn="r">
                <a:spcBef>
                  <a:spcPct val="0"/>
                </a:spcBef>
                <a:buFontTx/>
                <a:buNone/>
              </a:pPr>
              <a:t>13</a:t>
            </a:fld>
            <a:endParaRPr lang="en-US" sz="140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7D5A131D-5517-4372-8493-0BEE39E234B1}" type="slidenum">
              <a:rPr lang="en-US" sz="1400" smtClean="0"/>
              <a:pPr algn="r">
                <a:spcBef>
                  <a:spcPct val="0"/>
                </a:spcBef>
                <a:buFontTx/>
                <a:buNone/>
              </a:pPr>
              <a:t>14</a:t>
            </a:fld>
            <a:endParaRPr lang="en-US" sz="1400" smtClean="0"/>
          </a:p>
        </p:txBody>
      </p:sp>
      <p:sp>
        <p:nvSpPr>
          <p:cNvPr id="15363" name="Rectangle 3"/>
          <p:cNvSpPr>
            <a:spLocks noGrp="1" noChangeArrowheads="1"/>
          </p:cNvSpPr>
          <p:nvPr>
            <p:ph type="body" idx="1"/>
          </p:nvPr>
        </p:nvSpPr>
        <p:spPr>
          <a:xfrm>
            <a:off x="457200" y="457200"/>
            <a:ext cx="8229600" cy="5668963"/>
          </a:xfrm>
        </p:spPr>
        <p:txBody>
          <a:bodyPr/>
          <a:lstStyle/>
          <a:p>
            <a:pPr eaLnBrk="1" hangingPunct="1">
              <a:lnSpc>
                <a:spcPct val="90000"/>
              </a:lnSpc>
            </a:pPr>
            <a:r>
              <a:rPr lang="en-US" b="1" smtClean="0"/>
              <a:t>BINARY TREES: </a:t>
            </a:r>
            <a:r>
              <a:rPr lang="en-US" smtClean="0"/>
              <a:t>A binary tree is a finite set of data items which is either empty or consists of a single item called the root and two disjoint binary trees called the left sub tree and right sub tree.</a:t>
            </a:r>
          </a:p>
          <a:p>
            <a:pPr eaLnBrk="1" hangingPunct="1">
              <a:lnSpc>
                <a:spcPct val="90000"/>
              </a:lnSpc>
            </a:pPr>
            <a:r>
              <a:rPr lang="en-US" smtClean="0"/>
              <a:t>A binary tree is the most commonly used non-linear data structure.</a:t>
            </a:r>
          </a:p>
          <a:p>
            <a:pPr eaLnBrk="1" hangingPunct="1">
              <a:lnSpc>
                <a:spcPct val="90000"/>
              </a:lnSpc>
            </a:pPr>
            <a:r>
              <a:rPr lang="en-US" smtClean="0"/>
              <a:t> In a binary tree the maximum degree of any node is at </a:t>
            </a:r>
            <a:r>
              <a:rPr lang="en-US" b="1" smtClean="0"/>
              <a:t>most two</a:t>
            </a:r>
            <a:r>
              <a:rPr lang="en-US" smtClean="0"/>
              <a:t>. That means, there may be a zero degree node (usually an empty tree) or a one degree node and two degree node. </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028A7C07-D727-449C-835E-93179B05012A}" type="slidenum">
              <a:rPr lang="en-US" sz="1400" smtClean="0"/>
              <a:pPr algn="r">
                <a:spcBef>
                  <a:spcPct val="0"/>
                </a:spcBef>
                <a:buFontTx/>
                <a:buNone/>
              </a:pPr>
              <a:t>15</a:t>
            </a:fld>
            <a:endParaRPr lang="en-US" sz="1400" smtClean="0"/>
          </a:p>
        </p:txBody>
      </p:sp>
      <p:sp>
        <p:nvSpPr>
          <p:cNvPr id="16387" name="Rectangle 4"/>
          <p:cNvSpPr>
            <a:spLocks noChangeArrowheads="1"/>
          </p:cNvSpPr>
          <p:nvPr/>
        </p:nvSpPr>
        <p:spPr bwMode="auto">
          <a:xfrm>
            <a:off x="0" y="3429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endParaRPr lang="en-US" sz="1800"/>
          </a:p>
        </p:txBody>
      </p:sp>
      <p:sp>
        <p:nvSpPr>
          <p:cNvPr id="16388" name="Rectangle 5"/>
          <p:cNvSpPr>
            <a:spLocks noChangeArrowheads="1"/>
          </p:cNvSpPr>
          <p:nvPr/>
        </p:nvSpPr>
        <p:spPr bwMode="auto">
          <a:xfrm>
            <a:off x="0" y="3429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endParaRPr lang="en-US" sz="1800"/>
          </a:p>
        </p:txBody>
      </p:sp>
      <p:sp>
        <p:nvSpPr>
          <p:cNvPr id="16389" name="Oval 7"/>
          <p:cNvSpPr>
            <a:spLocks noChangeArrowheads="1"/>
          </p:cNvSpPr>
          <p:nvPr/>
        </p:nvSpPr>
        <p:spPr bwMode="auto">
          <a:xfrm>
            <a:off x="3983038" y="1143000"/>
            <a:ext cx="720725" cy="847725"/>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b="1"/>
              <a:t>A</a:t>
            </a:r>
          </a:p>
        </p:txBody>
      </p:sp>
      <p:sp>
        <p:nvSpPr>
          <p:cNvPr id="16390" name="Oval 8"/>
          <p:cNvSpPr>
            <a:spLocks noChangeArrowheads="1"/>
          </p:cNvSpPr>
          <p:nvPr/>
        </p:nvSpPr>
        <p:spPr bwMode="auto">
          <a:xfrm>
            <a:off x="6145213" y="4495800"/>
            <a:ext cx="719137" cy="847725"/>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b="1"/>
              <a:t>I</a:t>
            </a:r>
          </a:p>
        </p:txBody>
      </p:sp>
      <p:sp>
        <p:nvSpPr>
          <p:cNvPr id="16391" name="Oval 9"/>
          <p:cNvSpPr>
            <a:spLocks noChangeArrowheads="1"/>
          </p:cNvSpPr>
          <p:nvPr/>
        </p:nvSpPr>
        <p:spPr bwMode="auto">
          <a:xfrm>
            <a:off x="3983038" y="4495800"/>
            <a:ext cx="720725" cy="847725"/>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b="1"/>
              <a:t>H</a:t>
            </a:r>
          </a:p>
        </p:txBody>
      </p:sp>
      <p:sp>
        <p:nvSpPr>
          <p:cNvPr id="16392" name="Oval 10"/>
          <p:cNvSpPr>
            <a:spLocks noChangeArrowheads="1"/>
          </p:cNvSpPr>
          <p:nvPr/>
        </p:nvSpPr>
        <p:spPr bwMode="auto">
          <a:xfrm>
            <a:off x="7585075" y="3082925"/>
            <a:ext cx="720725" cy="847725"/>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b="1"/>
              <a:t>F</a:t>
            </a:r>
          </a:p>
        </p:txBody>
      </p:sp>
      <p:sp>
        <p:nvSpPr>
          <p:cNvPr id="16393" name="Oval 11"/>
          <p:cNvSpPr>
            <a:spLocks noChangeArrowheads="1"/>
          </p:cNvSpPr>
          <p:nvPr/>
        </p:nvSpPr>
        <p:spPr bwMode="auto">
          <a:xfrm>
            <a:off x="4943475" y="3365500"/>
            <a:ext cx="720725" cy="847725"/>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b="1"/>
              <a:t>E</a:t>
            </a:r>
          </a:p>
        </p:txBody>
      </p:sp>
      <p:sp>
        <p:nvSpPr>
          <p:cNvPr id="16394" name="Oval 12"/>
          <p:cNvSpPr>
            <a:spLocks noChangeArrowheads="1"/>
          </p:cNvSpPr>
          <p:nvPr/>
        </p:nvSpPr>
        <p:spPr bwMode="auto">
          <a:xfrm>
            <a:off x="6145213" y="2235200"/>
            <a:ext cx="719137" cy="847725"/>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b="1"/>
              <a:t>C</a:t>
            </a:r>
          </a:p>
        </p:txBody>
      </p:sp>
      <p:sp>
        <p:nvSpPr>
          <p:cNvPr id="16395" name="Oval 13"/>
          <p:cNvSpPr>
            <a:spLocks noChangeArrowheads="1"/>
          </p:cNvSpPr>
          <p:nvPr/>
        </p:nvSpPr>
        <p:spPr bwMode="auto">
          <a:xfrm>
            <a:off x="2062163" y="4495800"/>
            <a:ext cx="720725" cy="847725"/>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b="1"/>
              <a:t>G</a:t>
            </a:r>
          </a:p>
        </p:txBody>
      </p:sp>
      <p:sp>
        <p:nvSpPr>
          <p:cNvPr id="16396" name="Oval 14"/>
          <p:cNvSpPr>
            <a:spLocks noChangeArrowheads="1"/>
          </p:cNvSpPr>
          <p:nvPr/>
        </p:nvSpPr>
        <p:spPr bwMode="auto">
          <a:xfrm>
            <a:off x="381000" y="3082925"/>
            <a:ext cx="720725" cy="847725"/>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b="1"/>
              <a:t>D</a:t>
            </a:r>
          </a:p>
        </p:txBody>
      </p:sp>
      <p:sp>
        <p:nvSpPr>
          <p:cNvPr id="16397" name="Oval 15"/>
          <p:cNvSpPr>
            <a:spLocks noChangeArrowheads="1"/>
          </p:cNvSpPr>
          <p:nvPr/>
        </p:nvSpPr>
        <p:spPr bwMode="auto">
          <a:xfrm>
            <a:off x="1822450" y="2235200"/>
            <a:ext cx="719138" cy="847725"/>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b="1"/>
              <a:t>B</a:t>
            </a:r>
          </a:p>
        </p:txBody>
      </p:sp>
      <p:sp>
        <p:nvSpPr>
          <p:cNvPr id="16398" name="Line 16"/>
          <p:cNvSpPr>
            <a:spLocks noChangeShapeType="1"/>
          </p:cNvSpPr>
          <p:nvPr/>
        </p:nvSpPr>
        <p:spPr bwMode="auto">
          <a:xfrm flipH="1">
            <a:off x="2541588" y="1670050"/>
            <a:ext cx="1441450" cy="8477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9" name="Line 17"/>
          <p:cNvSpPr>
            <a:spLocks noChangeShapeType="1"/>
          </p:cNvSpPr>
          <p:nvPr/>
        </p:nvSpPr>
        <p:spPr bwMode="auto">
          <a:xfrm flipH="1">
            <a:off x="1101725" y="2800350"/>
            <a:ext cx="720725" cy="5651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0" name="Line 18"/>
          <p:cNvSpPr>
            <a:spLocks noChangeShapeType="1"/>
          </p:cNvSpPr>
          <p:nvPr/>
        </p:nvSpPr>
        <p:spPr bwMode="auto">
          <a:xfrm>
            <a:off x="1101725" y="3722688"/>
            <a:ext cx="1108075" cy="9255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1" name="Line 19"/>
          <p:cNvSpPr>
            <a:spLocks noChangeShapeType="1"/>
          </p:cNvSpPr>
          <p:nvPr/>
        </p:nvSpPr>
        <p:spPr bwMode="auto">
          <a:xfrm>
            <a:off x="4703763" y="1708150"/>
            <a:ext cx="1441450" cy="8477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2" name="Line 20"/>
          <p:cNvSpPr>
            <a:spLocks noChangeShapeType="1"/>
          </p:cNvSpPr>
          <p:nvPr/>
        </p:nvSpPr>
        <p:spPr bwMode="auto">
          <a:xfrm>
            <a:off x="6864350" y="2760663"/>
            <a:ext cx="720725" cy="6048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3" name="Line 21"/>
          <p:cNvSpPr>
            <a:spLocks noChangeShapeType="1"/>
          </p:cNvSpPr>
          <p:nvPr/>
        </p:nvSpPr>
        <p:spPr bwMode="auto">
          <a:xfrm flipH="1">
            <a:off x="5486400" y="2760663"/>
            <a:ext cx="658813" cy="5921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4" name="Line 22"/>
          <p:cNvSpPr>
            <a:spLocks noChangeShapeType="1"/>
          </p:cNvSpPr>
          <p:nvPr/>
        </p:nvSpPr>
        <p:spPr bwMode="auto">
          <a:xfrm>
            <a:off x="5664200" y="3890963"/>
            <a:ext cx="720725" cy="6048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5" name="Line 23"/>
          <p:cNvSpPr>
            <a:spLocks noChangeShapeType="1"/>
          </p:cNvSpPr>
          <p:nvPr/>
        </p:nvSpPr>
        <p:spPr bwMode="auto">
          <a:xfrm flipH="1">
            <a:off x="4464050" y="3930650"/>
            <a:ext cx="479425" cy="5651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DB0C48A8-EBB4-49E5-937C-8AC6C70784FA}" type="slidenum">
              <a:rPr lang="en-US" sz="1400" smtClean="0"/>
              <a:pPr algn="r">
                <a:spcBef>
                  <a:spcPct val="0"/>
                </a:spcBef>
                <a:buFontTx/>
                <a:buNone/>
              </a:pPr>
              <a:t>16</a:t>
            </a:fld>
            <a:endParaRPr lang="en-US" sz="1400" smtClean="0"/>
          </a:p>
        </p:txBody>
      </p:sp>
      <p:sp>
        <p:nvSpPr>
          <p:cNvPr id="50179" name="Rectangle 2"/>
          <p:cNvSpPr>
            <a:spLocks noGrp="1" noChangeArrowheads="1"/>
          </p:cNvSpPr>
          <p:nvPr>
            <p:ph type="title"/>
          </p:nvPr>
        </p:nvSpPr>
        <p:spPr/>
        <p:txBody>
          <a:bodyPr/>
          <a:lstStyle/>
          <a:p>
            <a:pPr eaLnBrk="1" hangingPunct="1"/>
            <a:r>
              <a:rPr lang="en-US" sz="4000" b="1" smtClean="0"/>
              <a:t>Representation of Binary tree in memory</a:t>
            </a:r>
          </a:p>
        </p:txBody>
      </p:sp>
      <p:sp>
        <p:nvSpPr>
          <p:cNvPr id="50180" name="Rectangle 3"/>
          <p:cNvSpPr>
            <a:spLocks noGrp="1" noChangeArrowheads="1"/>
          </p:cNvSpPr>
          <p:nvPr>
            <p:ph type="body" idx="1"/>
          </p:nvPr>
        </p:nvSpPr>
        <p:spPr>
          <a:xfrm>
            <a:off x="457200" y="1600200"/>
            <a:ext cx="8229600" cy="2057400"/>
          </a:xfrm>
        </p:spPr>
        <p:txBody>
          <a:bodyPr/>
          <a:lstStyle/>
          <a:p>
            <a:pPr eaLnBrk="1" hangingPunct="1"/>
            <a:r>
              <a:rPr lang="en-US" smtClean="0"/>
              <a:t>The structure of each node of a binary tree contains the data field and two pointers, one for the left child and another for the right child.</a:t>
            </a:r>
          </a:p>
        </p:txBody>
      </p:sp>
      <p:sp>
        <p:nvSpPr>
          <p:cNvPr id="50181" name="Rectangle 4"/>
          <p:cNvSpPr>
            <a:spLocks noChangeArrowheads="1"/>
          </p:cNvSpPr>
          <p:nvPr/>
        </p:nvSpPr>
        <p:spPr bwMode="auto">
          <a:xfrm>
            <a:off x="1524000" y="4572000"/>
            <a:ext cx="5257800" cy="762000"/>
          </a:xfrm>
          <a:prstGeom prst="rect">
            <a:avLst/>
          </a:prstGeom>
          <a:solidFill>
            <a:schemeClr val="accent1"/>
          </a:solidFill>
          <a:ln w="9525">
            <a:solidFill>
              <a:schemeClr val="tx1"/>
            </a:solidFill>
            <a:miter lim="800000"/>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endParaRPr lang="en-US" sz="1800"/>
          </a:p>
        </p:txBody>
      </p:sp>
      <p:sp>
        <p:nvSpPr>
          <p:cNvPr id="50182" name="Line 5"/>
          <p:cNvSpPr>
            <a:spLocks noChangeShapeType="1"/>
          </p:cNvSpPr>
          <p:nvPr/>
        </p:nvSpPr>
        <p:spPr bwMode="auto">
          <a:xfrm>
            <a:off x="2971800" y="4572000"/>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183" name="Line 6"/>
          <p:cNvSpPr>
            <a:spLocks noChangeShapeType="1"/>
          </p:cNvSpPr>
          <p:nvPr/>
        </p:nvSpPr>
        <p:spPr bwMode="auto">
          <a:xfrm>
            <a:off x="4724400" y="4572000"/>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184" name="Line 8"/>
          <p:cNvSpPr>
            <a:spLocks noChangeShapeType="1"/>
          </p:cNvSpPr>
          <p:nvPr/>
        </p:nvSpPr>
        <p:spPr bwMode="auto">
          <a:xfrm flipV="1">
            <a:off x="2057400" y="4800600"/>
            <a:ext cx="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0185" name="Line 9"/>
          <p:cNvSpPr>
            <a:spLocks noChangeShapeType="1"/>
          </p:cNvSpPr>
          <p:nvPr/>
        </p:nvSpPr>
        <p:spPr bwMode="auto">
          <a:xfrm flipV="1">
            <a:off x="3886200" y="4953000"/>
            <a:ext cx="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0186" name="Line 10"/>
          <p:cNvSpPr>
            <a:spLocks noChangeShapeType="1"/>
          </p:cNvSpPr>
          <p:nvPr/>
        </p:nvSpPr>
        <p:spPr bwMode="auto">
          <a:xfrm flipV="1">
            <a:off x="5638800" y="4800600"/>
            <a:ext cx="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0187" name="Text Box 11"/>
          <p:cNvSpPr txBox="1">
            <a:spLocks noChangeArrowheads="1"/>
          </p:cNvSpPr>
          <p:nvPr/>
        </p:nvSpPr>
        <p:spPr bwMode="auto">
          <a:xfrm>
            <a:off x="1600200" y="5562600"/>
            <a:ext cx="990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50000"/>
              </a:spcBef>
              <a:buFontTx/>
              <a:buNone/>
            </a:pPr>
            <a:r>
              <a:rPr lang="en-US" sz="2800" b="1"/>
              <a:t>left</a:t>
            </a:r>
          </a:p>
        </p:txBody>
      </p:sp>
      <p:sp>
        <p:nvSpPr>
          <p:cNvPr id="50188" name="Text Box 12"/>
          <p:cNvSpPr txBox="1">
            <a:spLocks noChangeArrowheads="1"/>
          </p:cNvSpPr>
          <p:nvPr/>
        </p:nvSpPr>
        <p:spPr bwMode="auto">
          <a:xfrm>
            <a:off x="3505200" y="5791200"/>
            <a:ext cx="990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50000"/>
              </a:spcBef>
              <a:buFontTx/>
              <a:buNone/>
            </a:pPr>
            <a:r>
              <a:rPr lang="en-US" sz="2800" b="1"/>
              <a:t>data</a:t>
            </a:r>
          </a:p>
        </p:txBody>
      </p:sp>
      <p:sp>
        <p:nvSpPr>
          <p:cNvPr id="50189" name="Text Box 13"/>
          <p:cNvSpPr txBox="1">
            <a:spLocks noChangeArrowheads="1"/>
          </p:cNvSpPr>
          <p:nvPr/>
        </p:nvSpPr>
        <p:spPr bwMode="auto">
          <a:xfrm>
            <a:off x="5181600" y="5562600"/>
            <a:ext cx="990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50000"/>
              </a:spcBef>
              <a:buFontTx/>
              <a:buNone/>
            </a:pPr>
            <a:r>
              <a:rPr lang="en-US" sz="2800" b="1"/>
              <a:t>right</a:t>
            </a:r>
          </a:p>
        </p:txBody>
      </p:sp>
    </p:spTree>
    <p:extLst>
      <p:ext uri="{BB962C8B-B14F-4D97-AF65-F5344CB8AC3E}">
        <p14:creationId xmlns:p14="http://schemas.microsoft.com/office/powerpoint/2010/main" val="85590116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0ED06EC4-7B71-4C07-A04F-38A36B47F333}" type="slidenum">
              <a:rPr lang="en-US" sz="1400" smtClean="0"/>
              <a:pPr algn="r">
                <a:spcBef>
                  <a:spcPct val="0"/>
                </a:spcBef>
                <a:buFontTx/>
                <a:buNone/>
              </a:pPr>
              <a:t>17</a:t>
            </a:fld>
            <a:endParaRPr lang="en-US" sz="1400" smtClean="0"/>
          </a:p>
        </p:txBody>
      </p:sp>
      <p:sp>
        <p:nvSpPr>
          <p:cNvPr id="51203" name="Text Box 4"/>
          <p:cNvSpPr txBox="1">
            <a:spLocks noChangeArrowheads="1"/>
          </p:cNvSpPr>
          <p:nvPr/>
        </p:nvSpPr>
        <p:spPr bwMode="auto">
          <a:xfrm>
            <a:off x="762000" y="304800"/>
            <a:ext cx="7239000"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2800"/>
              <a:t>struct tnode</a:t>
            </a:r>
          </a:p>
          <a:p>
            <a:pPr algn="l" eaLnBrk="1" hangingPunct="1">
              <a:spcBef>
                <a:spcPct val="0"/>
              </a:spcBef>
              <a:buFontTx/>
              <a:buNone/>
            </a:pPr>
            <a:r>
              <a:rPr lang="en-US" sz="2800"/>
              <a:t>{</a:t>
            </a:r>
          </a:p>
          <a:p>
            <a:pPr algn="l" eaLnBrk="1" hangingPunct="1">
              <a:spcBef>
                <a:spcPct val="0"/>
              </a:spcBef>
              <a:buFontTx/>
              <a:buNone/>
            </a:pPr>
            <a:r>
              <a:rPr lang="en-US" sz="2800"/>
              <a:t>	struct tnode * left;</a:t>
            </a:r>
          </a:p>
          <a:p>
            <a:pPr algn="l" eaLnBrk="1" hangingPunct="1">
              <a:spcBef>
                <a:spcPct val="0"/>
              </a:spcBef>
              <a:buFontTx/>
              <a:buNone/>
            </a:pPr>
            <a:r>
              <a:rPr lang="en-US" sz="2800"/>
              <a:t>	int data;</a:t>
            </a:r>
          </a:p>
          <a:p>
            <a:pPr algn="l" eaLnBrk="1" hangingPunct="1">
              <a:spcBef>
                <a:spcPct val="0"/>
              </a:spcBef>
              <a:buFontTx/>
              <a:buNone/>
            </a:pPr>
            <a:r>
              <a:rPr lang="en-US" sz="2800"/>
              <a:t>	struct tnode * right;</a:t>
            </a:r>
          </a:p>
          <a:p>
            <a:pPr algn="l" eaLnBrk="1" hangingPunct="1">
              <a:spcBef>
                <a:spcPct val="0"/>
              </a:spcBef>
              <a:buFontTx/>
              <a:buNone/>
            </a:pPr>
            <a:r>
              <a:rPr lang="en-US" sz="2800"/>
              <a:t>};</a:t>
            </a:r>
          </a:p>
        </p:txBody>
      </p:sp>
      <p:sp>
        <p:nvSpPr>
          <p:cNvPr id="51204" name="Text Box 5"/>
          <p:cNvSpPr txBox="1">
            <a:spLocks noChangeArrowheads="1"/>
          </p:cNvSpPr>
          <p:nvPr/>
        </p:nvSpPr>
        <p:spPr bwMode="auto">
          <a:xfrm>
            <a:off x="838200" y="3733800"/>
            <a:ext cx="7239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50000"/>
              </a:spcBef>
              <a:buFontTx/>
              <a:buNone/>
            </a:pPr>
            <a:endParaRPr lang="en-US" sz="1800"/>
          </a:p>
        </p:txBody>
      </p:sp>
      <p:sp>
        <p:nvSpPr>
          <p:cNvPr id="51205" name="Text Box 6"/>
          <p:cNvSpPr txBox="1">
            <a:spLocks noChangeArrowheads="1"/>
          </p:cNvSpPr>
          <p:nvPr/>
        </p:nvSpPr>
        <p:spPr bwMode="auto">
          <a:xfrm>
            <a:off x="381000" y="3581400"/>
            <a:ext cx="7772400" cy="253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50000"/>
              </a:spcBef>
            </a:pPr>
            <a:r>
              <a:rPr lang="en-US"/>
              <a:t>There are two ways by which we can represent a binary tree:</a:t>
            </a:r>
          </a:p>
          <a:p>
            <a:pPr algn="l" eaLnBrk="1" hangingPunct="1">
              <a:spcBef>
                <a:spcPct val="50000"/>
              </a:spcBef>
            </a:pPr>
            <a:r>
              <a:rPr lang="en-US"/>
              <a:t>Linked representation</a:t>
            </a:r>
          </a:p>
          <a:p>
            <a:pPr algn="l" eaLnBrk="1" hangingPunct="1">
              <a:spcBef>
                <a:spcPct val="50000"/>
              </a:spcBef>
            </a:pPr>
            <a:r>
              <a:rPr lang="en-US"/>
              <a:t>Array representation</a:t>
            </a:r>
          </a:p>
        </p:txBody>
      </p:sp>
    </p:spTree>
    <p:extLst>
      <p:ext uri="{BB962C8B-B14F-4D97-AF65-F5344CB8AC3E}">
        <p14:creationId xmlns:p14="http://schemas.microsoft.com/office/powerpoint/2010/main" val="211499639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44C7462E-F0DA-4175-9E28-069D7FFE90AC}" type="slidenum">
              <a:rPr lang="en-US" sz="1400" smtClean="0"/>
              <a:pPr algn="r">
                <a:spcBef>
                  <a:spcPct val="0"/>
                </a:spcBef>
                <a:buFontTx/>
                <a:buNone/>
              </a:pPr>
              <a:t>18</a:t>
            </a:fld>
            <a:endParaRPr lang="en-US" sz="1400" smtClean="0"/>
          </a:p>
        </p:txBody>
      </p:sp>
      <p:pic>
        <p:nvPicPr>
          <p:cNvPr id="52227" name="Picture 4"/>
          <p:cNvPicPr>
            <a:picLocks noChangeAspect="1" noChangeArrowheads="1"/>
          </p:cNvPicPr>
          <p:nvPr/>
        </p:nvPicPr>
        <p:blipFill>
          <a:blip r:embed="rId2">
            <a:extLst>
              <a:ext uri="{28A0092B-C50C-407E-A947-70E740481C1C}">
                <a14:useLocalDpi xmlns:a14="http://schemas.microsoft.com/office/drawing/2010/main" val="0"/>
              </a:ext>
            </a:extLst>
          </a:blip>
          <a:srcRect l="8000" t="7333" r="14000" b="18916"/>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5401211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51DB3E55-90FE-482A-8A5C-8184F312DF3F}" type="slidenum">
              <a:rPr lang="en-US" sz="1400" smtClean="0"/>
              <a:pPr algn="r">
                <a:spcBef>
                  <a:spcPct val="0"/>
                </a:spcBef>
                <a:buFontTx/>
                <a:buNone/>
              </a:pPr>
              <a:t>19</a:t>
            </a:fld>
            <a:endParaRPr lang="en-US" sz="1400" smtClean="0"/>
          </a:p>
        </p:txBody>
      </p:sp>
      <p:sp>
        <p:nvSpPr>
          <p:cNvPr id="53251" name="Rectangle 2"/>
          <p:cNvSpPr>
            <a:spLocks noGrp="1" noChangeArrowheads="1"/>
          </p:cNvSpPr>
          <p:nvPr>
            <p:ph type="title"/>
          </p:nvPr>
        </p:nvSpPr>
        <p:spPr/>
        <p:txBody>
          <a:bodyPr/>
          <a:lstStyle/>
          <a:p>
            <a:pPr eaLnBrk="1" hangingPunct="1"/>
            <a:r>
              <a:rPr lang="en-US" smtClean="0"/>
              <a:t>Array representation</a:t>
            </a:r>
          </a:p>
        </p:txBody>
      </p:sp>
      <p:sp>
        <p:nvSpPr>
          <p:cNvPr id="53252" name="Oval 4"/>
          <p:cNvSpPr>
            <a:spLocks noChangeArrowheads="1"/>
          </p:cNvSpPr>
          <p:nvPr/>
        </p:nvSpPr>
        <p:spPr bwMode="auto">
          <a:xfrm>
            <a:off x="3810000" y="16764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A</a:t>
            </a:r>
          </a:p>
        </p:txBody>
      </p:sp>
      <p:sp>
        <p:nvSpPr>
          <p:cNvPr id="53253" name="Oval 5"/>
          <p:cNvSpPr>
            <a:spLocks noChangeArrowheads="1"/>
          </p:cNvSpPr>
          <p:nvPr/>
        </p:nvSpPr>
        <p:spPr bwMode="auto">
          <a:xfrm>
            <a:off x="5562600" y="26670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C</a:t>
            </a:r>
          </a:p>
        </p:txBody>
      </p:sp>
      <p:sp>
        <p:nvSpPr>
          <p:cNvPr id="53254" name="Oval 6"/>
          <p:cNvSpPr>
            <a:spLocks noChangeArrowheads="1"/>
          </p:cNvSpPr>
          <p:nvPr/>
        </p:nvSpPr>
        <p:spPr bwMode="auto">
          <a:xfrm>
            <a:off x="1981200" y="52578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J</a:t>
            </a:r>
          </a:p>
        </p:txBody>
      </p:sp>
      <p:sp>
        <p:nvSpPr>
          <p:cNvPr id="53255" name="Oval 7"/>
          <p:cNvSpPr>
            <a:spLocks noChangeArrowheads="1"/>
          </p:cNvSpPr>
          <p:nvPr/>
        </p:nvSpPr>
        <p:spPr bwMode="auto">
          <a:xfrm>
            <a:off x="2667000" y="39624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E</a:t>
            </a:r>
          </a:p>
        </p:txBody>
      </p:sp>
      <p:sp>
        <p:nvSpPr>
          <p:cNvPr id="53256" name="Oval 9"/>
          <p:cNvSpPr>
            <a:spLocks noChangeArrowheads="1"/>
          </p:cNvSpPr>
          <p:nvPr/>
        </p:nvSpPr>
        <p:spPr bwMode="auto">
          <a:xfrm>
            <a:off x="1981200" y="28194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B</a:t>
            </a:r>
          </a:p>
        </p:txBody>
      </p:sp>
      <p:sp>
        <p:nvSpPr>
          <p:cNvPr id="53257" name="Oval 10"/>
          <p:cNvSpPr>
            <a:spLocks noChangeArrowheads="1"/>
          </p:cNvSpPr>
          <p:nvPr/>
        </p:nvSpPr>
        <p:spPr bwMode="auto">
          <a:xfrm>
            <a:off x="4876800" y="38862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F</a:t>
            </a:r>
          </a:p>
        </p:txBody>
      </p:sp>
      <p:sp>
        <p:nvSpPr>
          <p:cNvPr id="53258" name="Oval 12"/>
          <p:cNvSpPr>
            <a:spLocks noChangeArrowheads="1"/>
          </p:cNvSpPr>
          <p:nvPr/>
        </p:nvSpPr>
        <p:spPr bwMode="auto">
          <a:xfrm>
            <a:off x="6781800" y="38862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G</a:t>
            </a:r>
          </a:p>
        </p:txBody>
      </p:sp>
      <p:sp>
        <p:nvSpPr>
          <p:cNvPr id="53259" name="Oval 13"/>
          <p:cNvSpPr>
            <a:spLocks noChangeArrowheads="1"/>
          </p:cNvSpPr>
          <p:nvPr/>
        </p:nvSpPr>
        <p:spPr bwMode="auto">
          <a:xfrm>
            <a:off x="914400" y="39624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D</a:t>
            </a:r>
          </a:p>
        </p:txBody>
      </p:sp>
      <p:sp>
        <p:nvSpPr>
          <p:cNvPr id="53260" name="Line 14"/>
          <p:cNvSpPr>
            <a:spLocks noChangeShapeType="1"/>
          </p:cNvSpPr>
          <p:nvPr/>
        </p:nvSpPr>
        <p:spPr bwMode="auto">
          <a:xfrm flipH="1">
            <a:off x="2514600" y="2057400"/>
            <a:ext cx="1295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61" name="Line 15"/>
          <p:cNvSpPr>
            <a:spLocks noChangeShapeType="1"/>
          </p:cNvSpPr>
          <p:nvPr/>
        </p:nvSpPr>
        <p:spPr bwMode="auto">
          <a:xfrm flipH="1">
            <a:off x="1295400" y="3276600"/>
            <a:ext cx="7620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62" name="Line 16"/>
          <p:cNvSpPr>
            <a:spLocks noChangeShapeType="1"/>
          </p:cNvSpPr>
          <p:nvPr/>
        </p:nvSpPr>
        <p:spPr bwMode="auto">
          <a:xfrm>
            <a:off x="2362200" y="3352800"/>
            <a:ext cx="4572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63" name="Line 17"/>
          <p:cNvSpPr>
            <a:spLocks noChangeShapeType="1"/>
          </p:cNvSpPr>
          <p:nvPr/>
        </p:nvSpPr>
        <p:spPr bwMode="auto">
          <a:xfrm flipH="1">
            <a:off x="2438400" y="4495800"/>
            <a:ext cx="3810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64" name="Line 18"/>
          <p:cNvSpPr>
            <a:spLocks noChangeShapeType="1"/>
          </p:cNvSpPr>
          <p:nvPr/>
        </p:nvSpPr>
        <p:spPr bwMode="auto">
          <a:xfrm>
            <a:off x="4419600" y="1981200"/>
            <a:ext cx="12192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65" name="Line 19"/>
          <p:cNvSpPr>
            <a:spLocks noChangeShapeType="1"/>
          </p:cNvSpPr>
          <p:nvPr/>
        </p:nvSpPr>
        <p:spPr bwMode="auto">
          <a:xfrm flipH="1">
            <a:off x="5257800" y="3200400"/>
            <a:ext cx="4572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66" name="Line 20"/>
          <p:cNvSpPr>
            <a:spLocks noChangeShapeType="1"/>
          </p:cNvSpPr>
          <p:nvPr/>
        </p:nvSpPr>
        <p:spPr bwMode="auto">
          <a:xfrm>
            <a:off x="6096000" y="3124200"/>
            <a:ext cx="8382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67" name="Text Box 25"/>
          <p:cNvSpPr txBox="1">
            <a:spLocks noChangeArrowheads="1"/>
          </p:cNvSpPr>
          <p:nvPr/>
        </p:nvSpPr>
        <p:spPr bwMode="auto">
          <a:xfrm>
            <a:off x="533400" y="5867400"/>
            <a:ext cx="7391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50000"/>
              </a:spcBef>
              <a:buFontTx/>
              <a:buNone/>
            </a:pPr>
            <a:endParaRPr lang="en-US" sz="1800"/>
          </a:p>
        </p:txBody>
      </p:sp>
      <p:sp>
        <p:nvSpPr>
          <p:cNvPr id="53268" name="Text Box 26"/>
          <p:cNvSpPr txBox="1">
            <a:spLocks noChangeArrowheads="1"/>
          </p:cNvSpPr>
          <p:nvPr/>
        </p:nvSpPr>
        <p:spPr bwMode="auto">
          <a:xfrm>
            <a:off x="3200400" y="1524000"/>
            <a:ext cx="457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2800" b="1"/>
              <a:t>0</a:t>
            </a:r>
          </a:p>
        </p:txBody>
      </p:sp>
      <p:sp>
        <p:nvSpPr>
          <p:cNvPr id="53269" name="Text Box 27"/>
          <p:cNvSpPr txBox="1">
            <a:spLocks noChangeArrowheads="1"/>
          </p:cNvSpPr>
          <p:nvPr/>
        </p:nvSpPr>
        <p:spPr bwMode="auto">
          <a:xfrm>
            <a:off x="1371600" y="2590800"/>
            <a:ext cx="457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2800" b="1"/>
              <a:t>1</a:t>
            </a:r>
          </a:p>
        </p:txBody>
      </p:sp>
      <p:sp>
        <p:nvSpPr>
          <p:cNvPr id="53270" name="Text Box 28"/>
          <p:cNvSpPr txBox="1">
            <a:spLocks noChangeArrowheads="1"/>
          </p:cNvSpPr>
          <p:nvPr/>
        </p:nvSpPr>
        <p:spPr bwMode="auto">
          <a:xfrm>
            <a:off x="6477000" y="2590800"/>
            <a:ext cx="457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2800" b="1"/>
              <a:t>2</a:t>
            </a:r>
          </a:p>
        </p:txBody>
      </p:sp>
      <p:sp>
        <p:nvSpPr>
          <p:cNvPr id="53271" name="Text Box 29"/>
          <p:cNvSpPr txBox="1">
            <a:spLocks noChangeArrowheads="1"/>
          </p:cNvSpPr>
          <p:nvPr/>
        </p:nvSpPr>
        <p:spPr bwMode="auto">
          <a:xfrm>
            <a:off x="381000" y="3962400"/>
            <a:ext cx="457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2800" b="1"/>
              <a:t>3</a:t>
            </a:r>
          </a:p>
        </p:txBody>
      </p:sp>
      <p:sp>
        <p:nvSpPr>
          <p:cNvPr id="53272" name="Text Box 30"/>
          <p:cNvSpPr txBox="1">
            <a:spLocks noChangeArrowheads="1"/>
          </p:cNvSpPr>
          <p:nvPr/>
        </p:nvSpPr>
        <p:spPr bwMode="auto">
          <a:xfrm>
            <a:off x="2133600" y="3962400"/>
            <a:ext cx="457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2800" b="1"/>
              <a:t>4</a:t>
            </a:r>
          </a:p>
        </p:txBody>
      </p:sp>
      <p:sp>
        <p:nvSpPr>
          <p:cNvPr id="53273" name="Text Box 31"/>
          <p:cNvSpPr txBox="1">
            <a:spLocks noChangeArrowheads="1"/>
          </p:cNvSpPr>
          <p:nvPr/>
        </p:nvSpPr>
        <p:spPr bwMode="auto">
          <a:xfrm>
            <a:off x="4343400" y="3886200"/>
            <a:ext cx="457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2800" b="1"/>
              <a:t>5</a:t>
            </a:r>
          </a:p>
        </p:txBody>
      </p:sp>
      <p:sp>
        <p:nvSpPr>
          <p:cNvPr id="53274" name="Text Box 32"/>
          <p:cNvSpPr txBox="1">
            <a:spLocks noChangeArrowheads="1"/>
          </p:cNvSpPr>
          <p:nvPr/>
        </p:nvSpPr>
        <p:spPr bwMode="auto">
          <a:xfrm>
            <a:off x="6248400" y="3810000"/>
            <a:ext cx="457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2800" b="1"/>
              <a:t>6</a:t>
            </a:r>
          </a:p>
        </p:txBody>
      </p:sp>
      <p:sp>
        <p:nvSpPr>
          <p:cNvPr id="53275" name="Text Box 33"/>
          <p:cNvSpPr txBox="1">
            <a:spLocks noChangeArrowheads="1"/>
          </p:cNvSpPr>
          <p:nvPr/>
        </p:nvSpPr>
        <p:spPr bwMode="auto">
          <a:xfrm>
            <a:off x="2667000" y="5257800"/>
            <a:ext cx="457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2800" b="1">
                <a:solidFill>
                  <a:srgbClr val="FF3300"/>
                </a:solidFill>
              </a:rPr>
              <a:t>9</a:t>
            </a:r>
          </a:p>
        </p:txBody>
      </p:sp>
      <p:sp>
        <p:nvSpPr>
          <p:cNvPr id="53276" name="Line 34"/>
          <p:cNvSpPr>
            <a:spLocks noChangeShapeType="1"/>
          </p:cNvSpPr>
          <p:nvPr/>
        </p:nvSpPr>
        <p:spPr bwMode="auto">
          <a:xfrm>
            <a:off x="5410200" y="4343400"/>
            <a:ext cx="5334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77" name="Oval 35"/>
          <p:cNvSpPr>
            <a:spLocks noChangeArrowheads="1"/>
          </p:cNvSpPr>
          <p:nvPr/>
        </p:nvSpPr>
        <p:spPr bwMode="auto">
          <a:xfrm>
            <a:off x="5791200" y="52578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M</a:t>
            </a:r>
          </a:p>
        </p:txBody>
      </p:sp>
      <p:sp>
        <p:nvSpPr>
          <p:cNvPr id="53278" name="Text Box 36"/>
          <p:cNvSpPr txBox="1">
            <a:spLocks noChangeArrowheads="1"/>
          </p:cNvSpPr>
          <p:nvPr/>
        </p:nvSpPr>
        <p:spPr bwMode="auto">
          <a:xfrm>
            <a:off x="6477000" y="5257800"/>
            <a:ext cx="685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2800" b="1">
                <a:solidFill>
                  <a:srgbClr val="FF3300"/>
                </a:solidFill>
              </a:rPr>
              <a:t>12</a:t>
            </a:r>
          </a:p>
        </p:txBody>
      </p:sp>
    </p:spTree>
    <p:extLst>
      <p:ext uri="{BB962C8B-B14F-4D97-AF65-F5344CB8AC3E}">
        <p14:creationId xmlns:p14="http://schemas.microsoft.com/office/powerpoint/2010/main" val="241820573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1113A9AD-6EE1-4D84-B785-7286F3A9CFB1}" type="slidenum">
              <a:rPr lang="en-US" sz="1400" smtClean="0"/>
              <a:pPr algn="r">
                <a:spcBef>
                  <a:spcPct val="0"/>
                </a:spcBef>
                <a:buFontTx/>
                <a:buNone/>
              </a:pPr>
              <a:t>20</a:t>
            </a:fld>
            <a:endParaRPr lang="en-US" sz="1400" smtClean="0"/>
          </a:p>
        </p:txBody>
      </p:sp>
      <p:graphicFrame>
        <p:nvGraphicFramePr>
          <p:cNvPr id="36901" name="Group 37"/>
          <p:cNvGraphicFramePr>
            <a:graphicFrameLocks noGrp="1"/>
          </p:cNvGraphicFramePr>
          <p:nvPr/>
        </p:nvGraphicFramePr>
        <p:xfrm>
          <a:off x="990600" y="1295400"/>
          <a:ext cx="7011988" cy="660400"/>
        </p:xfrm>
        <a:graphic>
          <a:graphicData uri="http://schemas.openxmlformats.org/drawingml/2006/table">
            <a:tbl>
              <a:tblPr/>
              <a:tblGrid>
                <a:gridCol w="701675"/>
                <a:gridCol w="700088"/>
                <a:gridCol w="701675"/>
                <a:gridCol w="700087"/>
                <a:gridCol w="701675"/>
                <a:gridCol w="701675"/>
                <a:gridCol w="700088"/>
                <a:gridCol w="701675"/>
                <a:gridCol w="701675"/>
                <a:gridCol w="701675"/>
              </a:tblGrid>
              <a:tr h="660400">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charset="0"/>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charset="0"/>
                        </a:rPr>
                        <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J</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36982" name="Group 118"/>
          <p:cNvGraphicFramePr>
            <a:graphicFrameLocks noGrp="1"/>
          </p:cNvGraphicFramePr>
          <p:nvPr/>
        </p:nvGraphicFramePr>
        <p:xfrm>
          <a:off x="1066800" y="3810000"/>
          <a:ext cx="3506788" cy="615950"/>
        </p:xfrm>
        <a:graphic>
          <a:graphicData uri="http://schemas.openxmlformats.org/drawingml/2006/table">
            <a:tbl>
              <a:tblPr/>
              <a:tblGrid>
                <a:gridCol w="701675"/>
                <a:gridCol w="701675"/>
                <a:gridCol w="701675"/>
                <a:gridCol w="700088"/>
                <a:gridCol w="701675"/>
              </a:tblGrid>
              <a:tr h="615950">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36959" name="Group 95"/>
          <p:cNvGraphicFramePr>
            <a:graphicFrameLocks noGrp="1"/>
          </p:cNvGraphicFramePr>
          <p:nvPr/>
        </p:nvGraphicFramePr>
        <p:xfrm>
          <a:off x="990600" y="457200"/>
          <a:ext cx="7010400" cy="660400"/>
        </p:xfrm>
        <a:graphic>
          <a:graphicData uri="http://schemas.openxmlformats.org/drawingml/2006/table">
            <a:tbl>
              <a:tblPr/>
              <a:tblGrid>
                <a:gridCol w="701675"/>
                <a:gridCol w="700088"/>
                <a:gridCol w="700087"/>
                <a:gridCol w="701675"/>
                <a:gridCol w="700088"/>
                <a:gridCol w="701675"/>
                <a:gridCol w="700087"/>
                <a:gridCol w="701675"/>
                <a:gridCol w="701675"/>
                <a:gridCol w="701675"/>
              </a:tblGrid>
              <a:tr h="660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rgbClr val="FF3300"/>
                          </a:solidFill>
                          <a:effectLst/>
                          <a:latin typeface="Arial" charset="0"/>
                        </a:rPr>
                        <a:t>a[0]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rgbClr val="FF3300"/>
                          </a:solidFill>
                          <a:effectLst/>
                          <a:latin typeface="Arial" charset="0"/>
                        </a:rPr>
                        <a:t>a[1]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rgbClr val="FF3300"/>
                          </a:solidFill>
                          <a:effectLst/>
                          <a:latin typeface="Arial" charset="0"/>
                        </a:rPr>
                        <a:t>a[2]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rgbClr val="FF3300"/>
                          </a:solidFill>
                          <a:effectLst/>
                          <a:latin typeface="Arial" charset="0"/>
                        </a:rPr>
                        <a:t>a[3]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rgbClr val="FF3300"/>
                          </a:solidFill>
                          <a:effectLst/>
                          <a:latin typeface="Arial" charset="0"/>
                        </a:rPr>
                        <a:t>a[4]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rgbClr val="FF3300"/>
                          </a:solidFill>
                          <a:effectLst/>
                          <a:latin typeface="Arial" charset="0"/>
                        </a:rPr>
                        <a:t>a[5]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rgbClr val="FF3300"/>
                          </a:solidFill>
                          <a:effectLst/>
                          <a:latin typeface="Arial" charset="0"/>
                        </a:rPr>
                        <a:t>a[6]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rgbClr val="FF3300"/>
                          </a:solidFill>
                          <a:effectLst/>
                          <a:latin typeface="Arial" charset="0"/>
                        </a:rPr>
                        <a:t>a[7]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rgbClr val="FF3300"/>
                          </a:solidFill>
                          <a:effectLst/>
                          <a:latin typeface="Arial" charset="0"/>
                        </a:rPr>
                        <a:t>a[8]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rgbClr val="FF3300"/>
                          </a:solidFill>
                          <a:effectLst/>
                          <a:latin typeface="Arial" charset="0"/>
                        </a:rPr>
                        <a:t>a[9]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36981" name="Group 117"/>
          <p:cNvGraphicFramePr>
            <a:graphicFrameLocks noGrp="1"/>
          </p:cNvGraphicFramePr>
          <p:nvPr/>
        </p:nvGraphicFramePr>
        <p:xfrm>
          <a:off x="1065213" y="2819400"/>
          <a:ext cx="3506787" cy="628650"/>
        </p:xfrm>
        <a:graphic>
          <a:graphicData uri="http://schemas.openxmlformats.org/drawingml/2006/table">
            <a:tbl>
              <a:tblPr/>
              <a:tblGrid>
                <a:gridCol w="701675"/>
                <a:gridCol w="701675"/>
                <a:gridCol w="701675"/>
                <a:gridCol w="700087"/>
                <a:gridCol w="701675"/>
              </a:tblGrid>
              <a:tr h="6286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rgbClr val="FF3300"/>
                          </a:solidFill>
                          <a:effectLst/>
                          <a:latin typeface="Arial" charset="0"/>
                        </a:rPr>
                        <a:t>a[10]</a:t>
                      </a:r>
                    </a:p>
                    <a:p>
                      <a:pPr marL="0" marR="0" lvl="0" indent="0" algn="just" defTabSz="914400" rtl="0" eaLnBrk="1" fontAlgn="base" latinLnBrk="0" hangingPunct="1">
                        <a:lnSpc>
                          <a:spcPct val="100000"/>
                        </a:lnSpc>
                        <a:spcBef>
                          <a:spcPct val="20000"/>
                        </a:spcBef>
                        <a:spcAft>
                          <a:spcPct val="0"/>
                        </a:spcAft>
                        <a:buClrTx/>
                        <a:buSzTx/>
                        <a:buFontTx/>
                        <a:buNone/>
                        <a:tabLst/>
                      </a:pPr>
                      <a:endParaRPr kumimoji="0" lang="en-US" sz="1600" b="1" i="0" u="none" strike="noStrike" cap="none" normalizeH="0" baseline="0" smtClean="0">
                        <a:ln>
                          <a:noFill/>
                        </a:ln>
                        <a:solidFill>
                          <a:srgbClr val="FF3300"/>
                        </a:solidFill>
                        <a:effectLst/>
                        <a:latin typeface="Arial" charset="0"/>
                      </a:endParaRPr>
                    </a:p>
                  </a:txBody>
                  <a:tcPr marT="45775" marB="4577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rgbClr val="FF3300"/>
                          </a:solidFill>
                          <a:effectLst/>
                          <a:latin typeface="Arial" charset="0"/>
                        </a:rPr>
                        <a:t>a[11]</a:t>
                      </a:r>
                    </a:p>
                    <a:p>
                      <a:pPr marL="0" marR="0" lvl="0" indent="0" algn="just" defTabSz="914400" rtl="0" eaLnBrk="1" fontAlgn="base" latinLnBrk="0" hangingPunct="1">
                        <a:lnSpc>
                          <a:spcPct val="100000"/>
                        </a:lnSpc>
                        <a:spcBef>
                          <a:spcPct val="20000"/>
                        </a:spcBef>
                        <a:spcAft>
                          <a:spcPct val="0"/>
                        </a:spcAft>
                        <a:buClrTx/>
                        <a:buSzTx/>
                        <a:buFontTx/>
                        <a:buNone/>
                        <a:tabLst/>
                      </a:pPr>
                      <a:endParaRPr kumimoji="0" lang="en-US" sz="1600" b="1" i="0" u="none" strike="noStrike" cap="none" normalizeH="0" baseline="0" smtClean="0">
                        <a:ln>
                          <a:noFill/>
                        </a:ln>
                        <a:solidFill>
                          <a:srgbClr val="FF3300"/>
                        </a:solidFill>
                        <a:effectLst/>
                        <a:latin typeface="Arial" charset="0"/>
                      </a:endParaRPr>
                    </a:p>
                  </a:txBody>
                  <a:tcPr marT="45775" marB="4577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rgbClr val="FF3300"/>
                          </a:solidFill>
                          <a:effectLst/>
                          <a:latin typeface="Arial" charset="0"/>
                        </a:rPr>
                        <a:t>a[12]</a:t>
                      </a:r>
                    </a:p>
                    <a:p>
                      <a:pPr marL="0" marR="0" lvl="0" indent="0" algn="just" defTabSz="914400" rtl="0" eaLnBrk="1" fontAlgn="base" latinLnBrk="0" hangingPunct="1">
                        <a:lnSpc>
                          <a:spcPct val="100000"/>
                        </a:lnSpc>
                        <a:spcBef>
                          <a:spcPct val="20000"/>
                        </a:spcBef>
                        <a:spcAft>
                          <a:spcPct val="0"/>
                        </a:spcAft>
                        <a:buClrTx/>
                        <a:buSzTx/>
                        <a:buFontTx/>
                        <a:buNone/>
                        <a:tabLst/>
                      </a:pPr>
                      <a:endParaRPr kumimoji="0" lang="en-US" sz="1600" b="1" i="0" u="none" strike="noStrike" cap="none" normalizeH="0" baseline="0" smtClean="0">
                        <a:ln>
                          <a:noFill/>
                        </a:ln>
                        <a:solidFill>
                          <a:srgbClr val="FF3300"/>
                        </a:solidFill>
                        <a:effectLst/>
                        <a:latin typeface="Arial" charset="0"/>
                      </a:endParaRPr>
                    </a:p>
                  </a:txBody>
                  <a:tcPr marT="45775" marB="4577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rgbClr val="FF3300"/>
                          </a:solidFill>
                          <a:effectLst/>
                          <a:latin typeface="Arial" charset="0"/>
                        </a:rPr>
                        <a:t>a[13]</a:t>
                      </a:r>
                    </a:p>
                    <a:p>
                      <a:pPr marL="0" marR="0" lvl="0" indent="0" algn="just" defTabSz="914400" rtl="0" eaLnBrk="1" fontAlgn="base" latinLnBrk="0" hangingPunct="1">
                        <a:lnSpc>
                          <a:spcPct val="100000"/>
                        </a:lnSpc>
                        <a:spcBef>
                          <a:spcPct val="20000"/>
                        </a:spcBef>
                        <a:spcAft>
                          <a:spcPct val="0"/>
                        </a:spcAft>
                        <a:buClrTx/>
                        <a:buSzTx/>
                        <a:buFontTx/>
                        <a:buNone/>
                        <a:tabLst/>
                      </a:pPr>
                      <a:endParaRPr kumimoji="0" lang="en-US" sz="1600" b="1" i="0" u="none" strike="noStrike" cap="none" normalizeH="0" baseline="0" smtClean="0">
                        <a:ln>
                          <a:noFill/>
                        </a:ln>
                        <a:solidFill>
                          <a:srgbClr val="FF3300"/>
                        </a:solidFill>
                        <a:effectLst/>
                        <a:latin typeface="Arial" charset="0"/>
                      </a:endParaRPr>
                    </a:p>
                  </a:txBody>
                  <a:tcPr marT="45775" marB="4577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rgbClr val="FF3300"/>
                          </a:solidFill>
                          <a:effectLst/>
                          <a:latin typeface="Arial" charset="0"/>
                        </a:rPr>
                        <a:t>a[14]</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0" u="none" strike="noStrike" cap="none" normalizeH="0" baseline="0" smtClean="0">
                        <a:ln>
                          <a:noFill/>
                        </a:ln>
                        <a:solidFill>
                          <a:srgbClr val="FF3300"/>
                        </a:solidFill>
                        <a:effectLst/>
                        <a:latin typeface="Arial" charset="0"/>
                      </a:endParaRPr>
                    </a:p>
                  </a:txBody>
                  <a:tcPr marT="45775" marB="4577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194722880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E5D4B50-F876-4C9D-AF52-99E4DA1D6344}" type="slidenum">
              <a:rPr lang="en-US" smtClean="0"/>
              <a:pPr>
                <a:defRPr/>
              </a:pPr>
              <a:t>21</a:t>
            </a:fld>
            <a:endParaRPr lang="en-US" dirty="0"/>
          </a:p>
        </p:txBody>
      </p:sp>
      <p:sp>
        <p:nvSpPr>
          <p:cNvPr id="3" name="Text Box 119"/>
          <p:cNvSpPr txBox="1">
            <a:spLocks noChangeArrowheads="1"/>
          </p:cNvSpPr>
          <p:nvPr/>
        </p:nvSpPr>
        <p:spPr bwMode="auto">
          <a:xfrm>
            <a:off x="195470" y="838200"/>
            <a:ext cx="8458200" cy="5232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50000"/>
              </a:spcBef>
            </a:pPr>
            <a:r>
              <a:rPr lang="en-US" sz="2800" dirty="0"/>
              <a:t>Array size </a:t>
            </a:r>
            <a:r>
              <a:rPr lang="en-US" sz="2800" dirty="0" smtClean="0"/>
              <a:t>can be taken as  </a:t>
            </a:r>
            <a:r>
              <a:rPr lang="en-US" sz="4000" b="1" dirty="0" smtClean="0"/>
              <a:t>2</a:t>
            </a:r>
            <a:r>
              <a:rPr lang="en-US" sz="4000" b="1" baseline="30000" dirty="0" smtClean="0"/>
              <a:t>height+1</a:t>
            </a:r>
          </a:p>
          <a:p>
            <a:pPr algn="l" eaLnBrk="1" hangingPunct="1">
              <a:spcBef>
                <a:spcPct val="50000"/>
              </a:spcBef>
            </a:pPr>
            <a:r>
              <a:rPr lang="en-US" sz="2800" dirty="0" smtClean="0"/>
              <a:t>In the above tree, height of tree=3</a:t>
            </a:r>
            <a:r>
              <a:rPr lang="en-US" sz="2800" dirty="0"/>
              <a:t>, so, </a:t>
            </a:r>
            <a:r>
              <a:rPr lang="en-US" sz="2800" dirty="0" smtClean="0"/>
              <a:t>maximum size </a:t>
            </a:r>
            <a:r>
              <a:rPr lang="en-US" sz="2800" dirty="0"/>
              <a:t>of array </a:t>
            </a:r>
            <a:r>
              <a:rPr lang="en-US" sz="2800" dirty="0" smtClean="0"/>
              <a:t>can be taken as 2</a:t>
            </a:r>
            <a:r>
              <a:rPr lang="en-US" sz="2800" baseline="30000" dirty="0" smtClean="0"/>
              <a:t>(3+1</a:t>
            </a:r>
            <a:r>
              <a:rPr lang="en-US" sz="2800" baseline="30000" dirty="0"/>
              <a:t>)</a:t>
            </a:r>
            <a:r>
              <a:rPr lang="en-US" sz="2800" dirty="0"/>
              <a:t> </a:t>
            </a:r>
            <a:r>
              <a:rPr lang="en-US" sz="2800" dirty="0" err="1"/>
              <a:t>i.e</a:t>
            </a:r>
            <a:r>
              <a:rPr lang="en-US" sz="2800" dirty="0"/>
              <a:t> </a:t>
            </a:r>
            <a:r>
              <a:rPr lang="en-US" sz="2800" b="1" dirty="0"/>
              <a:t>2</a:t>
            </a:r>
            <a:r>
              <a:rPr lang="en-US" sz="2800" b="1" baseline="30000" dirty="0"/>
              <a:t>4</a:t>
            </a:r>
            <a:r>
              <a:rPr lang="en-US" sz="2800" dirty="0"/>
              <a:t> </a:t>
            </a:r>
          </a:p>
          <a:p>
            <a:pPr algn="l" eaLnBrk="1" hangingPunct="1">
              <a:spcBef>
                <a:spcPct val="50000"/>
              </a:spcBef>
            </a:pPr>
            <a:r>
              <a:rPr lang="en-US" sz="2800" dirty="0"/>
              <a:t>If </a:t>
            </a:r>
            <a:r>
              <a:rPr lang="en-US" sz="2800" dirty="0">
                <a:solidFill>
                  <a:srgbClr val="FF0000"/>
                </a:solidFill>
              </a:rPr>
              <a:t>n</a:t>
            </a:r>
            <a:r>
              <a:rPr lang="en-US" sz="2800" dirty="0"/>
              <a:t> is the number given to a node then </a:t>
            </a:r>
            <a:r>
              <a:rPr lang="en-US" sz="2800" dirty="0" smtClean="0"/>
              <a:t>its</a:t>
            </a:r>
          </a:p>
          <a:p>
            <a:pPr algn="l" eaLnBrk="1" hangingPunct="1">
              <a:spcBef>
                <a:spcPct val="50000"/>
              </a:spcBef>
              <a:buNone/>
            </a:pPr>
            <a:r>
              <a:rPr lang="en-US" sz="2800" dirty="0" smtClean="0"/>
              <a:t> </a:t>
            </a:r>
            <a:r>
              <a:rPr lang="en-US" sz="2800" dirty="0">
                <a:solidFill>
                  <a:srgbClr val="FF0000"/>
                </a:solidFill>
              </a:rPr>
              <a:t>left child </a:t>
            </a:r>
            <a:r>
              <a:rPr lang="en-US" sz="2800" dirty="0"/>
              <a:t>occurs at the position </a:t>
            </a:r>
            <a:r>
              <a:rPr lang="en-US" sz="2800" dirty="0">
                <a:solidFill>
                  <a:srgbClr val="FF0000"/>
                </a:solidFill>
              </a:rPr>
              <a:t>(2n + 1</a:t>
            </a:r>
            <a:r>
              <a:rPr lang="en-US" sz="2800" dirty="0" smtClean="0">
                <a:solidFill>
                  <a:srgbClr val="FF0000"/>
                </a:solidFill>
              </a:rPr>
              <a:t>) </a:t>
            </a:r>
            <a:r>
              <a:rPr lang="en-US" sz="2800" dirty="0" smtClean="0"/>
              <a:t>and</a:t>
            </a:r>
          </a:p>
          <a:p>
            <a:pPr algn="l" eaLnBrk="1" hangingPunct="1">
              <a:spcBef>
                <a:spcPct val="50000"/>
              </a:spcBef>
              <a:buNone/>
            </a:pPr>
            <a:r>
              <a:rPr lang="en-US" sz="2800" dirty="0" smtClean="0"/>
              <a:t> </a:t>
            </a:r>
            <a:r>
              <a:rPr lang="en-US" sz="2800" dirty="0">
                <a:solidFill>
                  <a:srgbClr val="FF0000"/>
                </a:solidFill>
              </a:rPr>
              <a:t>right child </a:t>
            </a:r>
            <a:r>
              <a:rPr lang="en-US" sz="2800" dirty="0" smtClean="0"/>
              <a:t>occurs at the position </a:t>
            </a:r>
            <a:r>
              <a:rPr lang="en-US" sz="2800" dirty="0" smtClean="0">
                <a:solidFill>
                  <a:srgbClr val="FF0000"/>
                </a:solidFill>
              </a:rPr>
              <a:t>(</a:t>
            </a:r>
            <a:r>
              <a:rPr lang="en-US" sz="2800" dirty="0">
                <a:solidFill>
                  <a:srgbClr val="FF0000"/>
                </a:solidFill>
              </a:rPr>
              <a:t>2n + 2</a:t>
            </a:r>
            <a:r>
              <a:rPr lang="en-US" sz="2800" dirty="0" smtClean="0">
                <a:solidFill>
                  <a:srgbClr val="FF0000"/>
                </a:solidFill>
              </a:rPr>
              <a:t>)</a:t>
            </a:r>
          </a:p>
          <a:p>
            <a:pPr algn="l" eaLnBrk="1" hangingPunct="1">
              <a:spcBef>
                <a:spcPct val="50000"/>
              </a:spcBef>
              <a:buNone/>
            </a:pPr>
            <a:r>
              <a:rPr lang="en-IN" sz="2800" dirty="0" smtClean="0"/>
              <a:t>In the above tree, the node C is at number 2, So, its left child is at (2*2+1) i.e. 5</a:t>
            </a:r>
            <a:r>
              <a:rPr lang="en-IN" sz="2800" baseline="30000" dirty="0" smtClean="0"/>
              <a:t>th</a:t>
            </a:r>
            <a:r>
              <a:rPr lang="en-IN" sz="2800" dirty="0" smtClean="0"/>
              <a:t> position and its right child will be at (2*2+2) i.e. at 6</a:t>
            </a:r>
            <a:r>
              <a:rPr lang="en-IN" sz="2800" baseline="30000" dirty="0" smtClean="0"/>
              <a:t>th</a:t>
            </a:r>
            <a:r>
              <a:rPr lang="en-IN" sz="2800" dirty="0" smtClean="0"/>
              <a:t> position.</a:t>
            </a:r>
            <a:endParaRPr lang="en-US" sz="2800" dirty="0"/>
          </a:p>
        </p:txBody>
      </p:sp>
    </p:spTree>
    <p:extLst>
      <p:ext uri="{BB962C8B-B14F-4D97-AF65-F5344CB8AC3E}">
        <p14:creationId xmlns:p14="http://schemas.microsoft.com/office/powerpoint/2010/main" val="316468459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68F69F36-539F-4BAB-8598-34AE882711C0}" type="slidenum">
              <a:rPr lang="en-US" sz="1400" smtClean="0"/>
              <a:pPr algn="r">
                <a:spcBef>
                  <a:spcPct val="0"/>
                </a:spcBef>
                <a:buFontTx/>
                <a:buNone/>
              </a:pPr>
              <a:t>22</a:t>
            </a:fld>
            <a:endParaRPr lang="en-US" sz="1400" smtClean="0"/>
          </a:p>
        </p:txBody>
      </p:sp>
      <p:sp>
        <p:nvSpPr>
          <p:cNvPr id="17411" name="Rectangle 3"/>
          <p:cNvSpPr>
            <a:spLocks noGrp="1" noChangeArrowheads="1"/>
          </p:cNvSpPr>
          <p:nvPr>
            <p:ph type="body" idx="1"/>
          </p:nvPr>
        </p:nvSpPr>
        <p:spPr>
          <a:xfrm>
            <a:off x="381000" y="231774"/>
            <a:ext cx="8305800" cy="6169026"/>
          </a:xfrm>
        </p:spPr>
        <p:txBody>
          <a:bodyPr/>
          <a:lstStyle/>
          <a:p>
            <a:pPr marL="0" indent="0" eaLnBrk="1" hangingPunct="1">
              <a:buNone/>
            </a:pPr>
            <a:r>
              <a:rPr lang="en-US" b="1" dirty="0" smtClean="0"/>
              <a:t>STRICTLY BINARY TREE.: </a:t>
            </a:r>
            <a:r>
              <a:rPr lang="en-US" dirty="0" smtClean="0"/>
              <a:t>A strictly binary tree is a type of binary tree where each node has either zero or two children, and there are no nodes with only one child.</a:t>
            </a:r>
          </a:p>
          <a:p>
            <a:pPr marL="0" indent="0" eaLnBrk="1" hangingPunct="1">
              <a:buNone/>
            </a:pPr>
            <a:r>
              <a:rPr lang="en-US" dirty="0" smtClean="0"/>
              <a:t>Every Internal or non-terminal node will have 2 children and all leaf nodes will have 0 children. </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4"/>
          <p:cNvSpPr>
            <a:spLocks noGrp="1"/>
          </p:cNvSpPr>
          <p:nvPr>
            <p:ph type="title"/>
          </p:nvPr>
        </p:nvSpPr>
        <p:spPr/>
        <p:txBody>
          <a:bodyPr/>
          <a:lstStyle/>
          <a:p>
            <a:r>
              <a:rPr lang="en-IN" u="sng" smtClean="0"/>
              <a:t>Strictly Binary Tree</a:t>
            </a:r>
            <a:endParaRPr lang="en-US" u="sng" smtClean="0"/>
          </a:p>
        </p:txBody>
      </p:sp>
      <p:sp>
        <p:nvSpPr>
          <p:cNvPr id="18435"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E4371CC3-BED0-4893-B594-EB25DF23A795}" type="slidenum">
              <a:rPr lang="en-US" sz="1400" smtClean="0"/>
              <a:pPr algn="r">
                <a:spcBef>
                  <a:spcPct val="0"/>
                </a:spcBef>
                <a:buFontTx/>
                <a:buNone/>
              </a:pPr>
              <a:t>23</a:t>
            </a:fld>
            <a:endParaRPr lang="en-US" sz="1400" smtClean="0"/>
          </a:p>
        </p:txBody>
      </p:sp>
      <p:sp>
        <p:nvSpPr>
          <p:cNvPr id="18436" name="Line 5"/>
          <p:cNvSpPr>
            <a:spLocks noChangeShapeType="1"/>
          </p:cNvSpPr>
          <p:nvPr/>
        </p:nvSpPr>
        <p:spPr bwMode="auto">
          <a:xfrm>
            <a:off x="2489200" y="3738563"/>
            <a:ext cx="885825" cy="6762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37" name="Oval 6"/>
          <p:cNvSpPr>
            <a:spLocks noChangeArrowheads="1"/>
          </p:cNvSpPr>
          <p:nvPr/>
        </p:nvSpPr>
        <p:spPr bwMode="auto">
          <a:xfrm>
            <a:off x="4164013" y="2590800"/>
            <a:ext cx="663575" cy="676275"/>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2800" b="1"/>
              <a:t>A</a:t>
            </a:r>
            <a:endParaRPr lang="en-US" sz="4000" b="1"/>
          </a:p>
        </p:txBody>
      </p:sp>
      <p:sp>
        <p:nvSpPr>
          <p:cNvPr id="18438" name="Oval 7"/>
          <p:cNvSpPr>
            <a:spLocks noChangeArrowheads="1"/>
          </p:cNvSpPr>
          <p:nvPr/>
        </p:nvSpPr>
        <p:spPr bwMode="auto">
          <a:xfrm>
            <a:off x="6157913" y="5267325"/>
            <a:ext cx="665162" cy="676275"/>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2800" b="1"/>
              <a:t>I</a:t>
            </a:r>
            <a:endParaRPr lang="en-US" sz="4000" b="1"/>
          </a:p>
        </p:txBody>
      </p:sp>
      <p:sp>
        <p:nvSpPr>
          <p:cNvPr id="18439" name="Oval 8"/>
          <p:cNvSpPr>
            <a:spLocks noChangeArrowheads="1"/>
          </p:cNvSpPr>
          <p:nvPr/>
        </p:nvSpPr>
        <p:spPr bwMode="auto">
          <a:xfrm>
            <a:off x="4164013" y="5267325"/>
            <a:ext cx="663575" cy="676275"/>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2800" b="1"/>
              <a:t>H</a:t>
            </a:r>
            <a:endParaRPr lang="en-US" sz="4000" b="1"/>
          </a:p>
        </p:txBody>
      </p:sp>
      <p:sp>
        <p:nvSpPr>
          <p:cNvPr id="18440" name="Oval 9"/>
          <p:cNvSpPr>
            <a:spLocks noChangeArrowheads="1"/>
          </p:cNvSpPr>
          <p:nvPr/>
        </p:nvSpPr>
        <p:spPr bwMode="auto">
          <a:xfrm>
            <a:off x="7488238" y="4138613"/>
            <a:ext cx="665162" cy="677862"/>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2800" b="1"/>
              <a:t>F</a:t>
            </a:r>
            <a:endParaRPr lang="en-US" sz="4000" b="1"/>
          </a:p>
        </p:txBody>
      </p:sp>
      <p:sp>
        <p:nvSpPr>
          <p:cNvPr id="18441" name="Oval 10"/>
          <p:cNvSpPr>
            <a:spLocks noChangeArrowheads="1"/>
          </p:cNvSpPr>
          <p:nvPr/>
        </p:nvSpPr>
        <p:spPr bwMode="auto">
          <a:xfrm>
            <a:off x="5049838" y="4365625"/>
            <a:ext cx="665162" cy="676275"/>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2800" b="1"/>
              <a:t>E</a:t>
            </a:r>
            <a:endParaRPr lang="en-US" sz="4000" b="1"/>
          </a:p>
        </p:txBody>
      </p:sp>
      <p:sp>
        <p:nvSpPr>
          <p:cNvPr id="18442" name="Oval 11"/>
          <p:cNvSpPr>
            <a:spLocks noChangeArrowheads="1"/>
          </p:cNvSpPr>
          <p:nvPr/>
        </p:nvSpPr>
        <p:spPr bwMode="auto">
          <a:xfrm>
            <a:off x="6157913" y="3462338"/>
            <a:ext cx="665162" cy="676275"/>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2800" b="1"/>
              <a:t>C</a:t>
            </a:r>
            <a:endParaRPr lang="en-US" sz="4000" b="1"/>
          </a:p>
        </p:txBody>
      </p:sp>
      <p:sp>
        <p:nvSpPr>
          <p:cNvPr id="18443" name="Oval 12"/>
          <p:cNvSpPr>
            <a:spLocks noChangeArrowheads="1"/>
          </p:cNvSpPr>
          <p:nvPr/>
        </p:nvSpPr>
        <p:spPr bwMode="auto">
          <a:xfrm>
            <a:off x="3276600" y="4281488"/>
            <a:ext cx="665163" cy="676275"/>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2800" b="1"/>
              <a:t>G</a:t>
            </a:r>
            <a:endParaRPr lang="en-US" sz="4000" b="1"/>
          </a:p>
        </p:txBody>
      </p:sp>
      <p:sp>
        <p:nvSpPr>
          <p:cNvPr id="18444" name="Oval 13"/>
          <p:cNvSpPr>
            <a:spLocks noChangeArrowheads="1"/>
          </p:cNvSpPr>
          <p:nvPr/>
        </p:nvSpPr>
        <p:spPr bwMode="auto">
          <a:xfrm>
            <a:off x="838200" y="4138613"/>
            <a:ext cx="665163" cy="677862"/>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2800" b="1"/>
              <a:t>D</a:t>
            </a:r>
            <a:endParaRPr lang="en-US" sz="4000" b="1"/>
          </a:p>
        </p:txBody>
      </p:sp>
      <p:sp>
        <p:nvSpPr>
          <p:cNvPr id="18445" name="Oval 14"/>
          <p:cNvSpPr>
            <a:spLocks noChangeArrowheads="1"/>
          </p:cNvSpPr>
          <p:nvPr/>
        </p:nvSpPr>
        <p:spPr bwMode="auto">
          <a:xfrm>
            <a:off x="2168525" y="3462338"/>
            <a:ext cx="665163" cy="676275"/>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2800" b="1"/>
              <a:t>B</a:t>
            </a:r>
            <a:endParaRPr lang="en-US" sz="4000" b="1"/>
          </a:p>
        </p:txBody>
      </p:sp>
      <p:sp>
        <p:nvSpPr>
          <p:cNvPr id="18446" name="Line 15"/>
          <p:cNvSpPr>
            <a:spLocks noChangeShapeType="1"/>
          </p:cNvSpPr>
          <p:nvPr/>
        </p:nvSpPr>
        <p:spPr bwMode="auto">
          <a:xfrm flipH="1">
            <a:off x="2833688" y="3011488"/>
            <a:ext cx="1330325" cy="6762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7" name="Line 16"/>
          <p:cNvSpPr>
            <a:spLocks noChangeShapeType="1"/>
          </p:cNvSpPr>
          <p:nvPr/>
        </p:nvSpPr>
        <p:spPr bwMode="auto">
          <a:xfrm flipH="1">
            <a:off x="1503363" y="3913188"/>
            <a:ext cx="665162" cy="4524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8" name="Line 17"/>
          <p:cNvSpPr>
            <a:spLocks noChangeShapeType="1"/>
          </p:cNvSpPr>
          <p:nvPr/>
        </p:nvSpPr>
        <p:spPr bwMode="auto">
          <a:xfrm>
            <a:off x="4827588" y="3041650"/>
            <a:ext cx="1330325" cy="6762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9" name="Line 18"/>
          <p:cNvSpPr>
            <a:spLocks noChangeShapeType="1"/>
          </p:cNvSpPr>
          <p:nvPr/>
        </p:nvSpPr>
        <p:spPr bwMode="auto">
          <a:xfrm>
            <a:off x="6823075" y="3883025"/>
            <a:ext cx="665163" cy="482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0" name="Line 19"/>
          <p:cNvSpPr>
            <a:spLocks noChangeShapeType="1"/>
          </p:cNvSpPr>
          <p:nvPr/>
        </p:nvSpPr>
        <p:spPr bwMode="auto">
          <a:xfrm flipH="1">
            <a:off x="5492750" y="3883025"/>
            <a:ext cx="665163" cy="4508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1" name="Line 20"/>
          <p:cNvSpPr>
            <a:spLocks noChangeShapeType="1"/>
          </p:cNvSpPr>
          <p:nvPr/>
        </p:nvSpPr>
        <p:spPr bwMode="auto">
          <a:xfrm>
            <a:off x="5715000" y="4784725"/>
            <a:ext cx="665163" cy="482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2" name="Line 21"/>
          <p:cNvSpPr>
            <a:spLocks noChangeShapeType="1"/>
          </p:cNvSpPr>
          <p:nvPr/>
        </p:nvSpPr>
        <p:spPr bwMode="auto">
          <a:xfrm flipH="1">
            <a:off x="4606925" y="4816475"/>
            <a:ext cx="442913" cy="4508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 name="Title 4"/>
          <p:cNvSpPr txBox="1">
            <a:spLocks/>
          </p:cNvSpPr>
          <p:nvPr/>
        </p:nvSpPr>
        <p:spPr bwMode="auto">
          <a:xfrm>
            <a:off x="712788" y="1719263"/>
            <a:ext cx="8229600"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a:defRPr/>
            </a:pPr>
            <a:r>
              <a:rPr lang="en-IN" sz="3200" kern="0" dirty="0" smtClean="0"/>
              <a:t>B, C and E are Internal Nodes</a:t>
            </a:r>
            <a:endParaRPr lang="en-US" sz="3200" kern="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1B9C687A-858D-4F0D-867A-C8A629A9065E}" type="slidenum">
              <a:rPr lang="en-US" sz="1400" smtClean="0"/>
              <a:pPr algn="r">
                <a:spcBef>
                  <a:spcPct val="0"/>
                </a:spcBef>
                <a:buFontTx/>
                <a:buNone/>
              </a:pPr>
              <a:t>24</a:t>
            </a:fld>
            <a:endParaRPr lang="en-US" sz="1400" smtClean="0"/>
          </a:p>
        </p:txBody>
      </p:sp>
      <p:sp>
        <p:nvSpPr>
          <p:cNvPr id="19459" name="Rectangle 3"/>
          <p:cNvSpPr>
            <a:spLocks noGrp="1" noChangeArrowheads="1"/>
          </p:cNvSpPr>
          <p:nvPr>
            <p:ph type="body" idx="1"/>
          </p:nvPr>
        </p:nvSpPr>
        <p:spPr>
          <a:xfrm>
            <a:off x="381000" y="228600"/>
            <a:ext cx="8229600" cy="1600200"/>
          </a:xfrm>
        </p:spPr>
        <p:txBody>
          <a:bodyPr/>
          <a:lstStyle/>
          <a:p>
            <a:pPr eaLnBrk="1" hangingPunct="1"/>
            <a:r>
              <a:rPr lang="en-US" b="1" smtClean="0"/>
              <a:t>Full or Proper or Perfect Binary Tree: </a:t>
            </a:r>
          </a:p>
          <a:p>
            <a:pPr eaLnBrk="1" hangingPunct="1"/>
            <a:r>
              <a:rPr lang="en-US" smtClean="0"/>
              <a:t>It is a tree in which every node other than the leaves has two children. </a:t>
            </a:r>
          </a:p>
        </p:txBody>
      </p:sp>
      <p:sp>
        <p:nvSpPr>
          <p:cNvPr id="19460" name="Line 5"/>
          <p:cNvSpPr>
            <a:spLocks noChangeShapeType="1"/>
          </p:cNvSpPr>
          <p:nvPr/>
        </p:nvSpPr>
        <p:spPr bwMode="auto">
          <a:xfrm>
            <a:off x="2320925" y="3749675"/>
            <a:ext cx="960438" cy="8620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61" name="Oval 6"/>
          <p:cNvSpPr>
            <a:spLocks noChangeArrowheads="1"/>
          </p:cNvSpPr>
          <p:nvPr/>
        </p:nvSpPr>
        <p:spPr bwMode="auto">
          <a:xfrm>
            <a:off x="4135438" y="2286000"/>
            <a:ext cx="720725" cy="862013"/>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3600" b="1"/>
              <a:t>A</a:t>
            </a:r>
            <a:endParaRPr lang="en-US" sz="4800" b="1"/>
          </a:p>
        </p:txBody>
      </p:sp>
      <p:sp>
        <p:nvSpPr>
          <p:cNvPr id="19462" name="Oval 7"/>
          <p:cNvSpPr>
            <a:spLocks noChangeArrowheads="1"/>
          </p:cNvSpPr>
          <p:nvPr/>
        </p:nvSpPr>
        <p:spPr bwMode="auto">
          <a:xfrm>
            <a:off x="7737475" y="4260850"/>
            <a:ext cx="720725" cy="862013"/>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3600" b="1"/>
              <a:t>F</a:t>
            </a:r>
            <a:endParaRPr lang="en-US" sz="4800" b="1"/>
          </a:p>
        </p:txBody>
      </p:sp>
      <p:sp>
        <p:nvSpPr>
          <p:cNvPr id="19463" name="Oval 8"/>
          <p:cNvSpPr>
            <a:spLocks noChangeArrowheads="1"/>
          </p:cNvSpPr>
          <p:nvPr/>
        </p:nvSpPr>
        <p:spPr bwMode="auto">
          <a:xfrm>
            <a:off x="5095875" y="4548188"/>
            <a:ext cx="720725" cy="862012"/>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3600" b="1"/>
              <a:t>E</a:t>
            </a:r>
            <a:endParaRPr lang="en-US" sz="4800" b="1"/>
          </a:p>
        </p:txBody>
      </p:sp>
      <p:sp>
        <p:nvSpPr>
          <p:cNvPr id="19464" name="Oval 9"/>
          <p:cNvSpPr>
            <a:spLocks noChangeArrowheads="1"/>
          </p:cNvSpPr>
          <p:nvPr/>
        </p:nvSpPr>
        <p:spPr bwMode="auto">
          <a:xfrm>
            <a:off x="6297613" y="3397250"/>
            <a:ext cx="719137" cy="863600"/>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3600" b="1"/>
              <a:t>C</a:t>
            </a:r>
            <a:endParaRPr lang="en-US" sz="4800" b="1"/>
          </a:p>
        </p:txBody>
      </p:sp>
      <p:sp>
        <p:nvSpPr>
          <p:cNvPr id="19465" name="Oval 10"/>
          <p:cNvSpPr>
            <a:spLocks noChangeArrowheads="1"/>
          </p:cNvSpPr>
          <p:nvPr/>
        </p:nvSpPr>
        <p:spPr bwMode="auto">
          <a:xfrm>
            <a:off x="3175000" y="4440238"/>
            <a:ext cx="720725" cy="863600"/>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3600" b="1"/>
              <a:t>G</a:t>
            </a:r>
            <a:endParaRPr lang="en-US" sz="4800" b="1"/>
          </a:p>
        </p:txBody>
      </p:sp>
      <p:sp>
        <p:nvSpPr>
          <p:cNvPr id="19466" name="Oval 11"/>
          <p:cNvSpPr>
            <a:spLocks noChangeArrowheads="1"/>
          </p:cNvSpPr>
          <p:nvPr/>
        </p:nvSpPr>
        <p:spPr bwMode="auto">
          <a:xfrm>
            <a:off x="533400" y="4260850"/>
            <a:ext cx="720725" cy="862013"/>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3600" b="1"/>
              <a:t>D</a:t>
            </a:r>
            <a:endParaRPr lang="en-US" sz="4800" b="1"/>
          </a:p>
        </p:txBody>
      </p:sp>
      <p:sp>
        <p:nvSpPr>
          <p:cNvPr id="19467" name="Oval 12"/>
          <p:cNvSpPr>
            <a:spLocks noChangeArrowheads="1"/>
          </p:cNvSpPr>
          <p:nvPr/>
        </p:nvSpPr>
        <p:spPr bwMode="auto">
          <a:xfrm>
            <a:off x="1974850" y="3397250"/>
            <a:ext cx="719138" cy="863600"/>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3600" b="1"/>
              <a:t>B</a:t>
            </a:r>
            <a:endParaRPr lang="en-US" sz="4800" b="1"/>
          </a:p>
        </p:txBody>
      </p:sp>
      <p:sp>
        <p:nvSpPr>
          <p:cNvPr id="19468" name="Line 13"/>
          <p:cNvSpPr>
            <a:spLocks noChangeShapeType="1"/>
          </p:cNvSpPr>
          <p:nvPr/>
        </p:nvSpPr>
        <p:spPr bwMode="auto">
          <a:xfrm flipH="1">
            <a:off x="2693988" y="2822575"/>
            <a:ext cx="1441450" cy="8620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69" name="Line 14"/>
          <p:cNvSpPr>
            <a:spLocks noChangeShapeType="1"/>
          </p:cNvSpPr>
          <p:nvPr/>
        </p:nvSpPr>
        <p:spPr bwMode="auto">
          <a:xfrm flipH="1">
            <a:off x="1254125" y="3971925"/>
            <a:ext cx="720725"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0" name="Line 15"/>
          <p:cNvSpPr>
            <a:spLocks noChangeShapeType="1"/>
          </p:cNvSpPr>
          <p:nvPr/>
        </p:nvSpPr>
        <p:spPr bwMode="auto">
          <a:xfrm>
            <a:off x="4856163" y="2860675"/>
            <a:ext cx="1441450" cy="863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1" name="Line 16"/>
          <p:cNvSpPr>
            <a:spLocks noChangeShapeType="1"/>
          </p:cNvSpPr>
          <p:nvPr/>
        </p:nvSpPr>
        <p:spPr bwMode="auto">
          <a:xfrm>
            <a:off x="7016750" y="3932238"/>
            <a:ext cx="720725" cy="6159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2" name="Line 17"/>
          <p:cNvSpPr>
            <a:spLocks noChangeShapeType="1"/>
          </p:cNvSpPr>
          <p:nvPr/>
        </p:nvSpPr>
        <p:spPr bwMode="auto">
          <a:xfrm flipH="1">
            <a:off x="5576888" y="3932238"/>
            <a:ext cx="720725" cy="5762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p:cNvSpPr>
            <a:spLocks noGrp="1"/>
          </p:cNvSpPr>
          <p:nvPr>
            <p:ph idx="1"/>
          </p:nvPr>
        </p:nvSpPr>
        <p:spPr>
          <a:xfrm>
            <a:off x="228600" y="304800"/>
            <a:ext cx="8458200" cy="6416675"/>
          </a:xfrm>
        </p:spPr>
        <p:txBody>
          <a:bodyPr/>
          <a:lstStyle/>
          <a:p>
            <a:r>
              <a:rPr lang="en-US" dirty="0" smtClean="0"/>
              <a:t>Maximum number of nodes(say n) in a Perfect Binary tree with height h</a:t>
            </a:r>
          </a:p>
          <a:p>
            <a:r>
              <a:rPr lang="en-US" dirty="0" smtClean="0"/>
              <a:t>n =2</a:t>
            </a:r>
            <a:r>
              <a:rPr lang="en-US" baseline="30000" dirty="0" smtClean="0"/>
              <a:t>0</a:t>
            </a:r>
            <a:r>
              <a:rPr lang="en-US" dirty="0" smtClean="0"/>
              <a:t> + 2</a:t>
            </a:r>
            <a:r>
              <a:rPr lang="en-US" baseline="30000" dirty="0" smtClean="0"/>
              <a:t>1</a:t>
            </a:r>
            <a:r>
              <a:rPr lang="en-US" dirty="0" smtClean="0"/>
              <a:t>+ 2</a:t>
            </a:r>
            <a:r>
              <a:rPr lang="en-US" baseline="30000" dirty="0" smtClean="0"/>
              <a:t>2</a:t>
            </a:r>
            <a:r>
              <a:rPr lang="en-US" dirty="0" smtClean="0"/>
              <a:t>+……..+2</a:t>
            </a:r>
            <a:r>
              <a:rPr lang="en-US" baseline="30000" dirty="0" smtClean="0"/>
              <a:t>h</a:t>
            </a:r>
            <a:r>
              <a:rPr lang="en-US" dirty="0" smtClean="0"/>
              <a:t> (This is a GP series)</a:t>
            </a:r>
          </a:p>
          <a:p>
            <a:r>
              <a:rPr lang="en-IN" dirty="0" smtClean="0"/>
              <a:t>Sum of n terms of a GP series a, </a:t>
            </a:r>
            <a:r>
              <a:rPr lang="en-IN" dirty="0" err="1" smtClean="0"/>
              <a:t>ar</a:t>
            </a:r>
            <a:r>
              <a:rPr lang="en-IN" dirty="0" smtClean="0"/>
              <a:t>, ar</a:t>
            </a:r>
            <a:r>
              <a:rPr lang="en-IN" baseline="30000" dirty="0" smtClean="0"/>
              <a:t>2</a:t>
            </a:r>
            <a:r>
              <a:rPr lang="en-IN" dirty="0" smtClean="0"/>
              <a:t>,</a:t>
            </a:r>
            <a:r>
              <a:rPr lang="en-IN" dirty="0"/>
              <a:t> </a:t>
            </a:r>
            <a:r>
              <a:rPr lang="en-IN" dirty="0" smtClean="0"/>
              <a:t>ar</a:t>
            </a:r>
            <a:r>
              <a:rPr lang="en-IN" baseline="30000" dirty="0" smtClean="0"/>
              <a:t>3</a:t>
            </a:r>
            <a:r>
              <a:rPr lang="en-IN" baseline="-25000" dirty="0" smtClean="0"/>
              <a:t>,</a:t>
            </a:r>
            <a:r>
              <a:rPr lang="en-IN" dirty="0" smtClean="0"/>
              <a:t> ……ar</a:t>
            </a:r>
            <a:r>
              <a:rPr lang="en-IN" baseline="30000" dirty="0" smtClean="0"/>
              <a:t>n-1</a:t>
            </a:r>
          </a:p>
          <a:p>
            <a:pPr marL="0" indent="0">
              <a:buNone/>
            </a:pPr>
            <a:r>
              <a:rPr lang="en-IN" dirty="0" smtClean="0"/>
              <a:t>	</a:t>
            </a:r>
            <a:r>
              <a:rPr lang="en-IN" dirty="0" err="1" smtClean="0"/>
              <a:t>Sn</a:t>
            </a:r>
            <a:r>
              <a:rPr lang="en-IN" dirty="0" smtClean="0"/>
              <a:t>=a[(r</a:t>
            </a:r>
            <a:r>
              <a:rPr lang="en-IN" baseline="30000" dirty="0" smtClean="0"/>
              <a:t>n</a:t>
            </a:r>
            <a:r>
              <a:rPr lang="en-IN" dirty="0" smtClean="0"/>
              <a:t>-1)/(r-1)] if r!=1, r&gt;1</a:t>
            </a:r>
            <a:endParaRPr lang="en-US" dirty="0" smtClean="0"/>
          </a:p>
          <a:p>
            <a:r>
              <a:rPr lang="en-US" dirty="0" smtClean="0"/>
              <a:t>Therefore, n =2</a:t>
            </a:r>
            <a:r>
              <a:rPr lang="en-US" baseline="30000" dirty="0" smtClean="0"/>
              <a:t>(h+1)</a:t>
            </a:r>
            <a:r>
              <a:rPr lang="en-US" dirty="0" smtClean="0"/>
              <a:t>  - 1</a:t>
            </a:r>
          </a:p>
          <a:p>
            <a:r>
              <a:rPr lang="en-US" dirty="0" smtClean="0"/>
              <a:t>2</a:t>
            </a:r>
            <a:r>
              <a:rPr lang="en-US" baseline="30000" dirty="0" smtClean="0"/>
              <a:t>(h+1)</a:t>
            </a:r>
            <a:r>
              <a:rPr lang="en-US" dirty="0" smtClean="0"/>
              <a:t> = n+1</a:t>
            </a:r>
          </a:p>
          <a:p>
            <a:r>
              <a:rPr lang="en-US" dirty="0" smtClean="0"/>
              <a:t>(h+1) log</a:t>
            </a:r>
            <a:r>
              <a:rPr lang="en-US" baseline="-25000" dirty="0" smtClean="0"/>
              <a:t>2</a:t>
            </a:r>
            <a:r>
              <a:rPr lang="en-US" dirty="0" smtClean="0"/>
              <a:t>2=log</a:t>
            </a:r>
            <a:r>
              <a:rPr lang="en-US" baseline="-25000" dirty="0" smtClean="0"/>
              <a:t>2</a:t>
            </a:r>
            <a:r>
              <a:rPr lang="en-US" dirty="0" smtClean="0"/>
              <a:t>(n+1)</a:t>
            </a:r>
          </a:p>
          <a:p>
            <a:r>
              <a:rPr lang="en-US" dirty="0" smtClean="0"/>
              <a:t>h= log</a:t>
            </a:r>
            <a:r>
              <a:rPr lang="en-US" baseline="-25000" dirty="0" smtClean="0"/>
              <a:t>2</a:t>
            </a:r>
            <a:r>
              <a:rPr lang="en-US" dirty="0" smtClean="0"/>
              <a:t>(n+1) -1</a:t>
            </a:r>
          </a:p>
          <a:p>
            <a:pPr>
              <a:buFontTx/>
              <a:buNone/>
            </a:pPr>
            <a:endParaRPr lang="en-US" dirty="0" smtClean="0"/>
          </a:p>
          <a:p>
            <a:endParaRPr lang="en-US" dirty="0" smtClean="0"/>
          </a:p>
        </p:txBody>
      </p:sp>
      <p:sp>
        <p:nvSpPr>
          <p:cNvPr id="20483"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D3BC59AD-2C54-4339-B867-D118884335D7}" type="slidenum">
              <a:rPr lang="en-US" sz="1400" smtClean="0"/>
              <a:pPr algn="r">
                <a:spcBef>
                  <a:spcPct val="0"/>
                </a:spcBef>
                <a:buFontTx/>
                <a:buNone/>
              </a:pPr>
              <a:t>25</a:t>
            </a:fld>
            <a:endParaRPr lang="en-US" sz="1400"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4"/>
          <p:cNvSpPr>
            <a:spLocks noGrp="1"/>
          </p:cNvSpPr>
          <p:nvPr>
            <p:ph type="title"/>
          </p:nvPr>
        </p:nvSpPr>
        <p:spPr>
          <a:xfrm>
            <a:off x="457200" y="274638"/>
            <a:ext cx="8229600" cy="6126162"/>
          </a:xfrm>
        </p:spPr>
        <p:txBody>
          <a:bodyPr/>
          <a:lstStyle/>
          <a:p>
            <a:pPr algn="just" eaLnBrk="1" hangingPunct="1"/>
            <a:r>
              <a:rPr lang="en-US" b="1" smtClean="0"/>
              <a:t>COMPLETE BINARY TREE:</a:t>
            </a:r>
            <a:r>
              <a:rPr lang="en-US" smtClean="0"/>
              <a:t> A  complete binary tree is a binary tree that satisfies two conditions:</a:t>
            </a:r>
            <a:br>
              <a:rPr lang="en-US" smtClean="0"/>
            </a:br>
            <a:r>
              <a:rPr lang="en-US" smtClean="0"/>
              <a:t>1. In a complete binary tree, every level, except possibly the last, is completely filled.</a:t>
            </a:r>
            <a:br>
              <a:rPr lang="en-US" smtClean="0"/>
            </a:br>
            <a:r>
              <a:rPr lang="en-US" smtClean="0"/>
              <a:t>2. All nodes are </a:t>
            </a:r>
            <a:r>
              <a:rPr lang="en-US" b="1" smtClean="0">
                <a:solidFill>
                  <a:srgbClr val="FF0000"/>
                </a:solidFill>
              </a:rPr>
              <a:t>as far left as possible</a:t>
            </a:r>
            <a:r>
              <a:rPr lang="en-US" smtClean="0"/>
              <a:t>.</a:t>
            </a:r>
          </a:p>
        </p:txBody>
      </p:sp>
      <p:sp>
        <p:nvSpPr>
          <p:cNvPr id="21507"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F7006CCF-C177-42C8-A8F2-398DFF86C785}" type="slidenum">
              <a:rPr lang="en-US" sz="1400" smtClean="0"/>
              <a:pPr algn="r">
                <a:spcBef>
                  <a:spcPct val="0"/>
                </a:spcBef>
                <a:buFontTx/>
                <a:buNone/>
              </a:pPr>
              <a:t>26</a:t>
            </a:fld>
            <a:endParaRPr lang="en-US" sz="1400" smtClean="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6"/>
          <p:cNvSpPr>
            <a:spLocks noGrp="1"/>
          </p:cNvSpPr>
          <p:nvPr>
            <p:ph idx="1"/>
          </p:nvPr>
        </p:nvSpPr>
        <p:spPr>
          <a:xfrm>
            <a:off x="0" y="381000"/>
            <a:ext cx="9144000" cy="6340475"/>
          </a:xfrm>
        </p:spPr>
        <p:txBody>
          <a:bodyPr/>
          <a:lstStyle/>
          <a:p>
            <a:r>
              <a:rPr lang="en-US" smtClean="0"/>
              <a:t>A complete binary tree is also sometimes called an almost complete binary tree.</a:t>
            </a:r>
          </a:p>
          <a:p>
            <a:r>
              <a:rPr lang="en-US" smtClean="0"/>
              <a:t>A complete binary tree can have an incomplete last level, as long as all the leaves in it are pushed across to the left.</a:t>
            </a:r>
          </a:p>
          <a:p>
            <a:r>
              <a:rPr lang="en-US" smtClean="0"/>
              <a:t>A </a:t>
            </a:r>
            <a:r>
              <a:rPr lang="en-US" b="1" smtClean="0"/>
              <a:t>perfect</a:t>
            </a:r>
            <a:r>
              <a:rPr lang="en-US" smtClean="0"/>
              <a:t> binary tree is a complete binary tree in which the last level is full.</a:t>
            </a:r>
          </a:p>
          <a:p>
            <a:r>
              <a:rPr lang="en-IN" smtClean="0"/>
              <a:t>In an almost complete binary tree, the last level </a:t>
            </a:r>
            <a:r>
              <a:rPr lang="en-IN" smtClean="0">
                <a:solidFill>
                  <a:srgbClr val="FF0000"/>
                </a:solidFill>
              </a:rPr>
              <a:t>will surely be </a:t>
            </a:r>
            <a:r>
              <a:rPr lang="en-IN" smtClean="0"/>
              <a:t>incomplete unlike complete which </a:t>
            </a:r>
            <a:r>
              <a:rPr lang="en-IN" smtClean="0">
                <a:solidFill>
                  <a:srgbClr val="FF0000"/>
                </a:solidFill>
              </a:rPr>
              <a:t>may or may not </a:t>
            </a:r>
            <a:r>
              <a:rPr lang="en-IN" smtClean="0"/>
              <a:t>have the incomplete last level. But, in both the cases, the leaves in the last level will be pushed to left only.</a:t>
            </a:r>
            <a:endParaRPr lang="en-US" smtClean="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p:cNvSpPr>
            <a:spLocks noGrp="1"/>
          </p:cNvSpPr>
          <p:nvPr>
            <p:ph type="sldNum" sz="quarter" idx="12"/>
          </p:nvPr>
        </p:nvSpPr>
        <p:spPr>
          <a:xfrm>
            <a:off x="6553200" y="5559425"/>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10DEC76B-BA0C-4C75-BF7E-2D3C1E6D79C7}" type="slidenum">
              <a:rPr lang="en-US" sz="1400" smtClean="0"/>
              <a:pPr algn="r">
                <a:spcBef>
                  <a:spcPct val="0"/>
                </a:spcBef>
                <a:buFontTx/>
                <a:buNone/>
              </a:pPr>
              <a:t>28</a:t>
            </a:fld>
            <a:endParaRPr lang="en-US" sz="1400" smtClean="0"/>
          </a:p>
        </p:txBody>
      </p:sp>
      <p:sp>
        <p:nvSpPr>
          <p:cNvPr id="23555" name="Rectangle 3"/>
          <p:cNvSpPr>
            <a:spLocks noGrp="1" noChangeArrowheads="1"/>
          </p:cNvSpPr>
          <p:nvPr>
            <p:ph type="body" idx="1"/>
          </p:nvPr>
        </p:nvSpPr>
        <p:spPr>
          <a:xfrm>
            <a:off x="381000" y="228600"/>
            <a:ext cx="8229600" cy="838200"/>
          </a:xfrm>
        </p:spPr>
        <p:txBody>
          <a:bodyPr/>
          <a:lstStyle/>
          <a:p>
            <a:pPr eaLnBrk="1" hangingPunct="1">
              <a:buFontTx/>
              <a:buNone/>
            </a:pPr>
            <a:r>
              <a:rPr lang="en-US" b="1" smtClean="0"/>
              <a:t>Not complete binary tree:</a:t>
            </a:r>
            <a:r>
              <a:rPr lang="en-US" smtClean="0"/>
              <a:t> </a:t>
            </a:r>
          </a:p>
        </p:txBody>
      </p:sp>
      <p:sp>
        <p:nvSpPr>
          <p:cNvPr id="23556" name="Line 5"/>
          <p:cNvSpPr>
            <a:spLocks noChangeShapeType="1"/>
          </p:cNvSpPr>
          <p:nvPr/>
        </p:nvSpPr>
        <p:spPr bwMode="auto">
          <a:xfrm>
            <a:off x="2320925" y="3063875"/>
            <a:ext cx="960438" cy="8620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57" name="Oval 6"/>
          <p:cNvSpPr>
            <a:spLocks noChangeArrowheads="1"/>
          </p:cNvSpPr>
          <p:nvPr/>
        </p:nvSpPr>
        <p:spPr bwMode="auto">
          <a:xfrm>
            <a:off x="4135438" y="1600200"/>
            <a:ext cx="720725" cy="862013"/>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3600" b="1"/>
              <a:t>A</a:t>
            </a:r>
            <a:endParaRPr lang="en-US" sz="4800" b="1"/>
          </a:p>
        </p:txBody>
      </p:sp>
      <p:sp>
        <p:nvSpPr>
          <p:cNvPr id="23558" name="Oval 7"/>
          <p:cNvSpPr>
            <a:spLocks noChangeArrowheads="1"/>
          </p:cNvSpPr>
          <p:nvPr/>
        </p:nvSpPr>
        <p:spPr bwMode="auto">
          <a:xfrm>
            <a:off x="7737475" y="3575050"/>
            <a:ext cx="720725" cy="862013"/>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3600" b="1"/>
              <a:t>F</a:t>
            </a:r>
            <a:endParaRPr lang="en-US" sz="4800" b="1"/>
          </a:p>
        </p:txBody>
      </p:sp>
      <p:sp>
        <p:nvSpPr>
          <p:cNvPr id="23559" name="Oval 8"/>
          <p:cNvSpPr>
            <a:spLocks noChangeArrowheads="1"/>
          </p:cNvSpPr>
          <p:nvPr/>
        </p:nvSpPr>
        <p:spPr bwMode="auto">
          <a:xfrm>
            <a:off x="5095875" y="3862388"/>
            <a:ext cx="720725" cy="862012"/>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3600" b="1"/>
              <a:t>E</a:t>
            </a:r>
            <a:endParaRPr lang="en-US" sz="4800" b="1"/>
          </a:p>
        </p:txBody>
      </p:sp>
      <p:sp>
        <p:nvSpPr>
          <p:cNvPr id="23560" name="Oval 9"/>
          <p:cNvSpPr>
            <a:spLocks noChangeArrowheads="1"/>
          </p:cNvSpPr>
          <p:nvPr/>
        </p:nvSpPr>
        <p:spPr bwMode="auto">
          <a:xfrm>
            <a:off x="6297613" y="2711450"/>
            <a:ext cx="719137" cy="863600"/>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3600" b="1"/>
              <a:t>C</a:t>
            </a:r>
            <a:endParaRPr lang="en-US" sz="4800" b="1"/>
          </a:p>
        </p:txBody>
      </p:sp>
      <p:sp>
        <p:nvSpPr>
          <p:cNvPr id="23561" name="Oval 10"/>
          <p:cNvSpPr>
            <a:spLocks noChangeArrowheads="1"/>
          </p:cNvSpPr>
          <p:nvPr/>
        </p:nvSpPr>
        <p:spPr bwMode="auto">
          <a:xfrm>
            <a:off x="3175000" y="3754438"/>
            <a:ext cx="720725" cy="863600"/>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3600" b="1"/>
              <a:t>G</a:t>
            </a:r>
            <a:endParaRPr lang="en-US" sz="4800" b="1"/>
          </a:p>
        </p:txBody>
      </p:sp>
      <p:sp>
        <p:nvSpPr>
          <p:cNvPr id="23562" name="Oval 11"/>
          <p:cNvSpPr>
            <a:spLocks noChangeArrowheads="1"/>
          </p:cNvSpPr>
          <p:nvPr/>
        </p:nvSpPr>
        <p:spPr bwMode="auto">
          <a:xfrm>
            <a:off x="533400" y="3575050"/>
            <a:ext cx="720725" cy="862013"/>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3600" b="1"/>
              <a:t>D</a:t>
            </a:r>
            <a:endParaRPr lang="en-US" sz="4800" b="1"/>
          </a:p>
        </p:txBody>
      </p:sp>
      <p:sp>
        <p:nvSpPr>
          <p:cNvPr id="23563" name="Oval 12"/>
          <p:cNvSpPr>
            <a:spLocks noChangeArrowheads="1"/>
          </p:cNvSpPr>
          <p:nvPr/>
        </p:nvSpPr>
        <p:spPr bwMode="auto">
          <a:xfrm>
            <a:off x="1974850" y="2711450"/>
            <a:ext cx="719138" cy="863600"/>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3600" b="1"/>
              <a:t>B</a:t>
            </a:r>
            <a:endParaRPr lang="en-US" sz="4800" b="1"/>
          </a:p>
        </p:txBody>
      </p:sp>
      <p:sp>
        <p:nvSpPr>
          <p:cNvPr id="23564" name="Line 13"/>
          <p:cNvSpPr>
            <a:spLocks noChangeShapeType="1"/>
          </p:cNvSpPr>
          <p:nvPr/>
        </p:nvSpPr>
        <p:spPr bwMode="auto">
          <a:xfrm flipH="1">
            <a:off x="2693988" y="2136775"/>
            <a:ext cx="1441450" cy="8620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5" name="Line 14"/>
          <p:cNvSpPr>
            <a:spLocks noChangeShapeType="1"/>
          </p:cNvSpPr>
          <p:nvPr/>
        </p:nvSpPr>
        <p:spPr bwMode="auto">
          <a:xfrm flipH="1">
            <a:off x="1254125" y="3286125"/>
            <a:ext cx="720725"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6" name="Line 15"/>
          <p:cNvSpPr>
            <a:spLocks noChangeShapeType="1"/>
          </p:cNvSpPr>
          <p:nvPr/>
        </p:nvSpPr>
        <p:spPr bwMode="auto">
          <a:xfrm>
            <a:off x="4856163" y="2174875"/>
            <a:ext cx="1441450" cy="863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7" name="Line 16"/>
          <p:cNvSpPr>
            <a:spLocks noChangeShapeType="1"/>
          </p:cNvSpPr>
          <p:nvPr/>
        </p:nvSpPr>
        <p:spPr bwMode="auto">
          <a:xfrm>
            <a:off x="7016750" y="3246438"/>
            <a:ext cx="720725" cy="6159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8" name="Line 17"/>
          <p:cNvSpPr>
            <a:spLocks noChangeShapeType="1"/>
          </p:cNvSpPr>
          <p:nvPr/>
        </p:nvSpPr>
        <p:spPr bwMode="auto">
          <a:xfrm flipH="1">
            <a:off x="5576888" y="3246438"/>
            <a:ext cx="720725" cy="5762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9" name="Oval 11"/>
          <p:cNvSpPr>
            <a:spLocks noChangeArrowheads="1"/>
          </p:cNvSpPr>
          <p:nvPr/>
        </p:nvSpPr>
        <p:spPr bwMode="auto">
          <a:xfrm>
            <a:off x="1946275" y="4876800"/>
            <a:ext cx="720725" cy="862013"/>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4800" b="1"/>
              <a:t>X</a:t>
            </a:r>
          </a:p>
        </p:txBody>
      </p:sp>
      <p:sp>
        <p:nvSpPr>
          <p:cNvPr id="23570" name="Line 14"/>
          <p:cNvSpPr>
            <a:spLocks noChangeShapeType="1"/>
          </p:cNvSpPr>
          <p:nvPr/>
        </p:nvSpPr>
        <p:spPr bwMode="auto">
          <a:xfrm flipH="1">
            <a:off x="2632075" y="4495800"/>
            <a:ext cx="720725"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71" name="Line 5"/>
          <p:cNvSpPr>
            <a:spLocks noChangeShapeType="1"/>
          </p:cNvSpPr>
          <p:nvPr/>
        </p:nvSpPr>
        <p:spPr bwMode="auto">
          <a:xfrm>
            <a:off x="3886200" y="4419600"/>
            <a:ext cx="960438" cy="8620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72" name="Oval 10"/>
          <p:cNvSpPr>
            <a:spLocks noChangeArrowheads="1"/>
          </p:cNvSpPr>
          <p:nvPr/>
        </p:nvSpPr>
        <p:spPr bwMode="auto">
          <a:xfrm>
            <a:off x="4740275" y="5029200"/>
            <a:ext cx="720725" cy="863600"/>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3600" b="1"/>
              <a:t>Y</a:t>
            </a:r>
            <a:endParaRPr lang="en-US" sz="4800" b="1"/>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p:cNvSpPr>
            <a:spLocks noGrp="1"/>
          </p:cNvSpPr>
          <p:nvPr>
            <p:ph type="sldNum" sz="quarter" idx="12"/>
          </p:nvPr>
        </p:nvSpPr>
        <p:spPr>
          <a:xfrm>
            <a:off x="6934200" y="5559425"/>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32F9854B-277F-4B27-B195-5E88B68C46BE}" type="slidenum">
              <a:rPr lang="en-US" sz="1400" smtClean="0"/>
              <a:pPr algn="r">
                <a:spcBef>
                  <a:spcPct val="0"/>
                </a:spcBef>
                <a:buFontTx/>
                <a:buNone/>
              </a:pPr>
              <a:t>29</a:t>
            </a:fld>
            <a:endParaRPr lang="en-US" sz="1400" smtClean="0"/>
          </a:p>
        </p:txBody>
      </p:sp>
      <p:sp>
        <p:nvSpPr>
          <p:cNvPr id="24579" name="Rectangle 3"/>
          <p:cNvSpPr>
            <a:spLocks noGrp="1" noChangeArrowheads="1"/>
          </p:cNvSpPr>
          <p:nvPr>
            <p:ph type="body" idx="1"/>
          </p:nvPr>
        </p:nvSpPr>
        <p:spPr>
          <a:xfrm>
            <a:off x="381000" y="228600"/>
            <a:ext cx="8229600" cy="838200"/>
          </a:xfrm>
        </p:spPr>
        <p:txBody>
          <a:bodyPr/>
          <a:lstStyle/>
          <a:p>
            <a:pPr eaLnBrk="1" hangingPunct="1">
              <a:buFontTx/>
              <a:buNone/>
            </a:pPr>
            <a:r>
              <a:rPr lang="en-US" b="1" smtClean="0"/>
              <a:t>Complete binary tree:</a:t>
            </a:r>
            <a:r>
              <a:rPr lang="en-US" smtClean="0"/>
              <a:t> </a:t>
            </a:r>
          </a:p>
        </p:txBody>
      </p:sp>
      <p:sp>
        <p:nvSpPr>
          <p:cNvPr id="24580" name="Line 5"/>
          <p:cNvSpPr>
            <a:spLocks noChangeShapeType="1"/>
          </p:cNvSpPr>
          <p:nvPr/>
        </p:nvSpPr>
        <p:spPr bwMode="auto">
          <a:xfrm>
            <a:off x="2701925" y="3063875"/>
            <a:ext cx="960438" cy="8620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1" name="Oval 6"/>
          <p:cNvSpPr>
            <a:spLocks noChangeArrowheads="1"/>
          </p:cNvSpPr>
          <p:nvPr/>
        </p:nvSpPr>
        <p:spPr bwMode="auto">
          <a:xfrm>
            <a:off x="4516438" y="1600200"/>
            <a:ext cx="720725" cy="862013"/>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3600" b="1"/>
              <a:t>A</a:t>
            </a:r>
            <a:endParaRPr lang="en-US" sz="4800" b="1"/>
          </a:p>
        </p:txBody>
      </p:sp>
      <p:sp>
        <p:nvSpPr>
          <p:cNvPr id="24582" name="Oval 7"/>
          <p:cNvSpPr>
            <a:spLocks noChangeArrowheads="1"/>
          </p:cNvSpPr>
          <p:nvPr/>
        </p:nvSpPr>
        <p:spPr bwMode="auto">
          <a:xfrm>
            <a:off x="8118475" y="3575050"/>
            <a:ext cx="720725" cy="862013"/>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3600" b="1"/>
              <a:t>F</a:t>
            </a:r>
            <a:endParaRPr lang="en-US" sz="4800" b="1"/>
          </a:p>
        </p:txBody>
      </p:sp>
      <p:sp>
        <p:nvSpPr>
          <p:cNvPr id="24583" name="Oval 8"/>
          <p:cNvSpPr>
            <a:spLocks noChangeArrowheads="1"/>
          </p:cNvSpPr>
          <p:nvPr/>
        </p:nvSpPr>
        <p:spPr bwMode="auto">
          <a:xfrm>
            <a:off x="5476875" y="3862388"/>
            <a:ext cx="720725" cy="862012"/>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3600" b="1"/>
              <a:t>E</a:t>
            </a:r>
            <a:endParaRPr lang="en-US" sz="4800" b="1"/>
          </a:p>
        </p:txBody>
      </p:sp>
      <p:sp>
        <p:nvSpPr>
          <p:cNvPr id="24584" name="Oval 9"/>
          <p:cNvSpPr>
            <a:spLocks noChangeArrowheads="1"/>
          </p:cNvSpPr>
          <p:nvPr/>
        </p:nvSpPr>
        <p:spPr bwMode="auto">
          <a:xfrm>
            <a:off x="6678613" y="2711450"/>
            <a:ext cx="719137" cy="863600"/>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3600" b="1"/>
              <a:t>C</a:t>
            </a:r>
            <a:endParaRPr lang="en-US" sz="4800" b="1"/>
          </a:p>
        </p:txBody>
      </p:sp>
      <p:sp>
        <p:nvSpPr>
          <p:cNvPr id="24585" name="Oval 10"/>
          <p:cNvSpPr>
            <a:spLocks noChangeArrowheads="1"/>
          </p:cNvSpPr>
          <p:nvPr/>
        </p:nvSpPr>
        <p:spPr bwMode="auto">
          <a:xfrm>
            <a:off x="3556000" y="3754438"/>
            <a:ext cx="720725" cy="863600"/>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3600" b="1"/>
              <a:t>G</a:t>
            </a:r>
            <a:endParaRPr lang="en-US" sz="4800" b="1"/>
          </a:p>
        </p:txBody>
      </p:sp>
      <p:sp>
        <p:nvSpPr>
          <p:cNvPr id="24586" name="Oval 11"/>
          <p:cNvSpPr>
            <a:spLocks noChangeArrowheads="1"/>
          </p:cNvSpPr>
          <p:nvPr/>
        </p:nvSpPr>
        <p:spPr bwMode="auto">
          <a:xfrm>
            <a:off x="914400" y="3575050"/>
            <a:ext cx="720725" cy="862013"/>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3600" b="1"/>
              <a:t>D</a:t>
            </a:r>
            <a:endParaRPr lang="en-US" sz="4800" b="1"/>
          </a:p>
        </p:txBody>
      </p:sp>
      <p:sp>
        <p:nvSpPr>
          <p:cNvPr id="24587" name="Oval 12"/>
          <p:cNvSpPr>
            <a:spLocks noChangeArrowheads="1"/>
          </p:cNvSpPr>
          <p:nvPr/>
        </p:nvSpPr>
        <p:spPr bwMode="auto">
          <a:xfrm>
            <a:off x="2355850" y="2711450"/>
            <a:ext cx="719138" cy="863600"/>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3600" b="1"/>
              <a:t>B</a:t>
            </a:r>
            <a:endParaRPr lang="en-US" sz="4800" b="1"/>
          </a:p>
        </p:txBody>
      </p:sp>
      <p:sp>
        <p:nvSpPr>
          <p:cNvPr id="24588" name="Line 13"/>
          <p:cNvSpPr>
            <a:spLocks noChangeShapeType="1"/>
          </p:cNvSpPr>
          <p:nvPr/>
        </p:nvSpPr>
        <p:spPr bwMode="auto">
          <a:xfrm flipH="1">
            <a:off x="3074988" y="2136775"/>
            <a:ext cx="1441450" cy="8620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9" name="Line 14"/>
          <p:cNvSpPr>
            <a:spLocks noChangeShapeType="1"/>
          </p:cNvSpPr>
          <p:nvPr/>
        </p:nvSpPr>
        <p:spPr bwMode="auto">
          <a:xfrm flipH="1">
            <a:off x="1635125" y="3286125"/>
            <a:ext cx="720725"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0" name="Line 15"/>
          <p:cNvSpPr>
            <a:spLocks noChangeShapeType="1"/>
          </p:cNvSpPr>
          <p:nvPr/>
        </p:nvSpPr>
        <p:spPr bwMode="auto">
          <a:xfrm>
            <a:off x="5237163" y="2174875"/>
            <a:ext cx="1441450" cy="863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1" name="Line 16"/>
          <p:cNvSpPr>
            <a:spLocks noChangeShapeType="1"/>
          </p:cNvSpPr>
          <p:nvPr/>
        </p:nvSpPr>
        <p:spPr bwMode="auto">
          <a:xfrm>
            <a:off x="7397750" y="3246438"/>
            <a:ext cx="720725" cy="6159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2" name="Line 17"/>
          <p:cNvSpPr>
            <a:spLocks noChangeShapeType="1"/>
          </p:cNvSpPr>
          <p:nvPr/>
        </p:nvSpPr>
        <p:spPr bwMode="auto">
          <a:xfrm flipH="1">
            <a:off x="5957888" y="3246438"/>
            <a:ext cx="720725" cy="5762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3" name="Oval 11"/>
          <p:cNvSpPr>
            <a:spLocks noChangeArrowheads="1"/>
          </p:cNvSpPr>
          <p:nvPr/>
        </p:nvSpPr>
        <p:spPr bwMode="auto">
          <a:xfrm>
            <a:off x="346075" y="5157788"/>
            <a:ext cx="720725" cy="862012"/>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4800" b="1"/>
              <a:t>X</a:t>
            </a:r>
          </a:p>
        </p:txBody>
      </p:sp>
      <p:sp>
        <p:nvSpPr>
          <p:cNvPr id="24594" name="Line 14"/>
          <p:cNvSpPr>
            <a:spLocks noChangeShapeType="1"/>
          </p:cNvSpPr>
          <p:nvPr/>
        </p:nvSpPr>
        <p:spPr bwMode="auto">
          <a:xfrm flipH="1">
            <a:off x="685800" y="4419600"/>
            <a:ext cx="415925" cy="838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5" name="Line 5"/>
          <p:cNvSpPr>
            <a:spLocks noChangeShapeType="1"/>
          </p:cNvSpPr>
          <p:nvPr/>
        </p:nvSpPr>
        <p:spPr bwMode="auto">
          <a:xfrm>
            <a:off x="1447800" y="4395788"/>
            <a:ext cx="457200" cy="9382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6" name="Oval 10"/>
          <p:cNvSpPr>
            <a:spLocks noChangeArrowheads="1"/>
          </p:cNvSpPr>
          <p:nvPr/>
        </p:nvSpPr>
        <p:spPr bwMode="auto">
          <a:xfrm>
            <a:off x="1524000" y="5156200"/>
            <a:ext cx="720725" cy="863600"/>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3600" b="1"/>
              <a:t>Y</a:t>
            </a:r>
            <a:endParaRPr lang="en-US" sz="4800" b="1"/>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F6960B7A-D9F0-4DC0-B5A2-4B001291B96D}" type="slidenum">
              <a:rPr lang="en-US" sz="1400" smtClean="0"/>
              <a:pPr algn="r">
                <a:spcBef>
                  <a:spcPct val="0"/>
                </a:spcBef>
                <a:buFontTx/>
                <a:buNone/>
              </a:pPr>
              <a:t>30</a:t>
            </a:fld>
            <a:endParaRPr lang="en-US" sz="1400" smtClean="0"/>
          </a:p>
        </p:txBody>
      </p:sp>
      <p:pic>
        <p:nvPicPr>
          <p:cNvPr id="25603"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371600"/>
            <a:ext cx="88392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E5D4B50-F876-4C9D-AF52-99E4DA1D6344}" type="slidenum">
              <a:rPr lang="en-US" smtClean="0"/>
              <a:pPr>
                <a:defRPr/>
              </a:pPr>
              <a:t>31</a:t>
            </a:fld>
            <a:endParaRPr lang="en-US"/>
          </a:p>
        </p:txBody>
      </p:sp>
      <p:pic>
        <p:nvPicPr>
          <p:cNvPr id="3" name="Picture 2"/>
          <p:cNvPicPr>
            <a:picLocks noChangeAspect="1"/>
          </p:cNvPicPr>
          <p:nvPr/>
        </p:nvPicPr>
        <p:blipFill>
          <a:blip r:embed="rId2"/>
          <a:stretch>
            <a:fillRect/>
          </a:stretch>
        </p:blipFill>
        <p:spPr>
          <a:xfrm>
            <a:off x="380999" y="457199"/>
            <a:ext cx="8445929" cy="5788025"/>
          </a:xfrm>
          <a:prstGeom prst="rect">
            <a:avLst/>
          </a:prstGeom>
        </p:spPr>
      </p:pic>
    </p:spTree>
    <p:extLst>
      <p:ext uri="{BB962C8B-B14F-4D97-AF65-F5344CB8AC3E}">
        <p14:creationId xmlns:p14="http://schemas.microsoft.com/office/powerpoint/2010/main" val="208180854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E5D4B50-F876-4C9D-AF52-99E4DA1D6344}" type="slidenum">
              <a:rPr lang="en-US" smtClean="0"/>
              <a:pPr>
                <a:defRPr/>
              </a:pPr>
              <a:t>32</a:t>
            </a:fld>
            <a:endParaRPr lang="en-US"/>
          </a:p>
        </p:txBody>
      </p:sp>
      <p:pic>
        <p:nvPicPr>
          <p:cNvPr id="3" name="Picture 2"/>
          <p:cNvPicPr>
            <a:picLocks noChangeAspect="1"/>
          </p:cNvPicPr>
          <p:nvPr/>
        </p:nvPicPr>
        <p:blipFill>
          <a:blip r:embed="rId2"/>
          <a:stretch>
            <a:fillRect/>
          </a:stretch>
        </p:blipFill>
        <p:spPr>
          <a:xfrm>
            <a:off x="228600" y="1343915"/>
            <a:ext cx="8703733" cy="5285485"/>
          </a:xfrm>
          <a:prstGeom prst="rect">
            <a:avLst/>
          </a:prstGeom>
        </p:spPr>
      </p:pic>
      <p:sp>
        <p:nvSpPr>
          <p:cNvPr id="4" name="TextBox 3"/>
          <p:cNvSpPr txBox="1"/>
          <p:nvPr/>
        </p:nvSpPr>
        <p:spPr>
          <a:xfrm>
            <a:off x="152399" y="914400"/>
            <a:ext cx="8779933" cy="830997"/>
          </a:xfrm>
          <a:prstGeom prst="rect">
            <a:avLst/>
          </a:prstGeom>
          <a:noFill/>
        </p:spPr>
        <p:txBody>
          <a:bodyPr wrap="square" rtlCol="0">
            <a:spAutoFit/>
          </a:bodyPr>
          <a:lstStyle/>
          <a:p>
            <a:r>
              <a:rPr lang="en-IN" sz="2400" dirty="0" smtClean="0">
                <a:solidFill>
                  <a:srgbClr val="FF3300"/>
                </a:solidFill>
              </a:rPr>
              <a:t>External Path length= Internal Path length + 2* Number of Internal Nodes in the tree</a:t>
            </a:r>
            <a:endParaRPr lang="en-US" sz="2400" dirty="0">
              <a:solidFill>
                <a:srgbClr val="FF3300"/>
              </a:solidFill>
            </a:endParaRPr>
          </a:p>
        </p:txBody>
      </p:sp>
      <p:sp>
        <p:nvSpPr>
          <p:cNvPr id="5" name="TextBox 4"/>
          <p:cNvSpPr txBox="1"/>
          <p:nvPr/>
        </p:nvSpPr>
        <p:spPr>
          <a:xfrm>
            <a:off x="228600" y="67270"/>
            <a:ext cx="8703732" cy="923330"/>
          </a:xfrm>
          <a:prstGeom prst="rect">
            <a:avLst/>
          </a:prstGeom>
          <a:noFill/>
        </p:spPr>
        <p:txBody>
          <a:bodyPr wrap="square" rtlCol="0">
            <a:spAutoFit/>
          </a:bodyPr>
          <a:lstStyle/>
          <a:p>
            <a:pPr algn="just"/>
            <a:r>
              <a:rPr lang="en-IN" dirty="0" smtClean="0"/>
              <a:t>Here, numbers labelled on every node are the path lengths from root to that node. </a:t>
            </a:r>
            <a:endParaRPr lang="en-IN" dirty="0"/>
          </a:p>
          <a:p>
            <a:pPr algn="just"/>
            <a:r>
              <a:rPr lang="en-IN" dirty="0" smtClean="0"/>
              <a:t>Path length of a node is the number of distinct edges from root to that node.</a:t>
            </a:r>
          </a:p>
          <a:p>
            <a:pPr algn="just"/>
            <a:r>
              <a:rPr lang="en-IN" dirty="0" smtClean="0"/>
              <a:t>There are 7 internal nodes(circular nodes) and 8 external nodes(rectangular ones)</a:t>
            </a:r>
            <a:endParaRPr lang="en-US" dirty="0"/>
          </a:p>
        </p:txBody>
      </p:sp>
    </p:spTree>
    <p:extLst>
      <p:ext uri="{BB962C8B-B14F-4D97-AF65-F5344CB8AC3E}">
        <p14:creationId xmlns:p14="http://schemas.microsoft.com/office/powerpoint/2010/main" val="82465905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5B0C4A1E-A071-4EA4-9648-60CBDF7F25E6}" type="slidenum">
              <a:rPr lang="en-US" sz="1400" smtClean="0"/>
              <a:pPr algn="r">
                <a:spcBef>
                  <a:spcPct val="0"/>
                </a:spcBef>
                <a:buFontTx/>
                <a:buNone/>
              </a:pPr>
              <a:t>33</a:t>
            </a:fld>
            <a:endParaRPr lang="en-US" sz="1400" smtClean="0"/>
          </a:p>
        </p:txBody>
      </p:sp>
      <p:sp>
        <p:nvSpPr>
          <p:cNvPr id="26627" name="Rectangle 2"/>
          <p:cNvSpPr>
            <a:spLocks noGrp="1" noChangeArrowheads="1"/>
          </p:cNvSpPr>
          <p:nvPr>
            <p:ph type="title"/>
          </p:nvPr>
        </p:nvSpPr>
        <p:spPr/>
        <p:txBody>
          <a:bodyPr/>
          <a:lstStyle/>
          <a:p>
            <a:pPr eaLnBrk="1" hangingPunct="1"/>
            <a:r>
              <a:rPr lang="en-US" sz="4000" b="1" smtClean="0"/>
              <a:t>TRAVERSALS IN BINARY TREE</a:t>
            </a:r>
            <a:endParaRPr lang="en-US" sz="4000" smtClean="0"/>
          </a:p>
        </p:txBody>
      </p:sp>
      <p:sp>
        <p:nvSpPr>
          <p:cNvPr id="26628" name="Rectangle 3"/>
          <p:cNvSpPr>
            <a:spLocks noGrp="1" noChangeArrowheads="1"/>
          </p:cNvSpPr>
          <p:nvPr>
            <p:ph type="body" idx="1"/>
          </p:nvPr>
        </p:nvSpPr>
        <p:spPr/>
        <p:txBody>
          <a:bodyPr/>
          <a:lstStyle/>
          <a:p>
            <a:pPr eaLnBrk="1" hangingPunct="1"/>
            <a:r>
              <a:rPr lang="en-US" dirty="0" smtClean="0"/>
              <a:t>Traversing of a binary tree refers to pass through the tree, enumerating each of its node once. </a:t>
            </a:r>
          </a:p>
          <a:p>
            <a:pPr eaLnBrk="1" hangingPunct="1"/>
            <a:r>
              <a:rPr lang="en-US" dirty="0" smtClean="0"/>
              <a:t>We may simply wish to print the contents of each node as we pass through. In either case, we speak of visiting each node as it is enumerated.</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9E4EF8DF-53DC-424C-A83D-8AF40AFF7670}" type="slidenum">
              <a:rPr lang="en-US" sz="1400" smtClean="0"/>
              <a:pPr algn="r">
                <a:spcBef>
                  <a:spcPct val="0"/>
                </a:spcBef>
                <a:buFontTx/>
                <a:buNone/>
              </a:pPr>
              <a:t>34</a:t>
            </a:fld>
            <a:endParaRPr lang="en-US" sz="1400" smtClean="0"/>
          </a:p>
        </p:txBody>
      </p:sp>
      <p:sp>
        <p:nvSpPr>
          <p:cNvPr id="27651" name="Rectangle 2"/>
          <p:cNvSpPr>
            <a:spLocks noGrp="1" noChangeArrowheads="1"/>
          </p:cNvSpPr>
          <p:nvPr>
            <p:ph type="title"/>
          </p:nvPr>
        </p:nvSpPr>
        <p:spPr/>
        <p:txBody>
          <a:bodyPr/>
          <a:lstStyle/>
          <a:p>
            <a:pPr eaLnBrk="1" hangingPunct="1"/>
            <a:r>
              <a:rPr lang="en-US" b="1" smtClean="0"/>
              <a:t>Preorder Traversal</a:t>
            </a:r>
          </a:p>
        </p:txBody>
      </p:sp>
      <p:sp>
        <p:nvSpPr>
          <p:cNvPr id="27652" name="Rectangle 3"/>
          <p:cNvSpPr>
            <a:spLocks noGrp="1" noChangeArrowheads="1"/>
          </p:cNvSpPr>
          <p:nvPr>
            <p:ph type="body" idx="1"/>
          </p:nvPr>
        </p:nvSpPr>
        <p:spPr/>
        <p:txBody>
          <a:bodyPr/>
          <a:lstStyle/>
          <a:p>
            <a:pPr marL="609600" indent="-609600" eaLnBrk="1" hangingPunct="1"/>
            <a:r>
              <a:rPr lang="en-US" smtClean="0"/>
              <a:t>To traverse a non empty binary tree in </a:t>
            </a:r>
            <a:r>
              <a:rPr lang="en-US" b="1" smtClean="0"/>
              <a:t>preorder </a:t>
            </a:r>
            <a:r>
              <a:rPr lang="en-US" smtClean="0"/>
              <a:t>(also known as </a:t>
            </a:r>
            <a:r>
              <a:rPr lang="en-US" b="1" smtClean="0"/>
              <a:t>depth first order</a:t>
            </a:r>
            <a:r>
              <a:rPr lang="en-US" smtClean="0"/>
              <a:t>), we perform the following three operations:</a:t>
            </a:r>
          </a:p>
          <a:p>
            <a:pPr marL="990600" lvl="1" indent="-533400" eaLnBrk="1" hangingPunct="1">
              <a:buFontTx/>
              <a:buAutoNum type="arabicPeriod"/>
            </a:pPr>
            <a:r>
              <a:rPr lang="en-US" smtClean="0"/>
              <a:t>Visit the root.</a:t>
            </a:r>
          </a:p>
          <a:p>
            <a:pPr marL="990600" lvl="1" indent="-533400" eaLnBrk="1" hangingPunct="1">
              <a:buFontTx/>
              <a:buAutoNum type="arabicPeriod"/>
            </a:pPr>
            <a:r>
              <a:rPr lang="en-US" smtClean="0"/>
              <a:t>Traverse the left sub tree in preorder.</a:t>
            </a:r>
          </a:p>
          <a:p>
            <a:pPr marL="990600" lvl="1" indent="-533400" eaLnBrk="1" hangingPunct="1">
              <a:buFontTx/>
              <a:buAutoNum type="arabicPeriod"/>
            </a:pPr>
            <a:r>
              <a:rPr lang="en-US" smtClean="0"/>
              <a:t>Traverse the right sub tree in preorder</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7E78928F-AB37-4817-8C05-2175F421BE79}" type="slidenum">
              <a:rPr lang="en-US" sz="1400" smtClean="0"/>
              <a:pPr algn="r">
                <a:spcBef>
                  <a:spcPct val="0"/>
                </a:spcBef>
                <a:buFontTx/>
                <a:buNone/>
              </a:pPr>
              <a:t>35</a:t>
            </a:fld>
            <a:endParaRPr lang="en-US" sz="1400" smtClean="0"/>
          </a:p>
        </p:txBody>
      </p:sp>
      <p:sp>
        <p:nvSpPr>
          <p:cNvPr id="28675" name="Rectangle 2"/>
          <p:cNvSpPr>
            <a:spLocks noGrp="1" noChangeArrowheads="1"/>
          </p:cNvSpPr>
          <p:nvPr>
            <p:ph type="title"/>
          </p:nvPr>
        </p:nvSpPr>
        <p:spPr/>
        <p:txBody>
          <a:bodyPr/>
          <a:lstStyle/>
          <a:p>
            <a:pPr eaLnBrk="1" hangingPunct="1"/>
            <a:r>
              <a:rPr lang="en-US" b="1" smtClean="0"/>
              <a:t>Inorder Traversal</a:t>
            </a:r>
          </a:p>
        </p:txBody>
      </p:sp>
      <p:sp>
        <p:nvSpPr>
          <p:cNvPr id="28676" name="Rectangle 3"/>
          <p:cNvSpPr>
            <a:spLocks noGrp="1" noChangeArrowheads="1"/>
          </p:cNvSpPr>
          <p:nvPr>
            <p:ph type="body" idx="1"/>
          </p:nvPr>
        </p:nvSpPr>
        <p:spPr/>
        <p:txBody>
          <a:bodyPr/>
          <a:lstStyle/>
          <a:p>
            <a:pPr marL="609600" indent="-609600" eaLnBrk="1" hangingPunct="1"/>
            <a:r>
              <a:rPr lang="en-US" smtClean="0"/>
              <a:t>To traverse a non empty binary tree in </a:t>
            </a:r>
            <a:r>
              <a:rPr lang="en-US" b="1" smtClean="0"/>
              <a:t>inorder </a:t>
            </a:r>
            <a:r>
              <a:rPr lang="en-US" smtClean="0"/>
              <a:t>(also known as </a:t>
            </a:r>
            <a:r>
              <a:rPr lang="en-US" b="1" smtClean="0"/>
              <a:t>symmetric order</a:t>
            </a:r>
            <a:r>
              <a:rPr lang="en-US" smtClean="0"/>
              <a:t>):</a:t>
            </a:r>
          </a:p>
          <a:p>
            <a:pPr marL="990600" lvl="1" indent="-533400" eaLnBrk="1" hangingPunct="1">
              <a:buFontTx/>
              <a:buAutoNum type="arabicPeriod"/>
            </a:pPr>
            <a:r>
              <a:rPr lang="en-US" smtClean="0"/>
              <a:t>Traverse the left sub tree in inorder.</a:t>
            </a:r>
          </a:p>
          <a:p>
            <a:pPr marL="990600" lvl="1" indent="-533400" eaLnBrk="1" hangingPunct="1">
              <a:buFontTx/>
              <a:buAutoNum type="arabicPeriod"/>
            </a:pPr>
            <a:r>
              <a:rPr lang="en-US" smtClean="0"/>
              <a:t>Visit the root.</a:t>
            </a:r>
          </a:p>
          <a:p>
            <a:pPr marL="990600" lvl="1" indent="-533400" eaLnBrk="1" hangingPunct="1">
              <a:buFontTx/>
              <a:buAutoNum type="arabicPeriod"/>
            </a:pPr>
            <a:r>
              <a:rPr lang="en-US" smtClean="0"/>
              <a:t>Traverse the right sub tree in inorder</a:t>
            </a:r>
          </a:p>
          <a:p>
            <a:pPr marL="609600" indent="-609600" eaLnBrk="1" hangingPunct="1"/>
            <a:endParaRPr lang="en-US" smtClean="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44A582EB-CBC1-41E6-BE08-13AE6D5D2AA7}" type="slidenum">
              <a:rPr lang="en-US" sz="1400" smtClean="0"/>
              <a:pPr algn="r">
                <a:spcBef>
                  <a:spcPct val="0"/>
                </a:spcBef>
                <a:buFontTx/>
                <a:buNone/>
              </a:pPr>
              <a:t>36</a:t>
            </a:fld>
            <a:endParaRPr lang="en-US" sz="1400" smtClean="0"/>
          </a:p>
        </p:txBody>
      </p:sp>
      <p:sp>
        <p:nvSpPr>
          <p:cNvPr id="29699" name="Rectangle 2"/>
          <p:cNvSpPr>
            <a:spLocks noGrp="1" noChangeArrowheads="1"/>
          </p:cNvSpPr>
          <p:nvPr>
            <p:ph type="title"/>
          </p:nvPr>
        </p:nvSpPr>
        <p:spPr/>
        <p:txBody>
          <a:bodyPr/>
          <a:lstStyle/>
          <a:p>
            <a:pPr eaLnBrk="1" hangingPunct="1"/>
            <a:r>
              <a:rPr lang="en-US" b="1" smtClean="0"/>
              <a:t>Postorder Traversal</a:t>
            </a:r>
          </a:p>
        </p:txBody>
      </p:sp>
      <p:sp>
        <p:nvSpPr>
          <p:cNvPr id="29700" name="Rectangle 3"/>
          <p:cNvSpPr>
            <a:spLocks noGrp="1" noChangeArrowheads="1"/>
          </p:cNvSpPr>
          <p:nvPr>
            <p:ph type="body" idx="1"/>
          </p:nvPr>
        </p:nvSpPr>
        <p:spPr/>
        <p:txBody>
          <a:bodyPr/>
          <a:lstStyle/>
          <a:p>
            <a:pPr marL="609600" indent="-609600" eaLnBrk="1" hangingPunct="1"/>
            <a:r>
              <a:rPr lang="en-US" smtClean="0"/>
              <a:t>To traverse a non empty binary tree in </a:t>
            </a:r>
            <a:r>
              <a:rPr lang="en-US" b="1" smtClean="0"/>
              <a:t>postorder </a:t>
            </a:r>
            <a:r>
              <a:rPr lang="en-US" smtClean="0"/>
              <a:t>:</a:t>
            </a:r>
          </a:p>
          <a:p>
            <a:pPr marL="990600" lvl="1" indent="-533400" eaLnBrk="1" hangingPunct="1">
              <a:buFontTx/>
              <a:buAutoNum type="arabicPeriod"/>
            </a:pPr>
            <a:r>
              <a:rPr lang="en-US" smtClean="0"/>
              <a:t>Traverse the left sub tree in postorder.</a:t>
            </a:r>
          </a:p>
          <a:p>
            <a:pPr marL="990600" lvl="1" indent="-533400" eaLnBrk="1" hangingPunct="1">
              <a:buFontTx/>
              <a:buAutoNum type="arabicPeriod"/>
            </a:pPr>
            <a:r>
              <a:rPr lang="en-US" smtClean="0"/>
              <a:t>Traverse the right sub tree in postorder</a:t>
            </a:r>
          </a:p>
          <a:p>
            <a:pPr marL="990600" lvl="1" indent="-533400" eaLnBrk="1" hangingPunct="1">
              <a:buFontTx/>
              <a:buAutoNum type="arabicPeriod"/>
            </a:pPr>
            <a:r>
              <a:rPr lang="en-US" smtClean="0"/>
              <a:t>Visit the root.</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DBB1E7AB-58F6-422F-AA65-B058DF5DE2F1}" type="slidenum">
              <a:rPr lang="en-US" sz="1400" smtClean="0"/>
              <a:pPr algn="r">
                <a:spcBef>
                  <a:spcPct val="0"/>
                </a:spcBef>
                <a:buFontTx/>
                <a:buNone/>
              </a:pPr>
              <a:t>37</a:t>
            </a:fld>
            <a:endParaRPr lang="en-US" sz="1400" smtClean="0"/>
          </a:p>
        </p:txBody>
      </p:sp>
      <p:sp>
        <p:nvSpPr>
          <p:cNvPr id="30723" name="Line 4"/>
          <p:cNvSpPr>
            <a:spLocks noChangeShapeType="1"/>
          </p:cNvSpPr>
          <p:nvPr/>
        </p:nvSpPr>
        <p:spPr bwMode="auto">
          <a:xfrm>
            <a:off x="2363788" y="3509963"/>
            <a:ext cx="885825" cy="6762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24" name="Oval 5"/>
          <p:cNvSpPr>
            <a:spLocks noChangeArrowheads="1"/>
          </p:cNvSpPr>
          <p:nvPr/>
        </p:nvSpPr>
        <p:spPr bwMode="auto">
          <a:xfrm>
            <a:off x="4038600" y="2362200"/>
            <a:ext cx="663575" cy="676275"/>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2800" b="1"/>
              <a:t>A</a:t>
            </a:r>
            <a:endParaRPr lang="en-US" sz="4000" b="1"/>
          </a:p>
        </p:txBody>
      </p:sp>
      <p:sp>
        <p:nvSpPr>
          <p:cNvPr id="30725" name="Oval 6"/>
          <p:cNvSpPr>
            <a:spLocks noChangeArrowheads="1"/>
          </p:cNvSpPr>
          <p:nvPr/>
        </p:nvSpPr>
        <p:spPr bwMode="auto">
          <a:xfrm>
            <a:off x="6032500" y="5038725"/>
            <a:ext cx="665163" cy="676275"/>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2800" b="1"/>
              <a:t>I</a:t>
            </a:r>
            <a:endParaRPr lang="en-US" sz="4000" b="1"/>
          </a:p>
        </p:txBody>
      </p:sp>
      <p:sp>
        <p:nvSpPr>
          <p:cNvPr id="30726" name="Oval 7"/>
          <p:cNvSpPr>
            <a:spLocks noChangeArrowheads="1"/>
          </p:cNvSpPr>
          <p:nvPr/>
        </p:nvSpPr>
        <p:spPr bwMode="auto">
          <a:xfrm>
            <a:off x="4038600" y="5038725"/>
            <a:ext cx="663575" cy="676275"/>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2800" b="1"/>
              <a:t>H</a:t>
            </a:r>
            <a:endParaRPr lang="en-US" sz="4000" b="1"/>
          </a:p>
        </p:txBody>
      </p:sp>
      <p:sp>
        <p:nvSpPr>
          <p:cNvPr id="30727" name="Oval 8"/>
          <p:cNvSpPr>
            <a:spLocks noChangeArrowheads="1"/>
          </p:cNvSpPr>
          <p:nvPr/>
        </p:nvSpPr>
        <p:spPr bwMode="auto">
          <a:xfrm>
            <a:off x="7362825" y="3910013"/>
            <a:ext cx="665163" cy="677862"/>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2800" b="1"/>
              <a:t>F</a:t>
            </a:r>
            <a:endParaRPr lang="en-US" sz="4000" b="1"/>
          </a:p>
        </p:txBody>
      </p:sp>
      <p:sp>
        <p:nvSpPr>
          <p:cNvPr id="30728" name="Oval 9"/>
          <p:cNvSpPr>
            <a:spLocks noChangeArrowheads="1"/>
          </p:cNvSpPr>
          <p:nvPr/>
        </p:nvSpPr>
        <p:spPr bwMode="auto">
          <a:xfrm>
            <a:off x="4924425" y="4137025"/>
            <a:ext cx="665163" cy="676275"/>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2800" b="1"/>
              <a:t>E</a:t>
            </a:r>
            <a:endParaRPr lang="en-US" sz="4000" b="1"/>
          </a:p>
        </p:txBody>
      </p:sp>
      <p:sp>
        <p:nvSpPr>
          <p:cNvPr id="30729" name="Oval 10"/>
          <p:cNvSpPr>
            <a:spLocks noChangeArrowheads="1"/>
          </p:cNvSpPr>
          <p:nvPr/>
        </p:nvSpPr>
        <p:spPr bwMode="auto">
          <a:xfrm>
            <a:off x="6032500" y="3233738"/>
            <a:ext cx="665163" cy="676275"/>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2800" b="1"/>
              <a:t>C</a:t>
            </a:r>
            <a:endParaRPr lang="en-US" sz="4000" b="1"/>
          </a:p>
        </p:txBody>
      </p:sp>
      <p:sp>
        <p:nvSpPr>
          <p:cNvPr id="30730" name="Oval 11"/>
          <p:cNvSpPr>
            <a:spLocks noChangeArrowheads="1"/>
          </p:cNvSpPr>
          <p:nvPr/>
        </p:nvSpPr>
        <p:spPr bwMode="auto">
          <a:xfrm>
            <a:off x="3151188" y="4052888"/>
            <a:ext cx="665162" cy="676275"/>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2800" b="1"/>
              <a:t>G</a:t>
            </a:r>
            <a:endParaRPr lang="en-US" sz="4000" b="1"/>
          </a:p>
        </p:txBody>
      </p:sp>
      <p:sp>
        <p:nvSpPr>
          <p:cNvPr id="30731" name="Oval 12"/>
          <p:cNvSpPr>
            <a:spLocks noChangeArrowheads="1"/>
          </p:cNvSpPr>
          <p:nvPr/>
        </p:nvSpPr>
        <p:spPr bwMode="auto">
          <a:xfrm>
            <a:off x="712788" y="3910013"/>
            <a:ext cx="665162" cy="677862"/>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2800" b="1"/>
              <a:t>D</a:t>
            </a:r>
            <a:endParaRPr lang="en-US" sz="4000" b="1"/>
          </a:p>
        </p:txBody>
      </p:sp>
      <p:sp>
        <p:nvSpPr>
          <p:cNvPr id="30732" name="Oval 13"/>
          <p:cNvSpPr>
            <a:spLocks noChangeArrowheads="1"/>
          </p:cNvSpPr>
          <p:nvPr/>
        </p:nvSpPr>
        <p:spPr bwMode="auto">
          <a:xfrm>
            <a:off x="2043113" y="3233738"/>
            <a:ext cx="665162" cy="676275"/>
          </a:xfrm>
          <a:prstGeom prst="ellipse">
            <a:avLst/>
          </a:prstGeom>
          <a:solidFill>
            <a:srgbClr val="FFFFFF"/>
          </a:solidFill>
          <a:ln w="9525">
            <a:solidFill>
              <a:srgbClr val="000000"/>
            </a:solidFill>
            <a:round/>
            <a:headEnd/>
            <a:tailEnd/>
          </a:ln>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US" sz="2800" b="1" dirty="0"/>
              <a:t>B</a:t>
            </a:r>
            <a:endParaRPr lang="en-US" sz="4000" b="1" dirty="0"/>
          </a:p>
        </p:txBody>
      </p:sp>
      <p:sp>
        <p:nvSpPr>
          <p:cNvPr id="30733" name="Line 14"/>
          <p:cNvSpPr>
            <a:spLocks noChangeShapeType="1"/>
          </p:cNvSpPr>
          <p:nvPr/>
        </p:nvSpPr>
        <p:spPr bwMode="auto">
          <a:xfrm flipH="1">
            <a:off x="2708275" y="2782888"/>
            <a:ext cx="1330325" cy="6762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4" name="Line 15"/>
          <p:cNvSpPr>
            <a:spLocks noChangeShapeType="1"/>
          </p:cNvSpPr>
          <p:nvPr/>
        </p:nvSpPr>
        <p:spPr bwMode="auto">
          <a:xfrm flipH="1">
            <a:off x="1377950" y="3684588"/>
            <a:ext cx="665163" cy="4524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5" name="Line 16"/>
          <p:cNvSpPr>
            <a:spLocks noChangeShapeType="1"/>
          </p:cNvSpPr>
          <p:nvPr/>
        </p:nvSpPr>
        <p:spPr bwMode="auto">
          <a:xfrm>
            <a:off x="4702175" y="2813050"/>
            <a:ext cx="1330325" cy="6762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6" name="Line 17"/>
          <p:cNvSpPr>
            <a:spLocks noChangeShapeType="1"/>
          </p:cNvSpPr>
          <p:nvPr/>
        </p:nvSpPr>
        <p:spPr bwMode="auto">
          <a:xfrm>
            <a:off x="6697663" y="3654425"/>
            <a:ext cx="665162" cy="482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7" name="Line 18"/>
          <p:cNvSpPr>
            <a:spLocks noChangeShapeType="1"/>
          </p:cNvSpPr>
          <p:nvPr/>
        </p:nvSpPr>
        <p:spPr bwMode="auto">
          <a:xfrm flipH="1">
            <a:off x="5486400" y="3733800"/>
            <a:ext cx="533400" cy="4508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8" name="Line 19"/>
          <p:cNvSpPr>
            <a:spLocks noChangeShapeType="1"/>
          </p:cNvSpPr>
          <p:nvPr/>
        </p:nvSpPr>
        <p:spPr bwMode="auto">
          <a:xfrm>
            <a:off x="5589588" y="4556125"/>
            <a:ext cx="665162" cy="482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9" name="Line 20"/>
          <p:cNvSpPr>
            <a:spLocks noChangeShapeType="1"/>
          </p:cNvSpPr>
          <p:nvPr/>
        </p:nvSpPr>
        <p:spPr bwMode="auto">
          <a:xfrm flipH="1">
            <a:off x="4481513" y="4587875"/>
            <a:ext cx="442912" cy="4508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 name="Text Box 35"/>
          <p:cNvSpPr txBox="1">
            <a:spLocks noChangeArrowheads="1"/>
          </p:cNvSpPr>
          <p:nvPr/>
        </p:nvSpPr>
        <p:spPr bwMode="auto">
          <a:xfrm>
            <a:off x="484187" y="498475"/>
            <a:ext cx="7772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50000"/>
              </a:spcBef>
              <a:buFontTx/>
              <a:buNone/>
            </a:pPr>
            <a:r>
              <a:rPr lang="en-US" sz="2800" b="1" u="sng" dirty="0"/>
              <a:t>PROBLEM:</a:t>
            </a:r>
            <a:r>
              <a:rPr lang="en-US" sz="2800" b="1" dirty="0"/>
              <a:t> Write the preorder, </a:t>
            </a:r>
            <a:r>
              <a:rPr lang="en-US" sz="2800" b="1" dirty="0" err="1"/>
              <a:t>inorder</a:t>
            </a:r>
            <a:r>
              <a:rPr lang="en-US" sz="2800" b="1" dirty="0"/>
              <a:t> and </a:t>
            </a:r>
            <a:r>
              <a:rPr lang="en-US" sz="2800" b="1" dirty="0" err="1"/>
              <a:t>postorder</a:t>
            </a:r>
            <a:r>
              <a:rPr lang="en-US" sz="2800" b="1" dirty="0"/>
              <a:t> sequence of nodes.</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72A6BD76-3C46-44E3-B8B0-773DB1DC640B}" type="slidenum">
              <a:rPr lang="en-US" sz="1400" smtClean="0"/>
              <a:pPr algn="r">
                <a:spcBef>
                  <a:spcPct val="0"/>
                </a:spcBef>
                <a:buFontTx/>
                <a:buNone/>
              </a:pPr>
              <a:t>38</a:t>
            </a:fld>
            <a:endParaRPr lang="en-US" sz="1400" smtClean="0"/>
          </a:p>
        </p:txBody>
      </p:sp>
      <p:sp>
        <p:nvSpPr>
          <p:cNvPr id="31747" name="Rectangle 2"/>
          <p:cNvSpPr>
            <a:spLocks noChangeArrowheads="1"/>
          </p:cNvSpPr>
          <p:nvPr/>
        </p:nvSpPr>
        <p:spPr bwMode="auto">
          <a:xfrm>
            <a:off x="990600" y="762000"/>
            <a:ext cx="72390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sz="3600" b="1" dirty="0"/>
              <a:t>Preorder:  A B D G C E H I F</a:t>
            </a:r>
          </a:p>
          <a:p>
            <a:pPr eaLnBrk="1" hangingPunct="1">
              <a:spcBef>
                <a:spcPct val="0"/>
              </a:spcBef>
              <a:buFontTx/>
              <a:buNone/>
            </a:pPr>
            <a:r>
              <a:rPr lang="en-US" sz="3600" b="1" dirty="0" err="1"/>
              <a:t>Inorder</a:t>
            </a:r>
            <a:r>
              <a:rPr lang="en-US" sz="3600" b="1" dirty="0"/>
              <a:t>:  D B G A H E I C F</a:t>
            </a:r>
          </a:p>
          <a:p>
            <a:pPr eaLnBrk="1" hangingPunct="1">
              <a:spcBef>
                <a:spcPct val="0"/>
              </a:spcBef>
              <a:buFontTx/>
              <a:buNone/>
            </a:pPr>
            <a:r>
              <a:rPr lang="en-US" sz="3600" b="1" dirty="0" err="1"/>
              <a:t>Postorder</a:t>
            </a:r>
            <a:r>
              <a:rPr lang="en-US" sz="3600" b="1" dirty="0"/>
              <a:t>: D G B H I E F C A</a:t>
            </a:r>
          </a:p>
          <a:p>
            <a:pPr>
              <a:spcBef>
                <a:spcPct val="0"/>
              </a:spcBef>
              <a:buFontTx/>
              <a:buNone/>
            </a:pPr>
            <a:endParaRPr lang="en-US" sz="3600" b="1"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0324CAF3-A33B-467E-950A-AF694BDA01F7}" type="slidenum">
              <a:rPr lang="en-US" sz="1400" smtClean="0"/>
              <a:pPr algn="r">
                <a:spcBef>
                  <a:spcPct val="0"/>
                </a:spcBef>
                <a:buFontTx/>
                <a:buNone/>
              </a:pPr>
              <a:t>39</a:t>
            </a:fld>
            <a:endParaRPr lang="en-US" sz="1400" smtClean="0"/>
          </a:p>
        </p:txBody>
      </p:sp>
      <p:sp>
        <p:nvSpPr>
          <p:cNvPr id="32771" name="Oval 2"/>
          <p:cNvSpPr>
            <a:spLocks noChangeArrowheads="1"/>
          </p:cNvSpPr>
          <p:nvPr/>
        </p:nvSpPr>
        <p:spPr bwMode="auto">
          <a:xfrm>
            <a:off x="3581400" y="11430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A</a:t>
            </a:r>
          </a:p>
        </p:txBody>
      </p:sp>
      <p:sp>
        <p:nvSpPr>
          <p:cNvPr id="32772" name="Oval 4"/>
          <p:cNvSpPr>
            <a:spLocks noChangeArrowheads="1"/>
          </p:cNvSpPr>
          <p:nvPr/>
        </p:nvSpPr>
        <p:spPr bwMode="auto">
          <a:xfrm>
            <a:off x="5334000" y="21336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C</a:t>
            </a:r>
          </a:p>
        </p:txBody>
      </p:sp>
      <p:sp>
        <p:nvSpPr>
          <p:cNvPr id="32773" name="Oval 5"/>
          <p:cNvSpPr>
            <a:spLocks noChangeArrowheads="1"/>
          </p:cNvSpPr>
          <p:nvPr/>
        </p:nvSpPr>
        <p:spPr bwMode="auto">
          <a:xfrm>
            <a:off x="1752600" y="47244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F</a:t>
            </a:r>
          </a:p>
        </p:txBody>
      </p:sp>
      <p:sp>
        <p:nvSpPr>
          <p:cNvPr id="32774" name="Oval 6"/>
          <p:cNvSpPr>
            <a:spLocks noChangeArrowheads="1"/>
          </p:cNvSpPr>
          <p:nvPr/>
        </p:nvSpPr>
        <p:spPr bwMode="auto">
          <a:xfrm>
            <a:off x="2438400" y="34290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E</a:t>
            </a:r>
          </a:p>
        </p:txBody>
      </p:sp>
      <p:sp>
        <p:nvSpPr>
          <p:cNvPr id="32775" name="Oval 7"/>
          <p:cNvSpPr>
            <a:spLocks noChangeArrowheads="1"/>
          </p:cNvSpPr>
          <p:nvPr/>
        </p:nvSpPr>
        <p:spPr bwMode="auto">
          <a:xfrm>
            <a:off x="5410200" y="46482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J</a:t>
            </a:r>
          </a:p>
        </p:txBody>
      </p:sp>
      <p:sp>
        <p:nvSpPr>
          <p:cNvPr id="32776" name="Oval 8"/>
          <p:cNvSpPr>
            <a:spLocks noChangeArrowheads="1"/>
          </p:cNvSpPr>
          <p:nvPr/>
        </p:nvSpPr>
        <p:spPr bwMode="auto">
          <a:xfrm>
            <a:off x="1752600" y="22860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B</a:t>
            </a:r>
          </a:p>
        </p:txBody>
      </p:sp>
      <p:sp>
        <p:nvSpPr>
          <p:cNvPr id="32777" name="Oval 9"/>
          <p:cNvSpPr>
            <a:spLocks noChangeArrowheads="1"/>
          </p:cNvSpPr>
          <p:nvPr/>
        </p:nvSpPr>
        <p:spPr bwMode="auto">
          <a:xfrm>
            <a:off x="4648200" y="33528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G</a:t>
            </a:r>
          </a:p>
        </p:txBody>
      </p:sp>
      <p:sp>
        <p:nvSpPr>
          <p:cNvPr id="32778" name="Oval 10"/>
          <p:cNvSpPr>
            <a:spLocks noChangeArrowheads="1"/>
          </p:cNvSpPr>
          <p:nvPr/>
        </p:nvSpPr>
        <p:spPr bwMode="auto">
          <a:xfrm>
            <a:off x="7772400" y="46482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K</a:t>
            </a:r>
          </a:p>
        </p:txBody>
      </p:sp>
      <p:sp>
        <p:nvSpPr>
          <p:cNvPr id="32779" name="Oval 12"/>
          <p:cNvSpPr>
            <a:spLocks noChangeArrowheads="1"/>
          </p:cNvSpPr>
          <p:nvPr/>
        </p:nvSpPr>
        <p:spPr bwMode="auto">
          <a:xfrm>
            <a:off x="6553200" y="33528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H</a:t>
            </a:r>
          </a:p>
        </p:txBody>
      </p:sp>
      <p:sp>
        <p:nvSpPr>
          <p:cNvPr id="32780" name="Oval 14"/>
          <p:cNvSpPr>
            <a:spLocks noChangeArrowheads="1"/>
          </p:cNvSpPr>
          <p:nvPr/>
        </p:nvSpPr>
        <p:spPr bwMode="auto">
          <a:xfrm>
            <a:off x="685800" y="34290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D</a:t>
            </a:r>
          </a:p>
        </p:txBody>
      </p:sp>
      <p:sp>
        <p:nvSpPr>
          <p:cNvPr id="32781" name="Line 15"/>
          <p:cNvSpPr>
            <a:spLocks noChangeShapeType="1"/>
          </p:cNvSpPr>
          <p:nvPr/>
        </p:nvSpPr>
        <p:spPr bwMode="auto">
          <a:xfrm flipH="1">
            <a:off x="2286000" y="1524000"/>
            <a:ext cx="1295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2" name="Line 16"/>
          <p:cNvSpPr>
            <a:spLocks noChangeShapeType="1"/>
          </p:cNvSpPr>
          <p:nvPr/>
        </p:nvSpPr>
        <p:spPr bwMode="auto">
          <a:xfrm flipH="1">
            <a:off x="1066800" y="2743200"/>
            <a:ext cx="7620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3" name="Line 19"/>
          <p:cNvSpPr>
            <a:spLocks noChangeShapeType="1"/>
          </p:cNvSpPr>
          <p:nvPr/>
        </p:nvSpPr>
        <p:spPr bwMode="auto">
          <a:xfrm>
            <a:off x="2133600" y="2819400"/>
            <a:ext cx="4572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4" name="Line 20"/>
          <p:cNvSpPr>
            <a:spLocks noChangeShapeType="1"/>
          </p:cNvSpPr>
          <p:nvPr/>
        </p:nvSpPr>
        <p:spPr bwMode="auto">
          <a:xfrm flipH="1">
            <a:off x="2209800" y="3962400"/>
            <a:ext cx="3810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5" name="Line 21"/>
          <p:cNvSpPr>
            <a:spLocks noChangeShapeType="1"/>
          </p:cNvSpPr>
          <p:nvPr/>
        </p:nvSpPr>
        <p:spPr bwMode="auto">
          <a:xfrm>
            <a:off x="4191000" y="1447800"/>
            <a:ext cx="12192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6" name="Line 22"/>
          <p:cNvSpPr>
            <a:spLocks noChangeShapeType="1"/>
          </p:cNvSpPr>
          <p:nvPr/>
        </p:nvSpPr>
        <p:spPr bwMode="auto">
          <a:xfrm flipH="1">
            <a:off x="5029200" y="2667000"/>
            <a:ext cx="4572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7" name="Line 23"/>
          <p:cNvSpPr>
            <a:spLocks noChangeShapeType="1"/>
          </p:cNvSpPr>
          <p:nvPr/>
        </p:nvSpPr>
        <p:spPr bwMode="auto">
          <a:xfrm>
            <a:off x="5867400" y="2590800"/>
            <a:ext cx="8382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8" name="Line 24"/>
          <p:cNvSpPr>
            <a:spLocks noChangeShapeType="1"/>
          </p:cNvSpPr>
          <p:nvPr/>
        </p:nvSpPr>
        <p:spPr bwMode="auto">
          <a:xfrm flipH="1">
            <a:off x="4876800" y="5105400"/>
            <a:ext cx="6858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9" name="Line 25"/>
          <p:cNvSpPr>
            <a:spLocks noChangeShapeType="1"/>
          </p:cNvSpPr>
          <p:nvPr/>
        </p:nvSpPr>
        <p:spPr bwMode="auto">
          <a:xfrm flipH="1">
            <a:off x="5943600" y="3810000"/>
            <a:ext cx="6858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90" name="Line 26"/>
          <p:cNvSpPr>
            <a:spLocks noChangeShapeType="1"/>
          </p:cNvSpPr>
          <p:nvPr/>
        </p:nvSpPr>
        <p:spPr bwMode="auto">
          <a:xfrm>
            <a:off x="7086600" y="3810000"/>
            <a:ext cx="9144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91" name="Oval 32"/>
          <p:cNvSpPr>
            <a:spLocks noChangeArrowheads="1"/>
          </p:cNvSpPr>
          <p:nvPr/>
        </p:nvSpPr>
        <p:spPr bwMode="auto">
          <a:xfrm>
            <a:off x="4419600" y="59436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L</a:t>
            </a:r>
          </a:p>
        </p:txBody>
      </p:sp>
      <p:sp>
        <p:nvSpPr>
          <p:cNvPr id="32792" name="Text Box 33"/>
          <p:cNvSpPr txBox="1">
            <a:spLocks noChangeArrowheads="1"/>
          </p:cNvSpPr>
          <p:nvPr/>
        </p:nvSpPr>
        <p:spPr bwMode="auto">
          <a:xfrm>
            <a:off x="533400" y="5638800"/>
            <a:ext cx="7391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50000"/>
              </a:spcBef>
              <a:buFontTx/>
              <a:buNone/>
            </a:pPr>
            <a:endParaRPr lang="en-US" sz="1800"/>
          </a:p>
        </p:txBody>
      </p:sp>
      <p:sp>
        <p:nvSpPr>
          <p:cNvPr id="32793" name="Text Box 35"/>
          <p:cNvSpPr txBox="1">
            <a:spLocks noChangeArrowheads="1"/>
          </p:cNvSpPr>
          <p:nvPr/>
        </p:nvSpPr>
        <p:spPr bwMode="auto">
          <a:xfrm>
            <a:off x="533400" y="76200"/>
            <a:ext cx="7772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50000"/>
              </a:spcBef>
              <a:buFontTx/>
              <a:buNone/>
            </a:pPr>
            <a:r>
              <a:rPr lang="en-US" sz="2800" b="1" u="sng" dirty="0"/>
              <a:t>PROBLEM:</a:t>
            </a:r>
            <a:r>
              <a:rPr lang="en-US" sz="2800" b="1" dirty="0"/>
              <a:t> Write the preorder, </a:t>
            </a:r>
            <a:r>
              <a:rPr lang="en-US" sz="2800" b="1" dirty="0" err="1"/>
              <a:t>inorder</a:t>
            </a:r>
            <a:r>
              <a:rPr lang="en-US" sz="2800" b="1" dirty="0"/>
              <a:t> and </a:t>
            </a:r>
            <a:r>
              <a:rPr lang="en-US" sz="2800" b="1" dirty="0" err="1"/>
              <a:t>postorder</a:t>
            </a:r>
            <a:r>
              <a:rPr lang="en-US" sz="2800" b="1" dirty="0"/>
              <a:t> sequence of nodes.</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E9591B2E-6E2E-46A2-9776-094D7B47D4B0}" type="slidenum">
              <a:rPr lang="en-US" sz="1400" smtClean="0"/>
              <a:pPr algn="r">
                <a:spcBef>
                  <a:spcPct val="0"/>
                </a:spcBef>
                <a:buFontTx/>
                <a:buNone/>
              </a:pPr>
              <a:t>40</a:t>
            </a:fld>
            <a:endParaRPr lang="en-US" sz="1400" smtClean="0"/>
          </a:p>
        </p:txBody>
      </p:sp>
      <p:sp>
        <p:nvSpPr>
          <p:cNvPr id="33795" name="Rectangle 4"/>
          <p:cNvSpPr>
            <a:spLocks noGrp="1" noChangeArrowheads="1"/>
          </p:cNvSpPr>
          <p:nvPr>
            <p:ph type="body" idx="1"/>
          </p:nvPr>
        </p:nvSpPr>
        <p:spPr>
          <a:xfrm>
            <a:off x="457200" y="457200"/>
            <a:ext cx="8229600" cy="2971800"/>
          </a:xfrm>
          <a:noFill/>
        </p:spPr>
        <p:txBody>
          <a:bodyPr/>
          <a:lstStyle/>
          <a:p>
            <a:pPr eaLnBrk="1" hangingPunct="1">
              <a:buFontTx/>
              <a:buNone/>
            </a:pPr>
            <a:r>
              <a:rPr lang="en-US" b="1" u="sng" dirty="0" smtClean="0"/>
              <a:t>OUTPUT</a:t>
            </a:r>
          </a:p>
          <a:p>
            <a:pPr eaLnBrk="1" hangingPunct="1"/>
            <a:r>
              <a:rPr lang="en-US" b="1" dirty="0" smtClean="0"/>
              <a:t>Preorder: A B D E F C G H J L K</a:t>
            </a:r>
          </a:p>
          <a:p>
            <a:pPr eaLnBrk="1" hangingPunct="1"/>
            <a:r>
              <a:rPr lang="en-US" b="1" dirty="0" err="1" smtClean="0"/>
              <a:t>Inorder</a:t>
            </a:r>
            <a:r>
              <a:rPr lang="en-US" b="1" dirty="0" smtClean="0"/>
              <a:t>: D B F E A G C L J H K</a:t>
            </a:r>
          </a:p>
          <a:p>
            <a:pPr eaLnBrk="1" hangingPunct="1"/>
            <a:r>
              <a:rPr lang="en-US" b="1" dirty="0" err="1" smtClean="0"/>
              <a:t>Postorder</a:t>
            </a:r>
            <a:r>
              <a:rPr lang="en-US" b="1" dirty="0" smtClean="0"/>
              <a:t>: D F E B G L J K H C A</a:t>
            </a:r>
            <a:endParaRPr lang="en-US" sz="3600" b="1" dirty="0" smtClean="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21EE02DE-03F7-4693-BA77-BE6592C72308}" type="slidenum">
              <a:rPr lang="en-US" sz="1400" smtClean="0"/>
              <a:pPr algn="r">
                <a:spcBef>
                  <a:spcPct val="0"/>
                </a:spcBef>
                <a:buFontTx/>
                <a:buNone/>
              </a:pPr>
              <a:t>41</a:t>
            </a:fld>
            <a:endParaRPr lang="en-US" sz="1400" smtClean="0"/>
          </a:p>
        </p:txBody>
      </p:sp>
      <p:sp>
        <p:nvSpPr>
          <p:cNvPr id="34820" name="Text Box 35"/>
          <p:cNvSpPr txBox="1">
            <a:spLocks noChangeArrowheads="1"/>
          </p:cNvSpPr>
          <p:nvPr/>
        </p:nvSpPr>
        <p:spPr bwMode="auto">
          <a:xfrm>
            <a:off x="533400" y="76200"/>
            <a:ext cx="7772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50000"/>
              </a:spcBef>
              <a:buFontTx/>
              <a:buNone/>
            </a:pPr>
            <a:r>
              <a:rPr lang="en-US" sz="2800" b="1" u="sng" dirty="0"/>
              <a:t>PROBLEM:</a:t>
            </a:r>
            <a:r>
              <a:rPr lang="en-US" sz="2800" b="1" dirty="0"/>
              <a:t> Write the preorder, </a:t>
            </a:r>
            <a:r>
              <a:rPr lang="en-US" sz="2800" b="1" dirty="0" err="1"/>
              <a:t>inorder</a:t>
            </a:r>
            <a:r>
              <a:rPr lang="en-US" sz="2800" b="1" dirty="0"/>
              <a:t> and </a:t>
            </a:r>
            <a:r>
              <a:rPr lang="en-US" sz="2800" b="1" dirty="0" err="1"/>
              <a:t>postorder</a:t>
            </a:r>
            <a:r>
              <a:rPr lang="en-US" sz="2800" b="1" dirty="0"/>
              <a:t> sequence of nodes.</a:t>
            </a:r>
          </a:p>
        </p:txBody>
      </p:sp>
      <p:pic>
        <p:nvPicPr>
          <p:cNvPr id="2" name="Picture 1"/>
          <p:cNvPicPr>
            <a:picLocks noChangeAspect="1"/>
          </p:cNvPicPr>
          <p:nvPr/>
        </p:nvPicPr>
        <p:blipFill>
          <a:blip r:embed="rId2"/>
          <a:stretch>
            <a:fillRect/>
          </a:stretch>
        </p:blipFill>
        <p:spPr>
          <a:xfrm>
            <a:off x="1555659" y="1260475"/>
            <a:ext cx="4967061" cy="5222875"/>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DFB23298-DD53-4E44-A580-0F2456B8DC1B}" type="slidenum">
              <a:rPr lang="en-US" smtClean="0"/>
              <a:pPr>
                <a:defRPr/>
              </a:pPr>
              <a:t>42</a:t>
            </a:fld>
            <a:endParaRPr lang="en-US"/>
          </a:p>
        </p:txBody>
      </p:sp>
      <p:sp>
        <p:nvSpPr>
          <p:cNvPr id="4" name="Rectangle 4"/>
          <p:cNvSpPr txBox="1">
            <a:spLocks noChangeArrowheads="1"/>
          </p:cNvSpPr>
          <p:nvPr/>
        </p:nvSpPr>
        <p:spPr>
          <a:xfrm>
            <a:off x="457200" y="914400"/>
            <a:ext cx="8229600" cy="2971800"/>
          </a:xfrm>
          <a:prstGeom prst="rect">
            <a:avLst/>
          </a:prstGeom>
          <a:noFill/>
        </p:spPr>
        <p:txBody>
          <a:bodyPr/>
          <a:lstStyle>
            <a:lvl1pPr marL="342900" indent="-342900" algn="just"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just" rtl="0" eaLnBrk="0" fontAlgn="base" hangingPunct="0">
              <a:spcBef>
                <a:spcPct val="20000"/>
              </a:spcBef>
              <a:spcAft>
                <a:spcPct val="0"/>
              </a:spcAft>
              <a:buChar char="–"/>
              <a:defRPr sz="2800">
                <a:solidFill>
                  <a:schemeClr val="tx1"/>
                </a:solidFill>
                <a:latin typeface="+mn-lt"/>
              </a:defRPr>
            </a:lvl2pPr>
            <a:lvl3pPr marL="1143000" indent="-228600" algn="just" rtl="0" eaLnBrk="0" fontAlgn="base" hangingPunct="0">
              <a:spcBef>
                <a:spcPct val="20000"/>
              </a:spcBef>
              <a:spcAft>
                <a:spcPct val="0"/>
              </a:spcAft>
              <a:buChar char="•"/>
              <a:defRPr sz="2400">
                <a:solidFill>
                  <a:schemeClr val="tx1"/>
                </a:solidFill>
                <a:latin typeface="+mn-lt"/>
              </a:defRPr>
            </a:lvl3pPr>
            <a:lvl4pPr marL="1600200" indent="-228600" algn="just" rtl="0" eaLnBrk="0" fontAlgn="base" hangingPunct="0">
              <a:spcBef>
                <a:spcPct val="20000"/>
              </a:spcBef>
              <a:spcAft>
                <a:spcPct val="0"/>
              </a:spcAft>
              <a:buChar char="–"/>
              <a:defRPr sz="2000">
                <a:solidFill>
                  <a:schemeClr val="tx1"/>
                </a:solidFill>
                <a:latin typeface="+mn-lt"/>
              </a:defRPr>
            </a:lvl4pPr>
            <a:lvl5pPr marL="2057400" indent="-228600" algn="just" rtl="0" eaLnBrk="0" fontAlgn="base" hangingPunct="0">
              <a:spcBef>
                <a:spcPct val="20000"/>
              </a:spcBef>
              <a:spcAft>
                <a:spcPct val="0"/>
              </a:spcAft>
              <a:buChar char="»"/>
              <a:defRPr sz="2000">
                <a:solidFill>
                  <a:schemeClr val="tx1"/>
                </a:solidFill>
                <a:latin typeface="+mn-lt"/>
              </a:defRPr>
            </a:lvl5pPr>
            <a:lvl6pPr marL="2514600" indent="-228600" algn="just" rtl="0" fontAlgn="base">
              <a:spcBef>
                <a:spcPct val="20000"/>
              </a:spcBef>
              <a:spcAft>
                <a:spcPct val="0"/>
              </a:spcAft>
              <a:buChar char="»"/>
              <a:defRPr sz="2000">
                <a:solidFill>
                  <a:schemeClr val="tx1"/>
                </a:solidFill>
                <a:latin typeface="+mn-lt"/>
              </a:defRPr>
            </a:lvl6pPr>
            <a:lvl7pPr marL="2971800" indent="-228600" algn="just" rtl="0" fontAlgn="base">
              <a:spcBef>
                <a:spcPct val="20000"/>
              </a:spcBef>
              <a:spcAft>
                <a:spcPct val="0"/>
              </a:spcAft>
              <a:buChar char="»"/>
              <a:defRPr sz="2000">
                <a:solidFill>
                  <a:schemeClr val="tx1"/>
                </a:solidFill>
                <a:latin typeface="+mn-lt"/>
              </a:defRPr>
            </a:lvl7pPr>
            <a:lvl8pPr marL="3429000" indent="-228600" algn="just" rtl="0" fontAlgn="base">
              <a:spcBef>
                <a:spcPct val="20000"/>
              </a:spcBef>
              <a:spcAft>
                <a:spcPct val="0"/>
              </a:spcAft>
              <a:buChar char="»"/>
              <a:defRPr sz="2000">
                <a:solidFill>
                  <a:schemeClr val="tx1"/>
                </a:solidFill>
                <a:latin typeface="+mn-lt"/>
              </a:defRPr>
            </a:lvl8pPr>
            <a:lvl9pPr marL="3886200" indent="-228600" algn="just" rtl="0" fontAlgn="base">
              <a:spcBef>
                <a:spcPct val="20000"/>
              </a:spcBef>
              <a:spcAft>
                <a:spcPct val="0"/>
              </a:spcAft>
              <a:buChar char="»"/>
              <a:defRPr sz="2000">
                <a:solidFill>
                  <a:schemeClr val="tx1"/>
                </a:solidFill>
                <a:latin typeface="+mn-lt"/>
              </a:defRPr>
            </a:lvl9pPr>
          </a:lstStyle>
          <a:p>
            <a:pPr eaLnBrk="1" hangingPunct="1">
              <a:buFontTx/>
              <a:buNone/>
            </a:pPr>
            <a:r>
              <a:rPr lang="en-US" b="1" u="sng" kern="0" dirty="0" smtClean="0"/>
              <a:t>OUTPUT</a:t>
            </a:r>
          </a:p>
          <a:p>
            <a:pPr eaLnBrk="1" hangingPunct="1"/>
            <a:r>
              <a:rPr lang="en-US" b="1" kern="0" dirty="0" smtClean="0"/>
              <a:t>Preorder: A,B,D,G,,H,L,E,C,F,I,J,K</a:t>
            </a:r>
          </a:p>
          <a:p>
            <a:pPr eaLnBrk="1" hangingPunct="1"/>
            <a:r>
              <a:rPr lang="en-US" b="1" kern="0" dirty="0" err="1" smtClean="0"/>
              <a:t>Inorder</a:t>
            </a:r>
            <a:r>
              <a:rPr lang="en-US" b="1" kern="0" dirty="0" smtClean="0"/>
              <a:t>: G,D,H,L,B,E,A,C,I,F,K,J</a:t>
            </a:r>
          </a:p>
          <a:p>
            <a:pPr eaLnBrk="1" hangingPunct="1"/>
            <a:r>
              <a:rPr lang="en-US" b="1" kern="0" dirty="0" err="1" smtClean="0"/>
              <a:t>Postorder:G,L,H,D,E,B,I,K,J,F,C,A</a:t>
            </a:r>
            <a:endParaRPr lang="en-US" sz="3600" b="1" kern="0" dirty="0" smtClean="0"/>
          </a:p>
        </p:txBody>
      </p:sp>
    </p:spTree>
    <p:extLst>
      <p:ext uri="{BB962C8B-B14F-4D97-AF65-F5344CB8AC3E}">
        <p14:creationId xmlns:p14="http://schemas.microsoft.com/office/powerpoint/2010/main" val="348202515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DFB23298-DD53-4E44-A580-0F2456B8DC1B}" type="slidenum">
              <a:rPr lang="en-US" smtClean="0"/>
              <a:pPr>
                <a:defRPr/>
              </a:pPr>
              <a:t>43</a:t>
            </a:fld>
            <a:endParaRPr lang="en-US"/>
          </a:p>
        </p:txBody>
      </p:sp>
      <p:pic>
        <p:nvPicPr>
          <p:cNvPr id="4" name="Picture 3"/>
          <p:cNvPicPr>
            <a:picLocks noChangeAspect="1"/>
          </p:cNvPicPr>
          <p:nvPr/>
        </p:nvPicPr>
        <p:blipFill>
          <a:blip r:embed="rId2"/>
          <a:stretch>
            <a:fillRect/>
          </a:stretch>
        </p:blipFill>
        <p:spPr>
          <a:xfrm>
            <a:off x="2209800" y="1682750"/>
            <a:ext cx="3886200" cy="4800600"/>
          </a:xfrm>
          <a:prstGeom prst="rect">
            <a:avLst/>
          </a:prstGeom>
        </p:spPr>
      </p:pic>
      <p:sp>
        <p:nvSpPr>
          <p:cNvPr id="5" name="Text Box 35"/>
          <p:cNvSpPr txBox="1">
            <a:spLocks noGrp="1" noChangeArrowheads="1"/>
          </p:cNvSpPr>
          <p:nvPr>
            <p:ph type="title"/>
          </p:nvPr>
        </p:nvSpPr>
        <p:spPr bwMode="auto">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50000"/>
              </a:spcBef>
              <a:buFontTx/>
              <a:buNone/>
            </a:pPr>
            <a:r>
              <a:rPr lang="en-US" sz="2800" b="1" u="sng" dirty="0"/>
              <a:t>PROBLEM:</a:t>
            </a:r>
            <a:r>
              <a:rPr lang="en-US" sz="2800" b="1" dirty="0"/>
              <a:t> Write the preorder, </a:t>
            </a:r>
            <a:r>
              <a:rPr lang="en-US" sz="2800" b="1" dirty="0" err="1"/>
              <a:t>inorder</a:t>
            </a:r>
            <a:r>
              <a:rPr lang="en-US" sz="2800" b="1" dirty="0"/>
              <a:t> and </a:t>
            </a:r>
            <a:r>
              <a:rPr lang="en-US" sz="2800" b="1" dirty="0" err="1"/>
              <a:t>postorder</a:t>
            </a:r>
            <a:r>
              <a:rPr lang="en-US" sz="2800" b="1" dirty="0"/>
              <a:t> sequence of nodes.</a:t>
            </a:r>
          </a:p>
        </p:txBody>
      </p:sp>
    </p:spTree>
    <p:extLst>
      <p:ext uri="{BB962C8B-B14F-4D97-AF65-F5344CB8AC3E}">
        <p14:creationId xmlns:p14="http://schemas.microsoft.com/office/powerpoint/2010/main" val="58462269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DFB23298-DD53-4E44-A580-0F2456B8DC1B}" type="slidenum">
              <a:rPr lang="en-US" smtClean="0"/>
              <a:pPr>
                <a:defRPr/>
              </a:pPr>
              <a:t>44</a:t>
            </a:fld>
            <a:endParaRPr lang="en-US"/>
          </a:p>
        </p:txBody>
      </p:sp>
      <p:sp>
        <p:nvSpPr>
          <p:cNvPr id="4" name="Rectangle 4"/>
          <p:cNvSpPr txBox="1">
            <a:spLocks noChangeArrowheads="1"/>
          </p:cNvSpPr>
          <p:nvPr/>
        </p:nvSpPr>
        <p:spPr>
          <a:xfrm>
            <a:off x="457200" y="457200"/>
            <a:ext cx="8229600" cy="2971800"/>
          </a:xfrm>
          <a:prstGeom prst="rect">
            <a:avLst/>
          </a:prstGeom>
          <a:noFill/>
        </p:spPr>
        <p:txBody>
          <a:bodyPr/>
          <a:lstStyle>
            <a:lvl1pPr marL="342900" indent="-342900" algn="just"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just" rtl="0" eaLnBrk="0" fontAlgn="base" hangingPunct="0">
              <a:spcBef>
                <a:spcPct val="20000"/>
              </a:spcBef>
              <a:spcAft>
                <a:spcPct val="0"/>
              </a:spcAft>
              <a:buChar char="–"/>
              <a:defRPr sz="2800">
                <a:solidFill>
                  <a:schemeClr val="tx1"/>
                </a:solidFill>
                <a:latin typeface="+mn-lt"/>
              </a:defRPr>
            </a:lvl2pPr>
            <a:lvl3pPr marL="1143000" indent="-228600" algn="just" rtl="0" eaLnBrk="0" fontAlgn="base" hangingPunct="0">
              <a:spcBef>
                <a:spcPct val="20000"/>
              </a:spcBef>
              <a:spcAft>
                <a:spcPct val="0"/>
              </a:spcAft>
              <a:buChar char="•"/>
              <a:defRPr sz="2400">
                <a:solidFill>
                  <a:schemeClr val="tx1"/>
                </a:solidFill>
                <a:latin typeface="+mn-lt"/>
              </a:defRPr>
            </a:lvl3pPr>
            <a:lvl4pPr marL="1600200" indent="-228600" algn="just" rtl="0" eaLnBrk="0" fontAlgn="base" hangingPunct="0">
              <a:spcBef>
                <a:spcPct val="20000"/>
              </a:spcBef>
              <a:spcAft>
                <a:spcPct val="0"/>
              </a:spcAft>
              <a:buChar char="–"/>
              <a:defRPr sz="2000">
                <a:solidFill>
                  <a:schemeClr val="tx1"/>
                </a:solidFill>
                <a:latin typeface="+mn-lt"/>
              </a:defRPr>
            </a:lvl4pPr>
            <a:lvl5pPr marL="2057400" indent="-228600" algn="just" rtl="0" eaLnBrk="0" fontAlgn="base" hangingPunct="0">
              <a:spcBef>
                <a:spcPct val="20000"/>
              </a:spcBef>
              <a:spcAft>
                <a:spcPct val="0"/>
              </a:spcAft>
              <a:buChar char="»"/>
              <a:defRPr sz="2000">
                <a:solidFill>
                  <a:schemeClr val="tx1"/>
                </a:solidFill>
                <a:latin typeface="+mn-lt"/>
              </a:defRPr>
            </a:lvl5pPr>
            <a:lvl6pPr marL="2514600" indent="-228600" algn="just" rtl="0" fontAlgn="base">
              <a:spcBef>
                <a:spcPct val="20000"/>
              </a:spcBef>
              <a:spcAft>
                <a:spcPct val="0"/>
              </a:spcAft>
              <a:buChar char="»"/>
              <a:defRPr sz="2000">
                <a:solidFill>
                  <a:schemeClr val="tx1"/>
                </a:solidFill>
                <a:latin typeface="+mn-lt"/>
              </a:defRPr>
            </a:lvl6pPr>
            <a:lvl7pPr marL="2971800" indent="-228600" algn="just" rtl="0" fontAlgn="base">
              <a:spcBef>
                <a:spcPct val="20000"/>
              </a:spcBef>
              <a:spcAft>
                <a:spcPct val="0"/>
              </a:spcAft>
              <a:buChar char="»"/>
              <a:defRPr sz="2000">
                <a:solidFill>
                  <a:schemeClr val="tx1"/>
                </a:solidFill>
                <a:latin typeface="+mn-lt"/>
              </a:defRPr>
            </a:lvl7pPr>
            <a:lvl8pPr marL="3429000" indent="-228600" algn="just" rtl="0" fontAlgn="base">
              <a:spcBef>
                <a:spcPct val="20000"/>
              </a:spcBef>
              <a:spcAft>
                <a:spcPct val="0"/>
              </a:spcAft>
              <a:buChar char="»"/>
              <a:defRPr sz="2000">
                <a:solidFill>
                  <a:schemeClr val="tx1"/>
                </a:solidFill>
                <a:latin typeface="+mn-lt"/>
              </a:defRPr>
            </a:lvl8pPr>
            <a:lvl9pPr marL="3886200" indent="-228600" algn="just" rtl="0" fontAlgn="base">
              <a:spcBef>
                <a:spcPct val="20000"/>
              </a:spcBef>
              <a:spcAft>
                <a:spcPct val="0"/>
              </a:spcAft>
              <a:buChar char="»"/>
              <a:defRPr sz="2000">
                <a:solidFill>
                  <a:schemeClr val="tx1"/>
                </a:solidFill>
                <a:latin typeface="+mn-lt"/>
              </a:defRPr>
            </a:lvl9pPr>
          </a:lstStyle>
          <a:p>
            <a:pPr eaLnBrk="1" hangingPunct="1">
              <a:buFontTx/>
              <a:buNone/>
            </a:pPr>
            <a:r>
              <a:rPr lang="en-US" b="1" u="sng" kern="0" dirty="0" smtClean="0"/>
              <a:t>OUTPUT</a:t>
            </a:r>
          </a:p>
          <a:p>
            <a:pPr eaLnBrk="1" hangingPunct="1"/>
            <a:r>
              <a:rPr lang="en-US" b="1" kern="0" dirty="0" smtClean="0"/>
              <a:t>Preorder: A,B,D,C,E,F,G,H,I</a:t>
            </a:r>
          </a:p>
          <a:p>
            <a:pPr eaLnBrk="1" hangingPunct="1"/>
            <a:r>
              <a:rPr lang="en-US" b="1" kern="0" dirty="0" err="1" smtClean="0"/>
              <a:t>Inorder</a:t>
            </a:r>
            <a:r>
              <a:rPr lang="en-US" b="1" kern="0" dirty="0" smtClean="0"/>
              <a:t>: B,D,A,E,H,G,I,F,C</a:t>
            </a:r>
          </a:p>
          <a:p>
            <a:pPr eaLnBrk="1" hangingPunct="1"/>
            <a:r>
              <a:rPr lang="en-US" b="1" kern="0" dirty="0" err="1" smtClean="0"/>
              <a:t>Postorder</a:t>
            </a:r>
            <a:r>
              <a:rPr lang="en-US" b="1" kern="0" dirty="0" smtClean="0"/>
              <a:t>: D,B,H,I,G,F,E,C,A</a:t>
            </a:r>
            <a:endParaRPr lang="en-US" sz="3600" b="1" kern="0" dirty="0" smtClean="0"/>
          </a:p>
        </p:txBody>
      </p:sp>
    </p:spTree>
    <p:extLst>
      <p:ext uri="{BB962C8B-B14F-4D97-AF65-F5344CB8AC3E}">
        <p14:creationId xmlns:p14="http://schemas.microsoft.com/office/powerpoint/2010/main" val="354536592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167F3E6F-6767-42E9-897C-BF52D66DEC36}" type="slidenum">
              <a:rPr lang="en-US" sz="1400" smtClean="0"/>
              <a:pPr algn="r">
                <a:spcBef>
                  <a:spcPct val="0"/>
                </a:spcBef>
                <a:buFontTx/>
                <a:buNone/>
              </a:pPr>
              <a:t>45</a:t>
            </a:fld>
            <a:endParaRPr lang="en-US" sz="1400" smtClean="0"/>
          </a:p>
        </p:txBody>
      </p:sp>
      <p:pic>
        <p:nvPicPr>
          <p:cNvPr id="35843"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1746250"/>
            <a:ext cx="3276600" cy="479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4" name="Text Box 35"/>
          <p:cNvSpPr txBox="1">
            <a:spLocks noChangeArrowheads="1"/>
          </p:cNvSpPr>
          <p:nvPr/>
        </p:nvSpPr>
        <p:spPr bwMode="auto">
          <a:xfrm>
            <a:off x="533400" y="76200"/>
            <a:ext cx="7772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50000"/>
              </a:spcBef>
              <a:buFontTx/>
              <a:buNone/>
            </a:pPr>
            <a:r>
              <a:rPr lang="en-US" sz="2800" b="1" u="sng"/>
              <a:t>PROBLEM:</a:t>
            </a:r>
            <a:r>
              <a:rPr lang="en-US" sz="2800" b="1"/>
              <a:t> Write the preorder, inorder and postorder sequence of nodes.</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DFB23298-DD53-4E44-A580-0F2456B8DC1B}" type="slidenum">
              <a:rPr lang="en-US" smtClean="0"/>
              <a:pPr>
                <a:defRPr/>
              </a:pPr>
              <a:t>46</a:t>
            </a:fld>
            <a:endParaRPr lang="en-US"/>
          </a:p>
        </p:txBody>
      </p:sp>
      <p:sp>
        <p:nvSpPr>
          <p:cNvPr id="4" name="Rectangle 4"/>
          <p:cNvSpPr txBox="1">
            <a:spLocks noChangeArrowheads="1"/>
          </p:cNvSpPr>
          <p:nvPr/>
        </p:nvSpPr>
        <p:spPr>
          <a:xfrm>
            <a:off x="421640" y="1066800"/>
            <a:ext cx="8229600" cy="2971800"/>
          </a:xfrm>
          <a:prstGeom prst="rect">
            <a:avLst/>
          </a:prstGeom>
          <a:noFill/>
        </p:spPr>
        <p:txBody>
          <a:bodyPr/>
          <a:lstStyle>
            <a:lvl1pPr marL="342900" indent="-342900" algn="just"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just" rtl="0" eaLnBrk="0" fontAlgn="base" hangingPunct="0">
              <a:spcBef>
                <a:spcPct val="20000"/>
              </a:spcBef>
              <a:spcAft>
                <a:spcPct val="0"/>
              </a:spcAft>
              <a:buChar char="–"/>
              <a:defRPr sz="2800">
                <a:solidFill>
                  <a:schemeClr val="tx1"/>
                </a:solidFill>
                <a:latin typeface="+mn-lt"/>
              </a:defRPr>
            </a:lvl2pPr>
            <a:lvl3pPr marL="1143000" indent="-228600" algn="just" rtl="0" eaLnBrk="0" fontAlgn="base" hangingPunct="0">
              <a:spcBef>
                <a:spcPct val="20000"/>
              </a:spcBef>
              <a:spcAft>
                <a:spcPct val="0"/>
              </a:spcAft>
              <a:buChar char="•"/>
              <a:defRPr sz="2400">
                <a:solidFill>
                  <a:schemeClr val="tx1"/>
                </a:solidFill>
                <a:latin typeface="+mn-lt"/>
              </a:defRPr>
            </a:lvl3pPr>
            <a:lvl4pPr marL="1600200" indent="-228600" algn="just" rtl="0" eaLnBrk="0" fontAlgn="base" hangingPunct="0">
              <a:spcBef>
                <a:spcPct val="20000"/>
              </a:spcBef>
              <a:spcAft>
                <a:spcPct val="0"/>
              </a:spcAft>
              <a:buChar char="–"/>
              <a:defRPr sz="2000">
                <a:solidFill>
                  <a:schemeClr val="tx1"/>
                </a:solidFill>
                <a:latin typeface="+mn-lt"/>
              </a:defRPr>
            </a:lvl4pPr>
            <a:lvl5pPr marL="2057400" indent="-228600" algn="just" rtl="0" eaLnBrk="0" fontAlgn="base" hangingPunct="0">
              <a:spcBef>
                <a:spcPct val="20000"/>
              </a:spcBef>
              <a:spcAft>
                <a:spcPct val="0"/>
              </a:spcAft>
              <a:buChar char="»"/>
              <a:defRPr sz="2000">
                <a:solidFill>
                  <a:schemeClr val="tx1"/>
                </a:solidFill>
                <a:latin typeface="+mn-lt"/>
              </a:defRPr>
            </a:lvl5pPr>
            <a:lvl6pPr marL="2514600" indent="-228600" algn="just" rtl="0" fontAlgn="base">
              <a:spcBef>
                <a:spcPct val="20000"/>
              </a:spcBef>
              <a:spcAft>
                <a:spcPct val="0"/>
              </a:spcAft>
              <a:buChar char="»"/>
              <a:defRPr sz="2000">
                <a:solidFill>
                  <a:schemeClr val="tx1"/>
                </a:solidFill>
                <a:latin typeface="+mn-lt"/>
              </a:defRPr>
            </a:lvl6pPr>
            <a:lvl7pPr marL="2971800" indent="-228600" algn="just" rtl="0" fontAlgn="base">
              <a:spcBef>
                <a:spcPct val="20000"/>
              </a:spcBef>
              <a:spcAft>
                <a:spcPct val="0"/>
              </a:spcAft>
              <a:buChar char="»"/>
              <a:defRPr sz="2000">
                <a:solidFill>
                  <a:schemeClr val="tx1"/>
                </a:solidFill>
                <a:latin typeface="+mn-lt"/>
              </a:defRPr>
            </a:lvl7pPr>
            <a:lvl8pPr marL="3429000" indent="-228600" algn="just" rtl="0" fontAlgn="base">
              <a:spcBef>
                <a:spcPct val="20000"/>
              </a:spcBef>
              <a:spcAft>
                <a:spcPct val="0"/>
              </a:spcAft>
              <a:buChar char="»"/>
              <a:defRPr sz="2000">
                <a:solidFill>
                  <a:schemeClr val="tx1"/>
                </a:solidFill>
                <a:latin typeface="+mn-lt"/>
              </a:defRPr>
            </a:lvl8pPr>
            <a:lvl9pPr marL="3886200" indent="-228600" algn="just" rtl="0" fontAlgn="base">
              <a:spcBef>
                <a:spcPct val="20000"/>
              </a:spcBef>
              <a:spcAft>
                <a:spcPct val="0"/>
              </a:spcAft>
              <a:buChar char="»"/>
              <a:defRPr sz="2000">
                <a:solidFill>
                  <a:schemeClr val="tx1"/>
                </a:solidFill>
                <a:latin typeface="+mn-lt"/>
              </a:defRPr>
            </a:lvl9pPr>
          </a:lstStyle>
          <a:p>
            <a:pPr eaLnBrk="1" hangingPunct="1">
              <a:buFontTx/>
              <a:buNone/>
            </a:pPr>
            <a:r>
              <a:rPr lang="en-US" b="1" u="sng" kern="0" dirty="0" smtClean="0"/>
              <a:t>OUTPUT</a:t>
            </a:r>
          </a:p>
          <a:p>
            <a:pPr eaLnBrk="1" hangingPunct="1"/>
            <a:r>
              <a:rPr lang="en-US" b="1" kern="0" dirty="0" smtClean="0"/>
              <a:t>Preorder: -,+,a,*,/,</a:t>
            </a:r>
            <a:r>
              <a:rPr lang="en-US" b="1" kern="0" dirty="0" err="1" smtClean="0"/>
              <a:t>b,c,d,e</a:t>
            </a:r>
            <a:endParaRPr lang="en-US" b="1" kern="0" dirty="0" smtClean="0"/>
          </a:p>
          <a:p>
            <a:pPr eaLnBrk="1" hangingPunct="1"/>
            <a:r>
              <a:rPr lang="en-US" b="1" kern="0" dirty="0" err="1" smtClean="0"/>
              <a:t>Inorder</a:t>
            </a:r>
            <a:r>
              <a:rPr lang="en-US" b="1" kern="0" dirty="0" smtClean="0"/>
              <a:t>: </a:t>
            </a:r>
            <a:r>
              <a:rPr lang="en-US" b="1" kern="0" dirty="0" err="1" smtClean="0"/>
              <a:t>a,+,b</a:t>
            </a:r>
            <a:r>
              <a:rPr lang="en-US" b="1" kern="0" dirty="0" smtClean="0"/>
              <a:t>,/,c,*d,-,e</a:t>
            </a:r>
          </a:p>
          <a:p>
            <a:pPr eaLnBrk="1" hangingPunct="1"/>
            <a:r>
              <a:rPr lang="en-US" b="1" kern="0" dirty="0" err="1" smtClean="0"/>
              <a:t>Postorder</a:t>
            </a:r>
            <a:r>
              <a:rPr lang="en-US" b="1" kern="0" dirty="0" smtClean="0"/>
              <a:t>: </a:t>
            </a:r>
            <a:r>
              <a:rPr lang="en-US" b="1" kern="0" dirty="0" err="1" smtClean="0"/>
              <a:t>a,b,c</a:t>
            </a:r>
            <a:r>
              <a:rPr lang="en-US" b="1" kern="0" dirty="0" smtClean="0"/>
              <a:t>,/,d,*,+,e,-</a:t>
            </a:r>
            <a:endParaRPr lang="en-US" sz="3600" b="1" kern="0" dirty="0" smtClean="0"/>
          </a:p>
        </p:txBody>
      </p:sp>
    </p:spTree>
    <p:extLst>
      <p:ext uri="{BB962C8B-B14F-4D97-AF65-F5344CB8AC3E}">
        <p14:creationId xmlns:p14="http://schemas.microsoft.com/office/powerpoint/2010/main" val="329407503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203490D7-BB38-4081-AD10-218FAD7E7B52}" type="slidenum">
              <a:rPr lang="en-US" sz="1400" smtClean="0"/>
              <a:pPr algn="r">
                <a:spcBef>
                  <a:spcPct val="0"/>
                </a:spcBef>
                <a:buFontTx/>
                <a:buNone/>
              </a:pPr>
              <a:t>47</a:t>
            </a:fld>
            <a:endParaRPr lang="en-US" sz="1400" smtClean="0"/>
          </a:p>
        </p:txBody>
      </p:sp>
      <p:sp>
        <p:nvSpPr>
          <p:cNvPr id="36867" name="Rectangle 3"/>
          <p:cNvSpPr>
            <a:spLocks noGrp="1" noChangeArrowheads="1"/>
          </p:cNvSpPr>
          <p:nvPr>
            <p:ph type="body" idx="1"/>
          </p:nvPr>
        </p:nvSpPr>
        <p:spPr>
          <a:xfrm>
            <a:off x="304800" y="1219200"/>
            <a:ext cx="8534400" cy="5410200"/>
          </a:xfrm>
        </p:spPr>
        <p:txBody>
          <a:bodyPr/>
          <a:lstStyle/>
          <a:p>
            <a:pPr eaLnBrk="1" hangingPunct="1"/>
            <a:r>
              <a:rPr lang="en-US" sz="4000" smtClean="0"/>
              <a:t>A binary tree has 9 nodes. The inorder and preorder traversals of tree yield the following sequences of node:</a:t>
            </a:r>
          </a:p>
          <a:p>
            <a:pPr lvl="1" eaLnBrk="1" hangingPunct="1">
              <a:buFontTx/>
              <a:buNone/>
            </a:pPr>
            <a:r>
              <a:rPr lang="en-US" sz="4000" b="1" smtClean="0"/>
              <a:t>Inorder : E A C K F H D B G</a:t>
            </a:r>
          </a:p>
          <a:p>
            <a:pPr lvl="1" eaLnBrk="1" hangingPunct="1">
              <a:buFontTx/>
              <a:buNone/>
            </a:pPr>
            <a:r>
              <a:rPr lang="en-US" sz="4000" b="1" smtClean="0"/>
              <a:t>Preorder :  F A E K C D H G B</a:t>
            </a:r>
          </a:p>
          <a:p>
            <a:pPr eaLnBrk="1" hangingPunct="1"/>
            <a:r>
              <a:rPr lang="en-US" sz="4000" smtClean="0"/>
              <a:t>Draw the tree.</a:t>
            </a:r>
          </a:p>
          <a:p>
            <a:pPr eaLnBrk="1" hangingPunct="1"/>
            <a:r>
              <a:rPr lang="en-US" sz="4000" smtClean="0"/>
              <a:t>Write the postorder sequence also.</a:t>
            </a:r>
          </a:p>
        </p:txBody>
      </p:sp>
      <p:sp>
        <p:nvSpPr>
          <p:cNvPr id="36868" name="Text Box 4"/>
          <p:cNvSpPr txBox="1">
            <a:spLocks noChangeArrowheads="1"/>
          </p:cNvSpPr>
          <p:nvPr/>
        </p:nvSpPr>
        <p:spPr bwMode="auto">
          <a:xfrm>
            <a:off x="2133600" y="381000"/>
            <a:ext cx="5105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b="1" u="sng"/>
              <a:t>PROBLEM - 1</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58287BEB-E4C2-424A-A464-151AA99B0ABD}" type="slidenum">
              <a:rPr lang="en-US" sz="1400" smtClean="0"/>
              <a:pPr algn="r">
                <a:spcBef>
                  <a:spcPct val="0"/>
                </a:spcBef>
                <a:buFontTx/>
                <a:buNone/>
              </a:pPr>
              <a:t>48</a:t>
            </a:fld>
            <a:endParaRPr lang="en-US" sz="1400" smtClean="0"/>
          </a:p>
        </p:txBody>
      </p:sp>
      <p:sp>
        <p:nvSpPr>
          <p:cNvPr id="7" name="TextBox 5"/>
          <p:cNvSpPr txBox="1">
            <a:spLocks noChangeArrowheads="1"/>
          </p:cNvSpPr>
          <p:nvPr/>
        </p:nvSpPr>
        <p:spPr bwMode="auto">
          <a:xfrm>
            <a:off x="457200" y="457200"/>
            <a:ext cx="8229600" cy="596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just" rtl="0" eaLnBrk="0" fontAlgn="base" hangingPunct="0">
              <a:spcBef>
                <a:spcPct val="20000"/>
              </a:spcBef>
              <a:spcAft>
                <a:spcPct val="0"/>
              </a:spcAft>
              <a:buChar char="•"/>
              <a:defRPr sz="3200">
                <a:solidFill>
                  <a:schemeClr val="tx1"/>
                </a:solidFill>
                <a:latin typeface="Arial" panose="020B0604020202020204" pitchFamily="34" charset="0"/>
                <a:ea typeface="+mn-ea"/>
                <a:cs typeface="+mn-cs"/>
              </a:defRPr>
            </a:lvl1pPr>
            <a:lvl2pPr marL="742950" indent="-285750" algn="just" rtl="0" eaLnBrk="0" fontAlgn="base" hangingPunct="0">
              <a:spcBef>
                <a:spcPct val="20000"/>
              </a:spcBef>
              <a:spcAft>
                <a:spcPct val="0"/>
              </a:spcAft>
              <a:buChar char="–"/>
              <a:defRPr sz="2800">
                <a:solidFill>
                  <a:schemeClr val="tx1"/>
                </a:solidFill>
                <a:latin typeface="Arial" panose="020B0604020202020204" pitchFamily="34" charset="0"/>
              </a:defRPr>
            </a:lvl2pPr>
            <a:lvl3pPr marL="1143000" indent="-228600" algn="just" rtl="0" eaLnBrk="0" fontAlgn="base" hangingPunct="0">
              <a:spcBef>
                <a:spcPct val="20000"/>
              </a:spcBef>
              <a:spcAft>
                <a:spcPct val="0"/>
              </a:spcAft>
              <a:buChar char="•"/>
              <a:defRPr sz="2400">
                <a:solidFill>
                  <a:schemeClr val="tx1"/>
                </a:solidFill>
                <a:latin typeface="Arial" panose="020B0604020202020204" pitchFamily="34" charset="0"/>
              </a:defRPr>
            </a:lvl3pPr>
            <a:lvl4pPr marL="1600200" indent="-228600" algn="just" rtl="0" eaLnBrk="0" fontAlgn="base" hangingPunct="0">
              <a:spcBef>
                <a:spcPct val="20000"/>
              </a:spcBef>
              <a:spcAft>
                <a:spcPct val="0"/>
              </a:spcAft>
              <a:buChar char="–"/>
              <a:defRPr sz="2000">
                <a:solidFill>
                  <a:schemeClr val="tx1"/>
                </a:solidFill>
                <a:latin typeface="Arial" panose="020B0604020202020204" pitchFamily="34" charset="0"/>
              </a:defRPr>
            </a:lvl4pPr>
            <a:lvl5pPr marL="2057400" indent="-228600" algn="just" rtl="0" eaLnBrk="0" fontAlgn="base" hangingPunct="0">
              <a:spcBef>
                <a:spcPct val="20000"/>
              </a:spcBef>
              <a:spcAft>
                <a:spcPct val="0"/>
              </a:spcAft>
              <a:buChar char="»"/>
              <a:defRPr sz="2000">
                <a:solidFill>
                  <a:schemeClr val="tx1"/>
                </a:solidFill>
                <a:latin typeface="Arial" panose="020B0604020202020204" pitchFamily="34" charset="0"/>
              </a:defRPr>
            </a:lvl5pPr>
            <a:lvl6pPr marL="2514600" indent="-228600" algn="just" rtl="0" eaLnBrk="0" fontAlgn="base" hangingPunct="0">
              <a:spcBef>
                <a:spcPct val="0"/>
              </a:spcBef>
              <a:spcAft>
                <a:spcPct val="0"/>
              </a:spcAft>
              <a:buChar char="»"/>
              <a:defRPr sz="2000">
                <a:solidFill>
                  <a:schemeClr val="tx1"/>
                </a:solidFill>
                <a:latin typeface="Arial" panose="020B0604020202020204" pitchFamily="34" charset="0"/>
              </a:defRPr>
            </a:lvl6pPr>
            <a:lvl7pPr marL="2971800" indent="-228600" algn="just" rtl="0" eaLnBrk="0" fontAlgn="base" hangingPunct="0">
              <a:spcBef>
                <a:spcPct val="0"/>
              </a:spcBef>
              <a:spcAft>
                <a:spcPct val="0"/>
              </a:spcAft>
              <a:buChar char="»"/>
              <a:defRPr sz="2000">
                <a:solidFill>
                  <a:schemeClr val="tx1"/>
                </a:solidFill>
                <a:latin typeface="Arial" panose="020B0604020202020204" pitchFamily="34" charset="0"/>
              </a:defRPr>
            </a:lvl7pPr>
            <a:lvl8pPr marL="3429000" indent="-228600" algn="just" rtl="0" eaLnBrk="0" fontAlgn="base" hangingPunct="0">
              <a:spcBef>
                <a:spcPct val="0"/>
              </a:spcBef>
              <a:spcAft>
                <a:spcPct val="0"/>
              </a:spcAft>
              <a:buChar char="»"/>
              <a:defRPr sz="2000">
                <a:solidFill>
                  <a:schemeClr val="tx1"/>
                </a:solidFill>
                <a:latin typeface="Arial" panose="020B0604020202020204" pitchFamily="34" charset="0"/>
              </a:defRPr>
            </a:lvl8pPr>
            <a:lvl9pPr marL="3886200" indent="-228600" algn="just" rtl="0" eaLnBrk="0" fontAlgn="base" hangingPunct="0">
              <a:spcBef>
                <a:spcPct val="0"/>
              </a:spcBef>
              <a:spcAft>
                <a:spcPct val="0"/>
              </a:spcAft>
              <a:buChar char="»"/>
              <a:defRPr sz="2000">
                <a:solidFill>
                  <a:schemeClr val="tx1"/>
                </a:solidFill>
                <a:latin typeface="Arial" panose="020B0604020202020204" pitchFamily="34" charset="0"/>
              </a:defRPr>
            </a:lvl9pPr>
          </a:lstStyle>
          <a:p>
            <a:pPr eaLnBrk="1" hangingPunct="1">
              <a:defRPr/>
            </a:pPr>
            <a:r>
              <a:rPr lang="en-US" sz="3600" kern="0" dirty="0" smtClean="0"/>
              <a:t>The in-order traversal is used to determine the left and the right child nodes.</a:t>
            </a:r>
          </a:p>
          <a:p>
            <a:pPr eaLnBrk="1" hangingPunct="1">
              <a:defRPr/>
            </a:pPr>
            <a:r>
              <a:rPr lang="en-US" sz="3600" kern="0" dirty="0" smtClean="0"/>
              <a:t>The pre-order and post-order nodes can be used to determine the root node.</a:t>
            </a:r>
          </a:p>
          <a:p>
            <a:pPr eaLnBrk="1" hangingPunct="1">
              <a:defRPr/>
            </a:pPr>
            <a:r>
              <a:rPr lang="en-US" sz="3600" kern="0" dirty="0" smtClean="0"/>
              <a:t>Root node appears as the first node in pre-order and </a:t>
            </a:r>
          </a:p>
          <a:p>
            <a:pPr eaLnBrk="1" hangingPunct="1">
              <a:defRPr/>
            </a:pPr>
            <a:r>
              <a:rPr lang="en-US" sz="3600" kern="0" dirty="0" smtClean="0"/>
              <a:t>Root node appears as the last node in post-order.</a:t>
            </a:r>
            <a:endParaRPr lang="en-US" sz="3600" kern="0"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45DA4256-D7E9-4BAB-AEB7-1EF0F5CA9808}" type="slidenum">
              <a:rPr lang="en-US" sz="1400" smtClean="0"/>
              <a:pPr algn="r">
                <a:spcBef>
                  <a:spcPct val="0"/>
                </a:spcBef>
                <a:buFontTx/>
                <a:buNone/>
              </a:pPr>
              <a:t>49</a:t>
            </a:fld>
            <a:endParaRPr lang="en-US" sz="1400" smtClean="0"/>
          </a:p>
        </p:txBody>
      </p:sp>
      <p:sp>
        <p:nvSpPr>
          <p:cNvPr id="38915" name="Oval 2"/>
          <p:cNvSpPr>
            <a:spLocks noChangeArrowheads="1"/>
          </p:cNvSpPr>
          <p:nvPr/>
        </p:nvSpPr>
        <p:spPr bwMode="auto">
          <a:xfrm>
            <a:off x="3810000" y="4572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F</a:t>
            </a:r>
          </a:p>
        </p:txBody>
      </p:sp>
      <p:sp>
        <p:nvSpPr>
          <p:cNvPr id="38916" name="Oval 3"/>
          <p:cNvSpPr>
            <a:spLocks noChangeArrowheads="1"/>
          </p:cNvSpPr>
          <p:nvPr/>
        </p:nvSpPr>
        <p:spPr bwMode="auto">
          <a:xfrm>
            <a:off x="5562600" y="15240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D</a:t>
            </a:r>
          </a:p>
        </p:txBody>
      </p:sp>
      <p:sp>
        <p:nvSpPr>
          <p:cNvPr id="38917" name="Oval 4"/>
          <p:cNvSpPr>
            <a:spLocks noChangeArrowheads="1"/>
          </p:cNvSpPr>
          <p:nvPr/>
        </p:nvSpPr>
        <p:spPr bwMode="auto">
          <a:xfrm>
            <a:off x="1981200" y="41148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C</a:t>
            </a:r>
          </a:p>
        </p:txBody>
      </p:sp>
      <p:sp>
        <p:nvSpPr>
          <p:cNvPr id="38918" name="Oval 5"/>
          <p:cNvSpPr>
            <a:spLocks noChangeArrowheads="1"/>
          </p:cNvSpPr>
          <p:nvPr/>
        </p:nvSpPr>
        <p:spPr bwMode="auto">
          <a:xfrm>
            <a:off x="2667000" y="28194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K</a:t>
            </a:r>
          </a:p>
        </p:txBody>
      </p:sp>
      <p:sp>
        <p:nvSpPr>
          <p:cNvPr id="38919" name="Oval 6"/>
          <p:cNvSpPr>
            <a:spLocks noChangeArrowheads="1"/>
          </p:cNvSpPr>
          <p:nvPr/>
        </p:nvSpPr>
        <p:spPr bwMode="auto">
          <a:xfrm>
            <a:off x="5638800" y="40386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B</a:t>
            </a:r>
          </a:p>
        </p:txBody>
      </p:sp>
      <p:sp>
        <p:nvSpPr>
          <p:cNvPr id="38920" name="Oval 7"/>
          <p:cNvSpPr>
            <a:spLocks noChangeArrowheads="1"/>
          </p:cNvSpPr>
          <p:nvPr/>
        </p:nvSpPr>
        <p:spPr bwMode="auto">
          <a:xfrm>
            <a:off x="1981200" y="16764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A</a:t>
            </a:r>
          </a:p>
        </p:txBody>
      </p:sp>
      <p:sp>
        <p:nvSpPr>
          <p:cNvPr id="38921" name="Oval 8"/>
          <p:cNvSpPr>
            <a:spLocks noChangeArrowheads="1"/>
          </p:cNvSpPr>
          <p:nvPr/>
        </p:nvSpPr>
        <p:spPr bwMode="auto">
          <a:xfrm>
            <a:off x="4876800" y="27432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H</a:t>
            </a:r>
          </a:p>
        </p:txBody>
      </p:sp>
      <p:sp>
        <p:nvSpPr>
          <p:cNvPr id="38922" name="Oval 10"/>
          <p:cNvSpPr>
            <a:spLocks noChangeArrowheads="1"/>
          </p:cNvSpPr>
          <p:nvPr/>
        </p:nvSpPr>
        <p:spPr bwMode="auto">
          <a:xfrm>
            <a:off x="6781800" y="27432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G</a:t>
            </a:r>
          </a:p>
        </p:txBody>
      </p:sp>
      <p:sp>
        <p:nvSpPr>
          <p:cNvPr id="38923" name="Oval 11"/>
          <p:cNvSpPr>
            <a:spLocks noChangeArrowheads="1"/>
          </p:cNvSpPr>
          <p:nvPr/>
        </p:nvSpPr>
        <p:spPr bwMode="auto">
          <a:xfrm>
            <a:off x="914400" y="28194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E</a:t>
            </a:r>
          </a:p>
        </p:txBody>
      </p:sp>
      <p:sp>
        <p:nvSpPr>
          <p:cNvPr id="38924" name="Line 12"/>
          <p:cNvSpPr>
            <a:spLocks noChangeShapeType="1"/>
          </p:cNvSpPr>
          <p:nvPr/>
        </p:nvSpPr>
        <p:spPr bwMode="auto">
          <a:xfrm flipH="1">
            <a:off x="2514600" y="914400"/>
            <a:ext cx="1295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5" name="Line 13"/>
          <p:cNvSpPr>
            <a:spLocks noChangeShapeType="1"/>
          </p:cNvSpPr>
          <p:nvPr/>
        </p:nvSpPr>
        <p:spPr bwMode="auto">
          <a:xfrm flipH="1">
            <a:off x="1295400" y="2133600"/>
            <a:ext cx="7620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6" name="Line 14"/>
          <p:cNvSpPr>
            <a:spLocks noChangeShapeType="1"/>
          </p:cNvSpPr>
          <p:nvPr/>
        </p:nvSpPr>
        <p:spPr bwMode="auto">
          <a:xfrm>
            <a:off x="2362200" y="2209800"/>
            <a:ext cx="4572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7" name="Line 15"/>
          <p:cNvSpPr>
            <a:spLocks noChangeShapeType="1"/>
          </p:cNvSpPr>
          <p:nvPr/>
        </p:nvSpPr>
        <p:spPr bwMode="auto">
          <a:xfrm flipH="1">
            <a:off x="2438400" y="3352800"/>
            <a:ext cx="3810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8" name="Line 16"/>
          <p:cNvSpPr>
            <a:spLocks noChangeShapeType="1"/>
          </p:cNvSpPr>
          <p:nvPr/>
        </p:nvSpPr>
        <p:spPr bwMode="auto">
          <a:xfrm>
            <a:off x="4419600" y="838200"/>
            <a:ext cx="12192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9" name="Line 17"/>
          <p:cNvSpPr>
            <a:spLocks noChangeShapeType="1"/>
          </p:cNvSpPr>
          <p:nvPr/>
        </p:nvSpPr>
        <p:spPr bwMode="auto">
          <a:xfrm flipH="1">
            <a:off x="5257800" y="2057400"/>
            <a:ext cx="4572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30" name="Line 18"/>
          <p:cNvSpPr>
            <a:spLocks noChangeShapeType="1"/>
          </p:cNvSpPr>
          <p:nvPr/>
        </p:nvSpPr>
        <p:spPr bwMode="auto">
          <a:xfrm>
            <a:off x="6096000" y="1981200"/>
            <a:ext cx="8382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31" name="Line 20"/>
          <p:cNvSpPr>
            <a:spLocks noChangeShapeType="1"/>
          </p:cNvSpPr>
          <p:nvPr/>
        </p:nvSpPr>
        <p:spPr bwMode="auto">
          <a:xfrm flipH="1">
            <a:off x="6172200" y="3200400"/>
            <a:ext cx="6858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C169B334-E6CB-49DB-A893-11268084955B}" type="slidenum">
              <a:rPr lang="en-US" sz="1400" smtClean="0"/>
              <a:pPr algn="r">
                <a:spcBef>
                  <a:spcPct val="0"/>
                </a:spcBef>
                <a:buFontTx/>
                <a:buNone/>
              </a:pPr>
              <a:t>50</a:t>
            </a:fld>
            <a:endParaRPr lang="en-US" sz="1400" smtClean="0"/>
          </a:p>
        </p:txBody>
      </p:sp>
      <p:sp>
        <p:nvSpPr>
          <p:cNvPr id="39939" name="Rectangle 2"/>
          <p:cNvSpPr>
            <a:spLocks noGrp="1" noChangeArrowheads="1"/>
          </p:cNvSpPr>
          <p:nvPr>
            <p:ph type="body" idx="1"/>
          </p:nvPr>
        </p:nvSpPr>
        <p:spPr>
          <a:xfrm>
            <a:off x="457200" y="1143000"/>
            <a:ext cx="8458200" cy="4953000"/>
          </a:xfrm>
        </p:spPr>
        <p:txBody>
          <a:bodyPr/>
          <a:lstStyle/>
          <a:p>
            <a:pPr eaLnBrk="1" hangingPunct="1"/>
            <a:r>
              <a:rPr lang="en-US" sz="4000" smtClean="0"/>
              <a:t>The inorder and preorder traversals of a tree yield the following sequences of node:</a:t>
            </a:r>
          </a:p>
          <a:p>
            <a:pPr lvl="1" eaLnBrk="1" hangingPunct="1">
              <a:buFontTx/>
              <a:buNone/>
            </a:pPr>
            <a:r>
              <a:rPr lang="en-US" sz="4000" b="1" smtClean="0"/>
              <a:t>preorder : A B D G C E H I F</a:t>
            </a:r>
          </a:p>
          <a:p>
            <a:pPr lvl="1" eaLnBrk="1" hangingPunct="1">
              <a:buFontTx/>
              <a:buNone/>
            </a:pPr>
            <a:r>
              <a:rPr lang="en-US" sz="4000" b="1" smtClean="0"/>
              <a:t>inorder :  D G B A H E I C F</a:t>
            </a:r>
          </a:p>
          <a:p>
            <a:pPr eaLnBrk="1" hangingPunct="1"/>
            <a:r>
              <a:rPr lang="en-US" sz="4000" smtClean="0"/>
              <a:t>Draw the tree.</a:t>
            </a:r>
          </a:p>
          <a:p>
            <a:pPr eaLnBrk="1" hangingPunct="1"/>
            <a:r>
              <a:rPr lang="en-US" sz="4000" smtClean="0"/>
              <a:t>Write the postorder sequence also.</a:t>
            </a:r>
          </a:p>
        </p:txBody>
      </p:sp>
      <p:sp>
        <p:nvSpPr>
          <p:cNvPr id="39940" name="Text Box 3"/>
          <p:cNvSpPr txBox="1">
            <a:spLocks noChangeArrowheads="1"/>
          </p:cNvSpPr>
          <p:nvPr/>
        </p:nvSpPr>
        <p:spPr bwMode="auto">
          <a:xfrm>
            <a:off x="2133600" y="381000"/>
            <a:ext cx="5105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b="1" u="sng"/>
              <a:t>PROBLEM - 2</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9C61D750-EEA4-4FD0-A015-4D0DADE01BAF}" type="slidenum">
              <a:rPr lang="en-US" sz="1400" smtClean="0"/>
              <a:pPr algn="r">
                <a:spcBef>
                  <a:spcPct val="0"/>
                </a:spcBef>
                <a:buFontTx/>
                <a:buNone/>
              </a:pPr>
              <a:t>51</a:t>
            </a:fld>
            <a:endParaRPr lang="en-US" sz="1400" smtClean="0"/>
          </a:p>
        </p:txBody>
      </p:sp>
      <p:sp>
        <p:nvSpPr>
          <p:cNvPr id="40963" name="Oval 2"/>
          <p:cNvSpPr>
            <a:spLocks noChangeArrowheads="1"/>
          </p:cNvSpPr>
          <p:nvPr/>
        </p:nvSpPr>
        <p:spPr bwMode="auto">
          <a:xfrm>
            <a:off x="3581400" y="2286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A</a:t>
            </a:r>
          </a:p>
        </p:txBody>
      </p:sp>
      <p:sp>
        <p:nvSpPr>
          <p:cNvPr id="40964" name="Oval 3"/>
          <p:cNvSpPr>
            <a:spLocks noChangeArrowheads="1"/>
          </p:cNvSpPr>
          <p:nvPr/>
        </p:nvSpPr>
        <p:spPr bwMode="auto">
          <a:xfrm>
            <a:off x="5334000" y="12192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C</a:t>
            </a:r>
          </a:p>
        </p:txBody>
      </p:sp>
      <p:sp>
        <p:nvSpPr>
          <p:cNvPr id="40965" name="Oval 4"/>
          <p:cNvSpPr>
            <a:spLocks noChangeArrowheads="1"/>
          </p:cNvSpPr>
          <p:nvPr/>
        </p:nvSpPr>
        <p:spPr bwMode="auto">
          <a:xfrm>
            <a:off x="1752600" y="38100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G</a:t>
            </a:r>
          </a:p>
        </p:txBody>
      </p:sp>
      <p:sp>
        <p:nvSpPr>
          <p:cNvPr id="40966" name="Oval 6"/>
          <p:cNvSpPr>
            <a:spLocks noChangeArrowheads="1"/>
          </p:cNvSpPr>
          <p:nvPr/>
        </p:nvSpPr>
        <p:spPr bwMode="auto">
          <a:xfrm>
            <a:off x="5410200" y="37338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I</a:t>
            </a:r>
          </a:p>
        </p:txBody>
      </p:sp>
      <p:sp>
        <p:nvSpPr>
          <p:cNvPr id="40967" name="Oval 7"/>
          <p:cNvSpPr>
            <a:spLocks noChangeArrowheads="1"/>
          </p:cNvSpPr>
          <p:nvPr/>
        </p:nvSpPr>
        <p:spPr bwMode="auto">
          <a:xfrm>
            <a:off x="1752600" y="13716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B</a:t>
            </a:r>
          </a:p>
        </p:txBody>
      </p:sp>
      <p:sp>
        <p:nvSpPr>
          <p:cNvPr id="40968" name="Oval 8"/>
          <p:cNvSpPr>
            <a:spLocks noChangeArrowheads="1"/>
          </p:cNvSpPr>
          <p:nvPr/>
        </p:nvSpPr>
        <p:spPr bwMode="auto">
          <a:xfrm>
            <a:off x="4648200" y="24384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E</a:t>
            </a:r>
          </a:p>
        </p:txBody>
      </p:sp>
      <p:sp>
        <p:nvSpPr>
          <p:cNvPr id="40969" name="Oval 10"/>
          <p:cNvSpPr>
            <a:spLocks noChangeArrowheads="1"/>
          </p:cNvSpPr>
          <p:nvPr/>
        </p:nvSpPr>
        <p:spPr bwMode="auto">
          <a:xfrm>
            <a:off x="6553200" y="24384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F</a:t>
            </a:r>
          </a:p>
        </p:txBody>
      </p:sp>
      <p:sp>
        <p:nvSpPr>
          <p:cNvPr id="40970" name="Oval 11"/>
          <p:cNvSpPr>
            <a:spLocks noChangeArrowheads="1"/>
          </p:cNvSpPr>
          <p:nvPr/>
        </p:nvSpPr>
        <p:spPr bwMode="auto">
          <a:xfrm>
            <a:off x="685800" y="25146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D</a:t>
            </a:r>
          </a:p>
        </p:txBody>
      </p:sp>
      <p:sp>
        <p:nvSpPr>
          <p:cNvPr id="40971" name="Line 12"/>
          <p:cNvSpPr>
            <a:spLocks noChangeShapeType="1"/>
          </p:cNvSpPr>
          <p:nvPr/>
        </p:nvSpPr>
        <p:spPr bwMode="auto">
          <a:xfrm flipH="1">
            <a:off x="2286000" y="609600"/>
            <a:ext cx="1295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72" name="Line 13"/>
          <p:cNvSpPr>
            <a:spLocks noChangeShapeType="1"/>
          </p:cNvSpPr>
          <p:nvPr/>
        </p:nvSpPr>
        <p:spPr bwMode="auto">
          <a:xfrm flipH="1">
            <a:off x="1066800" y="1828800"/>
            <a:ext cx="7620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73" name="Line 15"/>
          <p:cNvSpPr>
            <a:spLocks noChangeShapeType="1"/>
          </p:cNvSpPr>
          <p:nvPr/>
        </p:nvSpPr>
        <p:spPr bwMode="auto">
          <a:xfrm>
            <a:off x="1143000" y="2971800"/>
            <a:ext cx="6858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74" name="Line 16"/>
          <p:cNvSpPr>
            <a:spLocks noChangeShapeType="1"/>
          </p:cNvSpPr>
          <p:nvPr/>
        </p:nvSpPr>
        <p:spPr bwMode="auto">
          <a:xfrm>
            <a:off x="4191000" y="533400"/>
            <a:ext cx="12192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75" name="Line 17"/>
          <p:cNvSpPr>
            <a:spLocks noChangeShapeType="1"/>
          </p:cNvSpPr>
          <p:nvPr/>
        </p:nvSpPr>
        <p:spPr bwMode="auto">
          <a:xfrm flipH="1">
            <a:off x="5029200" y="1752600"/>
            <a:ext cx="4572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76" name="Line 18"/>
          <p:cNvSpPr>
            <a:spLocks noChangeShapeType="1"/>
          </p:cNvSpPr>
          <p:nvPr/>
        </p:nvSpPr>
        <p:spPr bwMode="auto">
          <a:xfrm>
            <a:off x="5867400" y="1676400"/>
            <a:ext cx="8382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77" name="Line 19"/>
          <p:cNvSpPr>
            <a:spLocks noChangeShapeType="1"/>
          </p:cNvSpPr>
          <p:nvPr/>
        </p:nvSpPr>
        <p:spPr bwMode="auto">
          <a:xfrm flipH="1">
            <a:off x="4191000" y="2971800"/>
            <a:ext cx="6096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78" name="Line 20"/>
          <p:cNvSpPr>
            <a:spLocks noChangeShapeType="1"/>
          </p:cNvSpPr>
          <p:nvPr/>
        </p:nvSpPr>
        <p:spPr bwMode="auto">
          <a:xfrm>
            <a:off x="5029200" y="2971800"/>
            <a:ext cx="533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79" name="Oval 22"/>
          <p:cNvSpPr>
            <a:spLocks noChangeArrowheads="1"/>
          </p:cNvSpPr>
          <p:nvPr/>
        </p:nvSpPr>
        <p:spPr bwMode="auto">
          <a:xfrm>
            <a:off x="3886200" y="38100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H</a:t>
            </a:r>
          </a:p>
        </p:txBody>
      </p:sp>
      <p:sp>
        <p:nvSpPr>
          <p:cNvPr id="40980" name="Text Box 23"/>
          <p:cNvSpPr txBox="1">
            <a:spLocks noChangeArrowheads="1"/>
          </p:cNvSpPr>
          <p:nvPr/>
        </p:nvSpPr>
        <p:spPr bwMode="auto">
          <a:xfrm>
            <a:off x="533400" y="5638800"/>
            <a:ext cx="7391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50000"/>
              </a:spcBef>
              <a:buFontTx/>
              <a:buNone/>
            </a:pPr>
            <a:endParaRPr lang="en-US" sz="180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F1CA36B2-D46F-4FD1-AA7D-7547033381AC}" type="slidenum">
              <a:rPr lang="en-US" sz="1400" smtClean="0"/>
              <a:pPr algn="r">
                <a:spcBef>
                  <a:spcPct val="0"/>
                </a:spcBef>
                <a:buFontTx/>
                <a:buNone/>
              </a:pPr>
              <a:t>52</a:t>
            </a:fld>
            <a:endParaRPr lang="en-US" sz="1400" smtClean="0"/>
          </a:p>
        </p:txBody>
      </p:sp>
      <p:sp>
        <p:nvSpPr>
          <p:cNvPr id="41987" name="Rectangle 3"/>
          <p:cNvSpPr>
            <a:spLocks noGrp="1" noChangeArrowheads="1"/>
          </p:cNvSpPr>
          <p:nvPr>
            <p:ph type="body" idx="1"/>
          </p:nvPr>
        </p:nvSpPr>
        <p:spPr>
          <a:xfrm>
            <a:off x="457200" y="609600"/>
            <a:ext cx="8229600" cy="1828800"/>
          </a:xfrm>
        </p:spPr>
        <p:txBody>
          <a:bodyPr/>
          <a:lstStyle/>
          <a:p>
            <a:pPr eaLnBrk="1" hangingPunct="1"/>
            <a:r>
              <a:rPr lang="en-US" sz="4000" b="1" smtClean="0"/>
              <a:t>Postorder: G D B H I E F C A</a:t>
            </a:r>
            <a:r>
              <a:rPr lang="en-US" smtClean="0"/>
              <a:t> </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62BB033A-1237-41B7-AA2D-B1D1A6B9F984}" type="slidenum">
              <a:rPr lang="en-US" sz="1400" smtClean="0"/>
              <a:pPr algn="r">
                <a:spcBef>
                  <a:spcPct val="0"/>
                </a:spcBef>
                <a:buFontTx/>
                <a:buNone/>
              </a:pPr>
              <a:t>53</a:t>
            </a:fld>
            <a:endParaRPr lang="en-US" sz="1400" smtClean="0"/>
          </a:p>
        </p:txBody>
      </p:sp>
      <p:sp>
        <p:nvSpPr>
          <p:cNvPr id="43011" name="Rectangle 2"/>
          <p:cNvSpPr>
            <a:spLocks noGrp="1" noChangeArrowheads="1"/>
          </p:cNvSpPr>
          <p:nvPr>
            <p:ph type="body" idx="1"/>
          </p:nvPr>
        </p:nvSpPr>
        <p:spPr>
          <a:xfrm>
            <a:off x="457200" y="1143000"/>
            <a:ext cx="8458200" cy="4953000"/>
          </a:xfrm>
        </p:spPr>
        <p:txBody>
          <a:bodyPr/>
          <a:lstStyle/>
          <a:p>
            <a:pPr eaLnBrk="1" hangingPunct="1"/>
            <a:r>
              <a:rPr lang="en-US" sz="4000" smtClean="0"/>
              <a:t>The inorder and preorder traversals of a tree yield the following sequences of node:</a:t>
            </a:r>
          </a:p>
          <a:p>
            <a:pPr lvl="1" eaLnBrk="1" hangingPunct="1">
              <a:buFontTx/>
              <a:buNone/>
            </a:pPr>
            <a:r>
              <a:rPr lang="en-US" sz="4000" b="1" smtClean="0"/>
              <a:t>preorder : A B D F E J G C H I</a:t>
            </a:r>
          </a:p>
          <a:p>
            <a:pPr lvl="1" eaLnBrk="1" hangingPunct="1">
              <a:buFontTx/>
              <a:buNone/>
            </a:pPr>
            <a:r>
              <a:rPr lang="en-US" sz="4000" b="1" smtClean="0"/>
              <a:t>inorder :  F D B J E G A H I C</a:t>
            </a:r>
          </a:p>
          <a:p>
            <a:pPr eaLnBrk="1" hangingPunct="1"/>
            <a:r>
              <a:rPr lang="en-US" sz="4000" smtClean="0"/>
              <a:t>Draw the tree.</a:t>
            </a:r>
          </a:p>
          <a:p>
            <a:pPr eaLnBrk="1" hangingPunct="1"/>
            <a:r>
              <a:rPr lang="en-US" sz="4000" smtClean="0"/>
              <a:t>Write the postorder sequence also.</a:t>
            </a:r>
          </a:p>
        </p:txBody>
      </p:sp>
      <p:sp>
        <p:nvSpPr>
          <p:cNvPr id="43012" name="Text Box 3"/>
          <p:cNvSpPr txBox="1">
            <a:spLocks noChangeArrowheads="1"/>
          </p:cNvSpPr>
          <p:nvPr/>
        </p:nvSpPr>
        <p:spPr bwMode="auto">
          <a:xfrm>
            <a:off x="2133600" y="381000"/>
            <a:ext cx="6096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b="1" u="sng"/>
              <a:t>PROBLEM – 3 (2017 Exam)</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2531B2FA-BB00-4835-9D07-A83B009CD4AD}" type="slidenum">
              <a:rPr lang="en-US" sz="1400" smtClean="0"/>
              <a:pPr algn="r">
                <a:spcBef>
                  <a:spcPct val="0"/>
                </a:spcBef>
                <a:buFontTx/>
                <a:buNone/>
              </a:pPr>
              <a:t>54</a:t>
            </a:fld>
            <a:endParaRPr lang="en-US" sz="1400" smtClean="0"/>
          </a:p>
        </p:txBody>
      </p:sp>
      <p:sp>
        <p:nvSpPr>
          <p:cNvPr id="44035" name="Oval 2"/>
          <p:cNvSpPr>
            <a:spLocks noChangeArrowheads="1"/>
          </p:cNvSpPr>
          <p:nvPr/>
        </p:nvSpPr>
        <p:spPr bwMode="auto">
          <a:xfrm>
            <a:off x="4876800" y="8382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A</a:t>
            </a:r>
          </a:p>
        </p:txBody>
      </p:sp>
      <p:sp>
        <p:nvSpPr>
          <p:cNvPr id="44036" name="Oval 3"/>
          <p:cNvSpPr>
            <a:spLocks noChangeArrowheads="1"/>
          </p:cNvSpPr>
          <p:nvPr/>
        </p:nvSpPr>
        <p:spPr bwMode="auto">
          <a:xfrm>
            <a:off x="6629400" y="18288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C</a:t>
            </a:r>
          </a:p>
        </p:txBody>
      </p:sp>
      <p:sp>
        <p:nvSpPr>
          <p:cNvPr id="44037" name="Oval 7"/>
          <p:cNvSpPr>
            <a:spLocks noChangeArrowheads="1"/>
          </p:cNvSpPr>
          <p:nvPr/>
        </p:nvSpPr>
        <p:spPr bwMode="auto">
          <a:xfrm>
            <a:off x="3048000" y="19812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B</a:t>
            </a:r>
          </a:p>
        </p:txBody>
      </p:sp>
      <p:sp>
        <p:nvSpPr>
          <p:cNvPr id="44038" name="Oval 8"/>
          <p:cNvSpPr>
            <a:spLocks noChangeArrowheads="1"/>
          </p:cNvSpPr>
          <p:nvPr/>
        </p:nvSpPr>
        <p:spPr bwMode="auto">
          <a:xfrm>
            <a:off x="6172200" y="30480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H</a:t>
            </a:r>
          </a:p>
        </p:txBody>
      </p:sp>
      <p:sp>
        <p:nvSpPr>
          <p:cNvPr id="44039" name="Oval 11"/>
          <p:cNvSpPr>
            <a:spLocks noChangeArrowheads="1"/>
          </p:cNvSpPr>
          <p:nvPr/>
        </p:nvSpPr>
        <p:spPr bwMode="auto">
          <a:xfrm>
            <a:off x="1981200" y="31242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D</a:t>
            </a:r>
          </a:p>
        </p:txBody>
      </p:sp>
      <p:sp>
        <p:nvSpPr>
          <p:cNvPr id="44040" name="Line 12"/>
          <p:cNvSpPr>
            <a:spLocks noChangeShapeType="1"/>
          </p:cNvSpPr>
          <p:nvPr/>
        </p:nvSpPr>
        <p:spPr bwMode="auto">
          <a:xfrm flipH="1">
            <a:off x="3581400" y="1219200"/>
            <a:ext cx="1295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41" name="Line 13"/>
          <p:cNvSpPr>
            <a:spLocks noChangeShapeType="1"/>
          </p:cNvSpPr>
          <p:nvPr/>
        </p:nvSpPr>
        <p:spPr bwMode="auto">
          <a:xfrm flipH="1">
            <a:off x="2438400" y="2438400"/>
            <a:ext cx="6858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42" name="Line 15"/>
          <p:cNvSpPr>
            <a:spLocks noChangeShapeType="1"/>
          </p:cNvSpPr>
          <p:nvPr/>
        </p:nvSpPr>
        <p:spPr bwMode="auto">
          <a:xfrm>
            <a:off x="3505200" y="2514600"/>
            <a:ext cx="6858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43" name="Line 16"/>
          <p:cNvSpPr>
            <a:spLocks noChangeShapeType="1"/>
          </p:cNvSpPr>
          <p:nvPr/>
        </p:nvSpPr>
        <p:spPr bwMode="auto">
          <a:xfrm>
            <a:off x="5486400" y="1143000"/>
            <a:ext cx="12192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44" name="Line 17"/>
          <p:cNvSpPr>
            <a:spLocks noChangeShapeType="1"/>
          </p:cNvSpPr>
          <p:nvPr/>
        </p:nvSpPr>
        <p:spPr bwMode="auto">
          <a:xfrm flipH="1">
            <a:off x="6553200" y="2286000"/>
            <a:ext cx="3048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45" name="Line 19"/>
          <p:cNvSpPr>
            <a:spLocks noChangeShapeType="1"/>
          </p:cNvSpPr>
          <p:nvPr/>
        </p:nvSpPr>
        <p:spPr bwMode="auto">
          <a:xfrm>
            <a:off x="6629400" y="3581400"/>
            <a:ext cx="8382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46" name="Oval 22"/>
          <p:cNvSpPr>
            <a:spLocks noChangeArrowheads="1"/>
          </p:cNvSpPr>
          <p:nvPr/>
        </p:nvSpPr>
        <p:spPr bwMode="auto">
          <a:xfrm>
            <a:off x="7086600" y="44958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I</a:t>
            </a:r>
          </a:p>
        </p:txBody>
      </p:sp>
      <p:sp>
        <p:nvSpPr>
          <p:cNvPr id="44047" name="Text Box 23"/>
          <p:cNvSpPr txBox="1">
            <a:spLocks noChangeArrowheads="1"/>
          </p:cNvSpPr>
          <p:nvPr/>
        </p:nvSpPr>
        <p:spPr bwMode="auto">
          <a:xfrm>
            <a:off x="533400" y="5638800"/>
            <a:ext cx="7391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50000"/>
              </a:spcBef>
              <a:buFontTx/>
              <a:buNone/>
            </a:pPr>
            <a:endParaRPr lang="en-US" sz="1800"/>
          </a:p>
        </p:txBody>
      </p:sp>
      <p:sp>
        <p:nvSpPr>
          <p:cNvPr id="44048" name="Line 19"/>
          <p:cNvSpPr>
            <a:spLocks noChangeShapeType="1"/>
          </p:cNvSpPr>
          <p:nvPr/>
        </p:nvSpPr>
        <p:spPr bwMode="auto">
          <a:xfrm flipH="1">
            <a:off x="1524000" y="3581400"/>
            <a:ext cx="6096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49" name="Oval 22"/>
          <p:cNvSpPr>
            <a:spLocks noChangeArrowheads="1"/>
          </p:cNvSpPr>
          <p:nvPr/>
        </p:nvSpPr>
        <p:spPr bwMode="auto">
          <a:xfrm>
            <a:off x="1066800" y="43434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F</a:t>
            </a:r>
          </a:p>
        </p:txBody>
      </p:sp>
      <p:sp>
        <p:nvSpPr>
          <p:cNvPr id="44050" name="Oval 6"/>
          <p:cNvSpPr>
            <a:spLocks noChangeArrowheads="1"/>
          </p:cNvSpPr>
          <p:nvPr/>
        </p:nvSpPr>
        <p:spPr bwMode="auto">
          <a:xfrm>
            <a:off x="4419600" y="44196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G</a:t>
            </a:r>
          </a:p>
        </p:txBody>
      </p:sp>
      <p:sp>
        <p:nvSpPr>
          <p:cNvPr id="44051" name="Oval 8"/>
          <p:cNvSpPr>
            <a:spLocks noChangeArrowheads="1"/>
          </p:cNvSpPr>
          <p:nvPr/>
        </p:nvSpPr>
        <p:spPr bwMode="auto">
          <a:xfrm>
            <a:off x="3657600" y="31242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E</a:t>
            </a:r>
          </a:p>
        </p:txBody>
      </p:sp>
      <p:sp>
        <p:nvSpPr>
          <p:cNvPr id="44052" name="Line 19"/>
          <p:cNvSpPr>
            <a:spLocks noChangeShapeType="1"/>
          </p:cNvSpPr>
          <p:nvPr/>
        </p:nvSpPr>
        <p:spPr bwMode="auto">
          <a:xfrm flipH="1">
            <a:off x="3200400" y="3657600"/>
            <a:ext cx="6096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53" name="Line 20"/>
          <p:cNvSpPr>
            <a:spLocks noChangeShapeType="1"/>
          </p:cNvSpPr>
          <p:nvPr/>
        </p:nvSpPr>
        <p:spPr bwMode="auto">
          <a:xfrm>
            <a:off x="4038600" y="3657600"/>
            <a:ext cx="533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54" name="Oval 22"/>
          <p:cNvSpPr>
            <a:spLocks noChangeArrowheads="1"/>
          </p:cNvSpPr>
          <p:nvPr/>
        </p:nvSpPr>
        <p:spPr bwMode="auto">
          <a:xfrm>
            <a:off x="2895600" y="44958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J</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2"/>
          <p:cNvSpPr>
            <a:spLocks noGrp="1"/>
          </p:cNvSpPr>
          <p:nvPr>
            <p:ph type="title"/>
          </p:nvPr>
        </p:nvSpPr>
        <p:spPr/>
        <p:txBody>
          <a:bodyPr/>
          <a:lstStyle/>
          <a:p>
            <a:pPr eaLnBrk="1" hangingPunct="1"/>
            <a:r>
              <a:rPr lang="en-US" smtClean="0"/>
              <a:t>Post Order: F D J G E B I H C A</a:t>
            </a:r>
          </a:p>
        </p:txBody>
      </p:sp>
      <p:sp>
        <p:nvSpPr>
          <p:cNvPr id="45059" name="Slide Number Placeholder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A18571A8-8D03-4B90-B2DB-569718B72B08}" type="slidenum">
              <a:rPr lang="en-US" sz="1400" smtClean="0"/>
              <a:pPr algn="r">
                <a:spcBef>
                  <a:spcPct val="0"/>
                </a:spcBef>
                <a:buFontTx/>
                <a:buNone/>
              </a:pPr>
              <a:t>55</a:t>
            </a:fld>
            <a:endParaRPr lang="en-US" sz="1400" smtClean="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82E976DC-94F0-4357-8DAD-AA0E057FED02}" type="slidenum">
              <a:rPr lang="en-US" sz="1400" smtClean="0"/>
              <a:pPr algn="r">
                <a:spcBef>
                  <a:spcPct val="0"/>
                </a:spcBef>
                <a:buFontTx/>
                <a:buNone/>
              </a:pPr>
              <a:t>56</a:t>
            </a:fld>
            <a:endParaRPr lang="en-US" sz="1400" smtClean="0"/>
          </a:p>
        </p:txBody>
      </p:sp>
      <p:sp>
        <p:nvSpPr>
          <p:cNvPr id="46083" name="Rectangle 2"/>
          <p:cNvSpPr>
            <a:spLocks noGrp="1" noChangeArrowheads="1"/>
          </p:cNvSpPr>
          <p:nvPr>
            <p:ph type="body" idx="1"/>
          </p:nvPr>
        </p:nvSpPr>
        <p:spPr>
          <a:xfrm>
            <a:off x="457200" y="1143000"/>
            <a:ext cx="8458200" cy="4953000"/>
          </a:xfrm>
        </p:spPr>
        <p:txBody>
          <a:bodyPr/>
          <a:lstStyle/>
          <a:p>
            <a:pPr eaLnBrk="1" hangingPunct="1"/>
            <a:r>
              <a:rPr lang="en-US" sz="4000" dirty="0" smtClean="0"/>
              <a:t>The Preorder and </a:t>
            </a:r>
            <a:r>
              <a:rPr lang="en-US" sz="4000" dirty="0" err="1" smtClean="0"/>
              <a:t>Inorder</a:t>
            </a:r>
            <a:r>
              <a:rPr lang="en-US" sz="4000" dirty="0" smtClean="0"/>
              <a:t> traversals of a tree yield the following sequences of node:</a:t>
            </a:r>
          </a:p>
          <a:p>
            <a:pPr lvl="1" eaLnBrk="1" hangingPunct="1">
              <a:buFontTx/>
              <a:buNone/>
            </a:pPr>
            <a:r>
              <a:rPr lang="en-US" sz="4000" b="1" dirty="0" smtClean="0"/>
              <a:t>Preorder : A B C D E </a:t>
            </a:r>
          </a:p>
          <a:p>
            <a:pPr lvl="1" eaLnBrk="1" hangingPunct="1">
              <a:buFontTx/>
              <a:buNone/>
            </a:pPr>
            <a:r>
              <a:rPr lang="en-US" sz="4000" b="1" dirty="0" err="1" smtClean="0"/>
              <a:t>Inorder</a:t>
            </a:r>
            <a:r>
              <a:rPr lang="en-US" sz="4000" b="1" dirty="0" smtClean="0"/>
              <a:t> : A B C D E </a:t>
            </a:r>
          </a:p>
          <a:p>
            <a:pPr lvl="1" eaLnBrk="1" hangingPunct="1">
              <a:buFontTx/>
              <a:buNone/>
            </a:pPr>
            <a:r>
              <a:rPr lang="en-US" sz="4000" dirty="0" smtClean="0"/>
              <a:t>Draw the tree.</a:t>
            </a:r>
          </a:p>
          <a:p>
            <a:pPr eaLnBrk="1" hangingPunct="1"/>
            <a:r>
              <a:rPr lang="en-US" sz="4000" dirty="0" smtClean="0"/>
              <a:t>Write the </a:t>
            </a:r>
            <a:r>
              <a:rPr lang="en-US" sz="4000" dirty="0" err="1" smtClean="0"/>
              <a:t>Postorder</a:t>
            </a:r>
            <a:r>
              <a:rPr lang="en-US" sz="4000" dirty="0" smtClean="0"/>
              <a:t> sequence also.</a:t>
            </a:r>
          </a:p>
        </p:txBody>
      </p:sp>
      <p:sp>
        <p:nvSpPr>
          <p:cNvPr id="46084" name="Text Box 3"/>
          <p:cNvSpPr txBox="1">
            <a:spLocks noChangeArrowheads="1"/>
          </p:cNvSpPr>
          <p:nvPr/>
        </p:nvSpPr>
        <p:spPr bwMode="auto">
          <a:xfrm>
            <a:off x="2133600" y="381000"/>
            <a:ext cx="6096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b="1" u="sng"/>
              <a:t>PROBLEM – 4</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7DDDD615-5167-474E-8C59-797F0829E2E9}" type="slidenum">
              <a:rPr lang="en-US" sz="1400" smtClean="0"/>
              <a:pPr algn="r">
                <a:spcBef>
                  <a:spcPct val="0"/>
                </a:spcBef>
                <a:buFontTx/>
                <a:buNone/>
              </a:pPr>
              <a:t>57</a:t>
            </a:fld>
            <a:endParaRPr lang="en-US" sz="1400" smtClean="0"/>
          </a:p>
        </p:txBody>
      </p:sp>
      <p:grpSp>
        <p:nvGrpSpPr>
          <p:cNvPr id="47107" name="Group 16"/>
          <p:cNvGrpSpPr>
            <a:grpSpLocks/>
          </p:cNvGrpSpPr>
          <p:nvPr/>
        </p:nvGrpSpPr>
        <p:grpSpPr bwMode="auto">
          <a:xfrm flipH="1">
            <a:off x="3810000" y="188913"/>
            <a:ext cx="4179888" cy="6076950"/>
            <a:chOff x="544996" y="609600"/>
            <a:chExt cx="4179404" cy="6076121"/>
          </a:xfrm>
        </p:grpSpPr>
        <p:sp>
          <p:nvSpPr>
            <p:cNvPr id="5" name="Oval 4"/>
            <p:cNvSpPr/>
            <p:nvPr/>
          </p:nvSpPr>
          <p:spPr>
            <a:xfrm>
              <a:off x="3733915" y="609600"/>
              <a:ext cx="990485" cy="914275"/>
            </a:xfrm>
            <a:prstGeom prst="ellipse">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IN" dirty="0"/>
                <a:t>A</a:t>
              </a:r>
              <a:endParaRPr lang="en-US" dirty="0"/>
            </a:p>
          </p:txBody>
        </p:sp>
        <p:cxnSp>
          <p:nvCxnSpPr>
            <p:cNvPr id="7" name="Straight Arrow Connector 6"/>
            <p:cNvCxnSpPr/>
            <p:nvPr/>
          </p:nvCxnSpPr>
          <p:spPr>
            <a:xfrm flipH="1">
              <a:off x="3657724" y="1447686"/>
              <a:ext cx="380956" cy="609517"/>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8" name="Oval 7"/>
            <p:cNvSpPr/>
            <p:nvPr/>
          </p:nvSpPr>
          <p:spPr>
            <a:xfrm>
              <a:off x="2945018" y="1904823"/>
              <a:ext cx="990485" cy="914275"/>
            </a:xfrm>
            <a:prstGeom prst="ellipse">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IN" dirty="0"/>
                <a:t>B</a:t>
              </a:r>
              <a:endParaRPr lang="en-US" dirty="0"/>
            </a:p>
          </p:txBody>
        </p:sp>
        <p:cxnSp>
          <p:nvCxnSpPr>
            <p:cNvPr id="9" name="Straight Arrow Connector 8"/>
            <p:cNvCxnSpPr/>
            <p:nvPr/>
          </p:nvCxnSpPr>
          <p:spPr>
            <a:xfrm flipH="1">
              <a:off x="2819621" y="2742909"/>
              <a:ext cx="380956" cy="609517"/>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10" name="Oval 9"/>
            <p:cNvSpPr/>
            <p:nvPr/>
          </p:nvSpPr>
          <p:spPr>
            <a:xfrm>
              <a:off x="2145011" y="3276236"/>
              <a:ext cx="990485" cy="914275"/>
            </a:xfrm>
            <a:prstGeom prst="ellipse">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IN" dirty="0"/>
                <a:t>C</a:t>
              </a:r>
              <a:endParaRPr lang="en-US" dirty="0"/>
            </a:p>
          </p:txBody>
        </p:sp>
        <p:cxnSp>
          <p:nvCxnSpPr>
            <p:cNvPr id="11" name="Straight Arrow Connector 10"/>
            <p:cNvCxnSpPr/>
            <p:nvPr/>
          </p:nvCxnSpPr>
          <p:spPr>
            <a:xfrm flipH="1">
              <a:off x="1981518" y="4114322"/>
              <a:ext cx="380956" cy="609517"/>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12" name="Oval 11"/>
            <p:cNvSpPr/>
            <p:nvPr/>
          </p:nvSpPr>
          <p:spPr>
            <a:xfrm>
              <a:off x="1345003" y="4592094"/>
              <a:ext cx="990485" cy="914275"/>
            </a:xfrm>
            <a:prstGeom prst="ellipse">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IN" dirty="0"/>
                <a:t>D</a:t>
              </a:r>
              <a:endParaRPr lang="en-US" dirty="0"/>
            </a:p>
          </p:txBody>
        </p:sp>
        <p:cxnSp>
          <p:nvCxnSpPr>
            <p:cNvPr id="13" name="Straight Arrow Connector 12"/>
            <p:cNvCxnSpPr/>
            <p:nvPr/>
          </p:nvCxnSpPr>
          <p:spPr>
            <a:xfrm flipH="1">
              <a:off x="1295797" y="5333356"/>
              <a:ext cx="380956" cy="609517"/>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14" name="Oval 13"/>
            <p:cNvSpPr/>
            <p:nvPr/>
          </p:nvSpPr>
          <p:spPr>
            <a:xfrm>
              <a:off x="544996" y="5771446"/>
              <a:ext cx="990485" cy="914275"/>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IN" dirty="0"/>
                <a:t>E</a:t>
              </a:r>
              <a:endParaRPr lang="en-US" dirty="0"/>
            </a:p>
          </p:txBody>
        </p:sp>
      </p:grpSp>
      <p:sp>
        <p:nvSpPr>
          <p:cNvPr id="47108" name="TextBox 15"/>
          <p:cNvSpPr txBox="1">
            <a:spLocks noChangeArrowheads="1"/>
          </p:cNvSpPr>
          <p:nvPr/>
        </p:nvSpPr>
        <p:spPr bwMode="auto">
          <a:xfrm>
            <a:off x="268288" y="1928813"/>
            <a:ext cx="39624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IN" sz="2800" b="1"/>
              <a:t>Postorder: E D C B A</a:t>
            </a:r>
            <a:endParaRPr lang="en-US" sz="2800" b="1"/>
          </a:p>
        </p:txBody>
      </p:sp>
      <p:sp>
        <p:nvSpPr>
          <p:cNvPr id="18" name="TextBox 17"/>
          <p:cNvSpPr txBox="1"/>
          <p:nvPr/>
        </p:nvSpPr>
        <p:spPr>
          <a:xfrm>
            <a:off x="304800" y="2819400"/>
            <a:ext cx="4572000" cy="3540125"/>
          </a:xfrm>
          <a:prstGeom prst="rect">
            <a:avLst/>
          </a:prstGeom>
          <a:noFill/>
        </p:spPr>
        <p:txBody>
          <a:bodyPr>
            <a:spAutoFit/>
          </a:bodyPr>
          <a:lstStyle/>
          <a:p>
            <a:pPr algn="ctr" eaLnBrk="1" hangingPunct="1">
              <a:defRPr/>
            </a:pPr>
            <a:r>
              <a:rPr lang="en-IN" sz="2800" b="1" u="sng" dirty="0"/>
              <a:t>NOTE:</a:t>
            </a:r>
          </a:p>
          <a:p>
            <a:pPr algn="just" eaLnBrk="1" hangingPunct="1">
              <a:defRPr/>
            </a:pPr>
            <a:r>
              <a:rPr lang="en-IN" sz="2800" dirty="0"/>
              <a:t>If </a:t>
            </a:r>
            <a:r>
              <a:rPr lang="en-IN" sz="2800" dirty="0" err="1"/>
              <a:t>Inorder</a:t>
            </a:r>
            <a:r>
              <a:rPr lang="en-IN" sz="2800" dirty="0"/>
              <a:t> and </a:t>
            </a:r>
            <a:r>
              <a:rPr lang="en-IN" sz="2800" dirty="0" err="1"/>
              <a:t>Preorder</a:t>
            </a:r>
            <a:r>
              <a:rPr lang="en-IN" sz="2800" dirty="0"/>
              <a:t> of a Binary tree are same:</a:t>
            </a:r>
          </a:p>
          <a:p>
            <a:pPr marL="285750" indent="-285750" algn="just" eaLnBrk="1" hangingPunct="1">
              <a:buFont typeface="Arial" panose="020B0604020202020204" pitchFamily="34" charset="0"/>
              <a:buChar char="•"/>
              <a:defRPr/>
            </a:pPr>
            <a:r>
              <a:rPr lang="en-IN" sz="2800" dirty="0"/>
              <a:t>Tree will always be a Right-Skewed Tree.</a:t>
            </a:r>
          </a:p>
          <a:p>
            <a:pPr marL="285750" indent="-285750" algn="just" eaLnBrk="1" hangingPunct="1">
              <a:buFont typeface="Arial" panose="020B0604020202020204" pitchFamily="34" charset="0"/>
              <a:buChar char="•"/>
              <a:defRPr/>
            </a:pPr>
            <a:r>
              <a:rPr lang="en-IN" sz="2800" dirty="0" err="1"/>
              <a:t>Postorder</a:t>
            </a:r>
            <a:r>
              <a:rPr lang="en-IN" sz="2800" dirty="0"/>
              <a:t> will be the reverse of </a:t>
            </a:r>
            <a:r>
              <a:rPr lang="en-IN" sz="2800" dirty="0" err="1"/>
              <a:t>Inorder</a:t>
            </a:r>
            <a:r>
              <a:rPr lang="en-IN" sz="2800" dirty="0"/>
              <a:t> or </a:t>
            </a:r>
            <a:r>
              <a:rPr lang="en-IN" sz="2800" dirty="0" err="1"/>
              <a:t>Preorder</a:t>
            </a:r>
            <a:r>
              <a:rPr lang="en-IN" sz="2800" dirty="0"/>
              <a:t>.</a:t>
            </a:r>
            <a:endParaRPr lang="en-US" sz="2800"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E06A0A77-EB2E-426D-9ABE-5151A7B3A703}" type="slidenum">
              <a:rPr lang="en-US" sz="1400" smtClean="0"/>
              <a:pPr algn="r">
                <a:spcBef>
                  <a:spcPct val="0"/>
                </a:spcBef>
                <a:buFontTx/>
                <a:buNone/>
              </a:pPr>
              <a:t>58</a:t>
            </a:fld>
            <a:endParaRPr lang="en-US" sz="1400" smtClean="0"/>
          </a:p>
        </p:txBody>
      </p:sp>
      <p:sp>
        <p:nvSpPr>
          <p:cNvPr id="48131" name="Rectangle 2"/>
          <p:cNvSpPr>
            <a:spLocks noGrp="1" noChangeArrowheads="1"/>
          </p:cNvSpPr>
          <p:nvPr>
            <p:ph type="body" idx="1"/>
          </p:nvPr>
        </p:nvSpPr>
        <p:spPr>
          <a:xfrm>
            <a:off x="457200" y="1143000"/>
            <a:ext cx="8458200" cy="4953000"/>
          </a:xfrm>
        </p:spPr>
        <p:txBody>
          <a:bodyPr/>
          <a:lstStyle/>
          <a:p>
            <a:pPr eaLnBrk="1" hangingPunct="1"/>
            <a:r>
              <a:rPr lang="en-US" sz="4000" smtClean="0"/>
              <a:t>The Postorder and Inorder traversals of a tree yield the following sequences of node:</a:t>
            </a:r>
          </a:p>
          <a:p>
            <a:pPr lvl="1" eaLnBrk="1" hangingPunct="1">
              <a:buFontTx/>
              <a:buNone/>
            </a:pPr>
            <a:r>
              <a:rPr lang="en-US" sz="4000" b="1" smtClean="0"/>
              <a:t>Postorder : E D C B A</a:t>
            </a:r>
          </a:p>
          <a:p>
            <a:pPr lvl="1" eaLnBrk="1" hangingPunct="1">
              <a:buFontTx/>
              <a:buNone/>
            </a:pPr>
            <a:r>
              <a:rPr lang="en-US" sz="4000" b="1" smtClean="0"/>
              <a:t>Inorder : E D C B A</a:t>
            </a:r>
          </a:p>
          <a:p>
            <a:pPr lvl="1" eaLnBrk="1" hangingPunct="1">
              <a:buFontTx/>
              <a:buNone/>
            </a:pPr>
            <a:r>
              <a:rPr lang="en-US" sz="4000" smtClean="0"/>
              <a:t>Draw the tree.</a:t>
            </a:r>
          </a:p>
          <a:p>
            <a:pPr eaLnBrk="1" hangingPunct="1"/>
            <a:r>
              <a:rPr lang="en-US" sz="4000" smtClean="0"/>
              <a:t>Write the Preorder sequence also.</a:t>
            </a:r>
          </a:p>
        </p:txBody>
      </p:sp>
      <p:sp>
        <p:nvSpPr>
          <p:cNvPr id="48132" name="Text Box 3"/>
          <p:cNvSpPr txBox="1">
            <a:spLocks noChangeArrowheads="1"/>
          </p:cNvSpPr>
          <p:nvPr/>
        </p:nvSpPr>
        <p:spPr bwMode="auto">
          <a:xfrm>
            <a:off x="2133600" y="381000"/>
            <a:ext cx="6096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b="1" u="sng"/>
              <a:t>PROBLEM – 5</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31932AE4-AA9D-4704-AAB0-B0C89B33E5A4}" type="slidenum">
              <a:rPr lang="en-US" sz="1400" smtClean="0"/>
              <a:pPr algn="r">
                <a:spcBef>
                  <a:spcPct val="0"/>
                </a:spcBef>
                <a:buFontTx/>
                <a:buNone/>
              </a:pPr>
              <a:t>59</a:t>
            </a:fld>
            <a:endParaRPr lang="en-US" sz="1400" smtClean="0"/>
          </a:p>
        </p:txBody>
      </p:sp>
      <p:grpSp>
        <p:nvGrpSpPr>
          <p:cNvPr id="49155" name="Group 20"/>
          <p:cNvGrpSpPr>
            <a:grpSpLocks/>
          </p:cNvGrpSpPr>
          <p:nvPr/>
        </p:nvGrpSpPr>
        <p:grpSpPr bwMode="auto">
          <a:xfrm rot="363459">
            <a:off x="638175" y="0"/>
            <a:ext cx="3973513" cy="6683375"/>
            <a:chOff x="544996" y="609600"/>
            <a:chExt cx="4179404" cy="6076121"/>
          </a:xfrm>
        </p:grpSpPr>
        <p:sp>
          <p:nvSpPr>
            <p:cNvPr id="5" name="Oval 4"/>
            <p:cNvSpPr/>
            <p:nvPr/>
          </p:nvSpPr>
          <p:spPr>
            <a:xfrm>
              <a:off x="3728002" y="604709"/>
              <a:ext cx="990167" cy="915026"/>
            </a:xfrm>
            <a:prstGeom prst="ellipse">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IN" dirty="0"/>
                <a:t>A</a:t>
              </a:r>
              <a:endParaRPr lang="en-US" dirty="0"/>
            </a:p>
          </p:txBody>
        </p:sp>
        <p:cxnSp>
          <p:nvCxnSpPr>
            <p:cNvPr id="7" name="Straight Arrow Connector 6"/>
            <p:cNvCxnSpPr/>
            <p:nvPr/>
          </p:nvCxnSpPr>
          <p:spPr>
            <a:xfrm flipH="1">
              <a:off x="3649067" y="1441646"/>
              <a:ext cx="380705" cy="609055"/>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8" name="Oval 7"/>
            <p:cNvSpPr/>
            <p:nvPr/>
          </p:nvSpPr>
          <p:spPr>
            <a:xfrm>
              <a:off x="2941457" y="1898900"/>
              <a:ext cx="990166" cy="913583"/>
            </a:xfrm>
            <a:prstGeom prst="ellipse">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IN" dirty="0"/>
                <a:t>B</a:t>
              </a:r>
              <a:endParaRPr lang="en-US" dirty="0"/>
            </a:p>
          </p:txBody>
        </p:sp>
        <p:cxnSp>
          <p:nvCxnSpPr>
            <p:cNvPr id="9" name="Straight Arrow Connector 8"/>
            <p:cNvCxnSpPr/>
            <p:nvPr/>
          </p:nvCxnSpPr>
          <p:spPr>
            <a:xfrm flipH="1">
              <a:off x="2810695" y="2736245"/>
              <a:ext cx="380705" cy="610498"/>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10" name="Oval 9"/>
            <p:cNvSpPr/>
            <p:nvPr/>
          </p:nvSpPr>
          <p:spPr>
            <a:xfrm>
              <a:off x="2137590" y="3270078"/>
              <a:ext cx="991836" cy="913583"/>
            </a:xfrm>
            <a:prstGeom prst="ellipse">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IN" dirty="0"/>
                <a:t>C</a:t>
              </a:r>
              <a:endParaRPr lang="en-US" dirty="0"/>
            </a:p>
          </p:txBody>
        </p:sp>
        <p:cxnSp>
          <p:nvCxnSpPr>
            <p:cNvPr id="11" name="Straight Arrow Connector 10"/>
            <p:cNvCxnSpPr/>
            <p:nvPr/>
          </p:nvCxnSpPr>
          <p:spPr>
            <a:xfrm flipH="1">
              <a:off x="1980003" y="4108504"/>
              <a:ext cx="380705" cy="609055"/>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12" name="Oval 11"/>
            <p:cNvSpPr/>
            <p:nvPr/>
          </p:nvSpPr>
          <p:spPr>
            <a:xfrm>
              <a:off x="1344435" y="4591084"/>
              <a:ext cx="990166" cy="915026"/>
            </a:xfrm>
            <a:prstGeom prst="ellipse">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IN" dirty="0"/>
                <a:t>D</a:t>
              </a:r>
              <a:endParaRPr lang="en-US" dirty="0"/>
            </a:p>
          </p:txBody>
        </p:sp>
        <p:cxnSp>
          <p:nvCxnSpPr>
            <p:cNvPr id="13" name="Straight Arrow Connector 12"/>
            <p:cNvCxnSpPr/>
            <p:nvPr/>
          </p:nvCxnSpPr>
          <p:spPr>
            <a:xfrm rot="21236541" flipH="1">
              <a:off x="1237365" y="5435600"/>
              <a:ext cx="454174" cy="487822"/>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14" name="Oval 13"/>
            <p:cNvSpPr/>
            <p:nvPr/>
          </p:nvSpPr>
          <p:spPr>
            <a:xfrm>
              <a:off x="536887" y="5768194"/>
              <a:ext cx="990167" cy="915026"/>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IN" dirty="0"/>
                <a:t>E</a:t>
              </a:r>
              <a:endParaRPr lang="en-US" dirty="0"/>
            </a:p>
          </p:txBody>
        </p:sp>
      </p:grpSp>
      <p:sp>
        <p:nvSpPr>
          <p:cNvPr id="49156" name="TextBox 15"/>
          <p:cNvSpPr txBox="1">
            <a:spLocks noChangeArrowheads="1"/>
          </p:cNvSpPr>
          <p:nvPr/>
        </p:nvSpPr>
        <p:spPr bwMode="auto">
          <a:xfrm>
            <a:off x="5086350" y="979488"/>
            <a:ext cx="3962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en-IN" sz="2800" b="1"/>
              <a:t>Preorder: A B C D E</a:t>
            </a:r>
            <a:endParaRPr lang="en-US" sz="2800" b="1"/>
          </a:p>
        </p:txBody>
      </p:sp>
      <p:sp>
        <p:nvSpPr>
          <p:cNvPr id="25" name="TextBox 24"/>
          <p:cNvSpPr txBox="1"/>
          <p:nvPr/>
        </p:nvSpPr>
        <p:spPr>
          <a:xfrm>
            <a:off x="3967163" y="2652713"/>
            <a:ext cx="4572000" cy="3538537"/>
          </a:xfrm>
          <a:prstGeom prst="rect">
            <a:avLst/>
          </a:prstGeom>
          <a:noFill/>
        </p:spPr>
        <p:txBody>
          <a:bodyPr>
            <a:spAutoFit/>
          </a:bodyPr>
          <a:lstStyle/>
          <a:p>
            <a:pPr algn="ctr" eaLnBrk="1" hangingPunct="1">
              <a:defRPr/>
            </a:pPr>
            <a:r>
              <a:rPr lang="en-IN" sz="2800" b="1" u="sng" dirty="0"/>
              <a:t>NOTE:</a:t>
            </a:r>
          </a:p>
          <a:p>
            <a:pPr algn="just" eaLnBrk="1" hangingPunct="1">
              <a:defRPr/>
            </a:pPr>
            <a:r>
              <a:rPr lang="en-IN" sz="2800" dirty="0"/>
              <a:t>If </a:t>
            </a:r>
            <a:r>
              <a:rPr lang="en-IN" sz="2800" dirty="0" err="1"/>
              <a:t>Inorder</a:t>
            </a:r>
            <a:r>
              <a:rPr lang="en-IN" sz="2800" dirty="0"/>
              <a:t> and </a:t>
            </a:r>
            <a:r>
              <a:rPr lang="en-IN" sz="2800" dirty="0" err="1"/>
              <a:t>Postorder</a:t>
            </a:r>
            <a:r>
              <a:rPr lang="en-IN" sz="2800" dirty="0"/>
              <a:t> of a Binary tree are same:</a:t>
            </a:r>
          </a:p>
          <a:p>
            <a:pPr marL="285750" indent="-285750" algn="just" eaLnBrk="1" hangingPunct="1">
              <a:buFont typeface="Arial" panose="020B0604020202020204" pitchFamily="34" charset="0"/>
              <a:buChar char="•"/>
              <a:defRPr/>
            </a:pPr>
            <a:r>
              <a:rPr lang="en-IN" sz="2800" dirty="0"/>
              <a:t>Tree will always be a Left-Skewed Tree.</a:t>
            </a:r>
          </a:p>
          <a:p>
            <a:pPr marL="285750" indent="-285750" algn="just" eaLnBrk="1" hangingPunct="1">
              <a:buFont typeface="Arial" panose="020B0604020202020204" pitchFamily="34" charset="0"/>
              <a:buChar char="•"/>
              <a:defRPr/>
            </a:pPr>
            <a:r>
              <a:rPr lang="en-IN" sz="2800" dirty="0" err="1"/>
              <a:t>Preorder</a:t>
            </a:r>
            <a:r>
              <a:rPr lang="en-IN" sz="2800" dirty="0"/>
              <a:t> will be the reverse of </a:t>
            </a:r>
            <a:r>
              <a:rPr lang="en-IN" sz="2800" dirty="0" err="1"/>
              <a:t>Inorder</a:t>
            </a:r>
            <a:r>
              <a:rPr lang="en-IN" sz="2800" dirty="0"/>
              <a:t> or </a:t>
            </a:r>
            <a:r>
              <a:rPr lang="en-IN" sz="2800" dirty="0" err="1"/>
              <a:t>Postorder</a:t>
            </a:r>
            <a:r>
              <a:rPr lang="en-IN" sz="2800" dirty="0"/>
              <a:t>.</a:t>
            </a:r>
            <a:endParaRPr lang="en-US" sz="2800"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46A89697-FBB2-4B67-8D4C-711E4946E7E5}" type="slidenum">
              <a:rPr lang="en-US" sz="1400" smtClean="0"/>
              <a:pPr algn="r">
                <a:spcBef>
                  <a:spcPct val="0"/>
                </a:spcBef>
                <a:buFontTx/>
                <a:buNone/>
              </a:pPr>
              <a:t>60</a:t>
            </a:fld>
            <a:endParaRPr lang="en-US" sz="1400" smtClean="0"/>
          </a:p>
        </p:txBody>
      </p:sp>
      <p:sp>
        <p:nvSpPr>
          <p:cNvPr id="55299" name="Rectangle 2"/>
          <p:cNvSpPr>
            <a:spLocks noGrp="1" noChangeArrowheads="1"/>
          </p:cNvSpPr>
          <p:nvPr>
            <p:ph type="title"/>
          </p:nvPr>
        </p:nvSpPr>
        <p:spPr>
          <a:xfrm>
            <a:off x="457200" y="274638"/>
            <a:ext cx="8229600" cy="868362"/>
          </a:xfrm>
        </p:spPr>
        <p:txBody>
          <a:bodyPr/>
          <a:lstStyle/>
          <a:p>
            <a:pPr eaLnBrk="1" hangingPunct="1"/>
            <a:r>
              <a:rPr lang="en-US" b="1" smtClean="0"/>
              <a:t>Binary Search Tree (BST)</a:t>
            </a:r>
          </a:p>
        </p:txBody>
      </p:sp>
      <p:sp>
        <p:nvSpPr>
          <p:cNvPr id="55300" name="Rectangle 3"/>
          <p:cNvSpPr>
            <a:spLocks noGrp="1" noChangeArrowheads="1"/>
          </p:cNvSpPr>
          <p:nvPr>
            <p:ph type="body" idx="1"/>
          </p:nvPr>
        </p:nvSpPr>
        <p:spPr/>
        <p:txBody>
          <a:bodyPr/>
          <a:lstStyle/>
          <a:p>
            <a:pPr eaLnBrk="1" hangingPunct="1">
              <a:lnSpc>
                <a:spcPct val="90000"/>
              </a:lnSpc>
            </a:pPr>
            <a:r>
              <a:rPr lang="en-US" dirty="0" smtClean="0"/>
              <a:t>A binary tree T is called a  binary search tree if each node N of T has the following property:</a:t>
            </a:r>
          </a:p>
          <a:p>
            <a:pPr lvl="1" eaLnBrk="1" hangingPunct="1">
              <a:lnSpc>
                <a:spcPct val="90000"/>
              </a:lnSpc>
            </a:pPr>
            <a:r>
              <a:rPr lang="en-US" dirty="0" smtClean="0"/>
              <a:t>The value at N is greater than every value in the left </a:t>
            </a:r>
            <a:r>
              <a:rPr lang="en-US" dirty="0" err="1" smtClean="0"/>
              <a:t>subtree</a:t>
            </a:r>
            <a:r>
              <a:rPr lang="en-US" dirty="0" smtClean="0"/>
              <a:t> of N</a:t>
            </a:r>
          </a:p>
          <a:p>
            <a:pPr lvl="1" eaLnBrk="1" hangingPunct="1">
              <a:lnSpc>
                <a:spcPct val="90000"/>
              </a:lnSpc>
            </a:pPr>
            <a:r>
              <a:rPr lang="en-US" dirty="0" smtClean="0"/>
              <a:t>And is less than or equal to every value in the right </a:t>
            </a:r>
            <a:r>
              <a:rPr lang="en-US" dirty="0" err="1" smtClean="0"/>
              <a:t>subtree</a:t>
            </a:r>
            <a:r>
              <a:rPr lang="en-US" dirty="0" smtClean="0"/>
              <a:t> of N.</a:t>
            </a:r>
          </a:p>
          <a:p>
            <a:pPr eaLnBrk="1" hangingPunct="1">
              <a:lnSpc>
                <a:spcPct val="90000"/>
              </a:lnSpc>
            </a:pPr>
            <a:r>
              <a:rPr lang="en-US" dirty="0" smtClean="0"/>
              <a:t>This property guarantees that the </a:t>
            </a:r>
            <a:r>
              <a:rPr lang="en-US" dirty="0" err="1" smtClean="0"/>
              <a:t>inorder</a:t>
            </a:r>
            <a:r>
              <a:rPr lang="en-US" dirty="0" smtClean="0"/>
              <a:t> traversal of T will yield a sorted listing of elements.</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C12D028F-A5A4-45CA-B77E-6ECE55DA9139}" type="slidenum">
              <a:rPr lang="en-US" sz="1400" smtClean="0"/>
              <a:pPr algn="r">
                <a:spcBef>
                  <a:spcPct val="0"/>
                </a:spcBef>
                <a:buFontTx/>
                <a:buNone/>
              </a:pPr>
              <a:t>61</a:t>
            </a:fld>
            <a:endParaRPr lang="en-US" sz="1400" smtClean="0"/>
          </a:p>
        </p:txBody>
      </p:sp>
      <p:sp>
        <p:nvSpPr>
          <p:cNvPr id="56323" name="Rectangle 3"/>
          <p:cNvSpPr>
            <a:spLocks noGrp="1" noChangeArrowheads="1"/>
          </p:cNvSpPr>
          <p:nvPr>
            <p:ph type="body" idx="1"/>
          </p:nvPr>
        </p:nvSpPr>
        <p:spPr>
          <a:xfrm>
            <a:off x="457200" y="685800"/>
            <a:ext cx="8229600" cy="5440363"/>
          </a:xfrm>
        </p:spPr>
        <p:txBody>
          <a:bodyPr/>
          <a:lstStyle/>
          <a:p>
            <a:pPr eaLnBrk="1" hangingPunct="1"/>
            <a:r>
              <a:rPr lang="en-US" dirty="0" smtClean="0"/>
              <a:t>Prepare a BST with the following sequence:</a:t>
            </a:r>
          </a:p>
          <a:p>
            <a:pPr eaLnBrk="1" hangingPunct="1"/>
            <a:r>
              <a:rPr lang="en-US" sz="4400" b="1" dirty="0" smtClean="0"/>
              <a:t>40,60,50,33,55,11</a:t>
            </a:r>
          </a:p>
        </p:txBody>
      </p:sp>
    </p:spTree>
    <p:extLst>
      <p:ext uri="{BB962C8B-B14F-4D97-AF65-F5344CB8AC3E}">
        <p14:creationId xmlns:p14="http://schemas.microsoft.com/office/powerpoint/2010/main" val="52546581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921DFBC9-D954-4959-8183-9B0049918CD5}" type="slidenum">
              <a:rPr lang="en-US" sz="1400" smtClean="0"/>
              <a:pPr algn="r">
                <a:spcBef>
                  <a:spcPct val="0"/>
                </a:spcBef>
                <a:buFontTx/>
                <a:buNone/>
              </a:pPr>
              <a:t>62</a:t>
            </a:fld>
            <a:endParaRPr lang="en-US" sz="1400" smtClean="0"/>
          </a:p>
        </p:txBody>
      </p:sp>
      <p:sp>
        <p:nvSpPr>
          <p:cNvPr id="57347" name="Oval 2"/>
          <p:cNvSpPr>
            <a:spLocks noChangeArrowheads="1"/>
          </p:cNvSpPr>
          <p:nvPr/>
        </p:nvSpPr>
        <p:spPr bwMode="auto">
          <a:xfrm>
            <a:off x="4038600" y="4572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40</a:t>
            </a:r>
          </a:p>
        </p:txBody>
      </p:sp>
      <p:sp>
        <p:nvSpPr>
          <p:cNvPr id="57348" name="Oval 4"/>
          <p:cNvSpPr>
            <a:spLocks noChangeArrowheads="1"/>
          </p:cNvSpPr>
          <p:nvPr/>
        </p:nvSpPr>
        <p:spPr bwMode="auto">
          <a:xfrm>
            <a:off x="4419600" y="23622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50</a:t>
            </a:r>
          </a:p>
        </p:txBody>
      </p:sp>
      <p:sp>
        <p:nvSpPr>
          <p:cNvPr id="57349" name="Oval 5"/>
          <p:cNvSpPr>
            <a:spLocks noChangeArrowheads="1"/>
          </p:cNvSpPr>
          <p:nvPr/>
        </p:nvSpPr>
        <p:spPr bwMode="auto">
          <a:xfrm>
            <a:off x="5410200" y="12954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60</a:t>
            </a:r>
          </a:p>
        </p:txBody>
      </p:sp>
      <p:sp>
        <p:nvSpPr>
          <p:cNvPr id="57350" name="Oval 6"/>
          <p:cNvSpPr>
            <a:spLocks noChangeArrowheads="1"/>
          </p:cNvSpPr>
          <p:nvPr/>
        </p:nvSpPr>
        <p:spPr bwMode="auto">
          <a:xfrm>
            <a:off x="5715000" y="32004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55</a:t>
            </a:r>
          </a:p>
        </p:txBody>
      </p:sp>
      <p:sp>
        <p:nvSpPr>
          <p:cNvPr id="57351" name="Oval 7"/>
          <p:cNvSpPr>
            <a:spLocks noChangeArrowheads="1"/>
          </p:cNvSpPr>
          <p:nvPr/>
        </p:nvSpPr>
        <p:spPr bwMode="auto">
          <a:xfrm>
            <a:off x="2819400" y="12954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33</a:t>
            </a:r>
          </a:p>
        </p:txBody>
      </p:sp>
      <p:sp>
        <p:nvSpPr>
          <p:cNvPr id="57352" name="Oval 10"/>
          <p:cNvSpPr>
            <a:spLocks noChangeArrowheads="1"/>
          </p:cNvSpPr>
          <p:nvPr/>
        </p:nvSpPr>
        <p:spPr bwMode="auto">
          <a:xfrm>
            <a:off x="1676400" y="24384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dirty="0"/>
              <a:t>11</a:t>
            </a:r>
          </a:p>
        </p:txBody>
      </p:sp>
      <p:sp>
        <p:nvSpPr>
          <p:cNvPr id="57353" name="Line 11"/>
          <p:cNvSpPr>
            <a:spLocks noChangeShapeType="1"/>
          </p:cNvSpPr>
          <p:nvPr/>
        </p:nvSpPr>
        <p:spPr bwMode="auto">
          <a:xfrm flipH="1">
            <a:off x="3352800" y="838200"/>
            <a:ext cx="6858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354" name="Line 12"/>
          <p:cNvSpPr>
            <a:spLocks noChangeShapeType="1"/>
          </p:cNvSpPr>
          <p:nvPr/>
        </p:nvSpPr>
        <p:spPr bwMode="auto">
          <a:xfrm flipH="1">
            <a:off x="2133600" y="1752600"/>
            <a:ext cx="7620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355" name="Text Box 15"/>
          <p:cNvSpPr txBox="1">
            <a:spLocks noChangeArrowheads="1"/>
          </p:cNvSpPr>
          <p:nvPr/>
        </p:nvSpPr>
        <p:spPr bwMode="auto">
          <a:xfrm>
            <a:off x="533400" y="5638800"/>
            <a:ext cx="7391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50000"/>
              </a:spcBef>
              <a:buFontTx/>
              <a:buNone/>
            </a:pPr>
            <a:endParaRPr lang="en-US" sz="1800"/>
          </a:p>
        </p:txBody>
      </p:sp>
      <p:sp>
        <p:nvSpPr>
          <p:cNvPr id="57356" name="Line 22"/>
          <p:cNvSpPr>
            <a:spLocks noChangeShapeType="1"/>
          </p:cNvSpPr>
          <p:nvPr/>
        </p:nvSpPr>
        <p:spPr bwMode="auto">
          <a:xfrm>
            <a:off x="4572000" y="914400"/>
            <a:ext cx="914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357" name="Line 23"/>
          <p:cNvSpPr>
            <a:spLocks noChangeShapeType="1"/>
          </p:cNvSpPr>
          <p:nvPr/>
        </p:nvSpPr>
        <p:spPr bwMode="auto">
          <a:xfrm flipH="1">
            <a:off x="4876800" y="1752600"/>
            <a:ext cx="6096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358" name="Line 24"/>
          <p:cNvSpPr>
            <a:spLocks noChangeShapeType="1"/>
          </p:cNvSpPr>
          <p:nvPr/>
        </p:nvSpPr>
        <p:spPr bwMode="auto">
          <a:xfrm>
            <a:off x="4953000" y="2743200"/>
            <a:ext cx="838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8482628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C12D028F-A5A4-45CA-B77E-6ECE55DA9139}" type="slidenum">
              <a:rPr lang="en-US" sz="1400" smtClean="0"/>
              <a:pPr algn="r">
                <a:spcBef>
                  <a:spcPct val="0"/>
                </a:spcBef>
                <a:buFontTx/>
                <a:buNone/>
              </a:pPr>
              <a:t>63</a:t>
            </a:fld>
            <a:endParaRPr lang="en-US" sz="1400" smtClean="0"/>
          </a:p>
        </p:txBody>
      </p:sp>
      <p:sp>
        <p:nvSpPr>
          <p:cNvPr id="56323" name="Rectangle 3"/>
          <p:cNvSpPr>
            <a:spLocks noGrp="1" noChangeArrowheads="1"/>
          </p:cNvSpPr>
          <p:nvPr>
            <p:ph type="body" idx="1"/>
          </p:nvPr>
        </p:nvSpPr>
        <p:spPr>
          <a:xfrm>
            <a:off x="457200" y="685800"/>
            <a:ext cx="8229600" cy="5440363"/>
          </a:xfrm>
        </p:spPr>
        <p:txBody>
          <a:bodyPr/>
          <a:lstStyle/>
          <a:p>
            <a:pPr eaLnBrk="1" hangingPunct="1"/>
            <a:r>
              <a:rPr lang="en-US" dirty="0" smtClean="0"/>
              <a:t>Prepare a BST with the following sequence:</a:t>
            </a:r>
          </a:p>
          <a:p>
            <a:pPr marL="0" indent="0" eaLnBrk="1" hangingPunct="1">
              <a:buNone/>
            </a:pPr>
            <a:r>
              <a:rPr lang="en-US" sz="4400" b="1" dirty="0" smtClean="0"/>
              <a:t>45, 39, 56, 12, 34, 78, 32, 10, 89, 54, 67, 81</a:t>
            </a:r>
            <a:endParaRPr lang="en-US" sz="4400" b="1" dirty="0" smtClean="0"/>
          </a:p>
        </p:txBody>
      </p:sp>
    </p:spTree>
    <p:extLst>
      <p:ext uri="{BB962C8B-B14F-4D97-AF65-F5344CB8AC3E}">
        <p14:creationId xmlns:p14="http://schemas.microsoft.com/office/powerpoint/2010/main" val="270102457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C26F6C5A-909C-41CB-856A-984AE94D65EE}" type="slidenum">
              <a:rPr lang="en-US" smtClean="0"/>
              <a:pPr>
                <a:defRPr/>
              </a:pPr>
              <a:t>64</a:t>
            </a:fld>
            <a:endParaRPr lang="en-US"/>
          </a:p>
        </p:txBody>
      </p:sp>
      <p:pic>
        <p:nvPicPr>
          <p:cNvPr id="7" name="Picture 6"/>
          <p:cNvPicPr>
            <a:picLocks noChangeAspect="1"/>
          </p:cNvPicPr>
          <p:nvPr/>
        </p:nvPicPr>
        <p:blipFill>
          <a:blip r:embed="rId2"/>
          <a:stretch>
            <a:fillRect/>
          </a:stretch>
        </p:blipFill>
        <p:spPr>
          <a:xfrm>
            <a:off x="238759" y="76200"/>
            <a:ext cx="8700685" cy="3505200"/>
          </a:xfrm>
          <a:prstGeom prst="rect">
            <a:avLst/>
          </a:prstGeom>
        </p:spPr>
      </p:pic>
      <p:pic>
        <p:nvPicPr>
          <p:cNvPr id="8" name="Picture 7"/>
          <p:cNvPicPr>
            <a:picLocks noChangeAspect="1"/>
          </p:cNvPicPr>
          <p:nvPr/>
        </p:nvPicPr>
        <p:blipFill>
          <a:blip r:embed="rId3"/>
          <a:stretch>
            <a:fillRect/>
          </a:stretch>
        </p:blipFill>
        <p:spPr>
          <a:xfrm>
            <a:off x="238760" y="3581400"/>
            <a:ext cx="8700684" cy="2895600"/>
          </a:xfrm>
          <a:prstGeom prst="rect">
            <a:avLst/>
          </a:prstGeom>
        </p:spPr>
      </p:pic>
    </p:spTree>
    <p:extLst>
      <p:ext uri="{BB962C8B-B14F-4D97-AF65-F5344CB8AC3E}">
        <p14:creationId xmlns:p14="http://schemas.microsoft.com/office/powerpoint/2010/main" val="270992111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4407FAF4-6417-43F1-A463-77BC67A5D961}" type="slidenum">
              <a:rPr lang="en-US" sz="1400" smtClean="0"/>
              <a:pPr algn="r">
                <a:spcBef>
                  <a:spcPct val="0"/>
                </a:spcBef>
                <a:buFontTx/>
                <a:buNone/>
              </a:pPr>
              <a:t>65</a:t>
            </a:fld>
            <a:endParaRPr lang="en-US" sz="1400" smtClean="0"/>
          </a:p>
        </p:txBody>
      </p:sp>
      <p:sp>
        <p:nvSpPr>
          <p:cNvPr id="58371" name="Rectangle 4"/>
          <p:cNvSpPr>
            <a:spLocks noGrp="1" noChangeArrowheads="1"/>
          </p:cNvSpPr>
          <p:nvPr>
            <p:ph type="body" idx="1"/>
          </p:nvPr>
        </p:nvSpPr>
        <p:spPr>
          <a:xfrm>
            <a:off x="457200" y="381000"/>
            <a:ext cx="8229600" cy="5745163"/>
          </a:xfrm>
          <a:noFill/>
        </p:spPr>
        <p:txBody>
          <a:bodyPr/>
          <a:lstStyle/>
          <a:p>
            <a:pPr eaLnBrk="1" hangingPunct="1"/>
            <a:r>
              <a:rPr lang="en-US" smtClean="0"/>
              <a:t>Prepare a BST with the following sequence:</a:t>
            </a:r>
          </a:p>
          <a:p>
            <a:pPr eaLnBrk="1" hangingPunct="1"/>
            <a:r>
              <a:rPr lang="en-US" b="1" smtClean="0"/>
              <a:t>20,17,6,8,10,7,18,13,12,5</a:t>
            </a: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1E81C823-DEF6-40A8-B752-B6EC6B357F4D}" type="slidenum">
              <a:rPr lang="en-US" sz="1400" smtClean="0"/>
              <a:pPr algn="r">
                <a:spcBef>
                  <a:spcPct val="0"/>
                </a:spcBef>
                <a:buFontTx/>
                <a:buNone/>
              </a:pPr>
              <a:t>66</a:t>
            </a:fld>
            <a:endParaRPr lang="en-US" sz="1400" smtClean="0"/>
          </a:p>
        </p:txBody>
      </p:sp>
      <p:sp>
        <p:nvSpPr>
          <p:cNvPr id="59395" name="Oval 2"/>
          <p:cNvSpPr>
            <a:spLocks noChangeArrowheads="1"/>
          </p:cNvSpPr>
          <p:nvPr/>
        </p:nvSpPr>
        <p:spPr bwMode="auto">
          <a:xfrm>
            <a:off x="4038600" y="4572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20</a:t>
            </a:r>
          </a:p>
        </p:txBody>
      </p:sp>
      <p:sp>
        <p:nvSpPr>
          <p:cNvPr id="59396" name="Oval 3"/>
          <p:cNvSpPr>
            <a:spLocks noChangeArrowheads="1"/>
          </p:cNvSpPr>
          <p:nvPr/>
        </p:nvSpPr>
        <p:spPr bwMode="auto">
          <a:xfrm>
            <a:off x="762000" y="33528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5</a:t>
            </a:r>
          </a:p>
        </p:txBody>
      </p:sp>
      <p:sp>
        <p:nvSpPr>
          <p:cNvPr id="59397" name="Oval 4"/>
          <p:cNvSpPr>
            <a:spLocks noChangeArrowheads="1"/>
          </p:cNvSpPr>
          <p:nvPr/>
        </p:nvSpPr>
        <p:spPr bwMode="auto">
          <a:xfrm>
            <a:off x="3200400" y="32004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8</a:t>
            </a:r>
          </a:p>
        </p:txBody>
      </p:sp>
      <p:sp>
        <p:nvSpPr>
          <p:cNvPr id="59398" name="Oval 5"/>
          <p:cNvSpPr>
            <a:spLocks noChangeArrowheads="1"/>
          </p:cNvSpPr>
          <p:nvPr/>
        </p:nvSpPr>
        <p:spPr bwMode="auto">
          <a:xfrm>
            <a:off x="3810000" y="19812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18</a:t>
            </a:r>
          </a:p>
        </p:txBody>
      </p:sp>
      <p:sp>
        <p:nvSpPr>
          <p:cNvPr id="59399" name="Oval 6"/>
          <p:cNvSpPr>
            <a:spLocks noChangeArrowheads="1"/>
          </p:cNvSpPr>
          <p:nvPr/>
        </p:nvSpPr>
        <p:spPr bwMode="auto">
          <a:xfrm>
            <a:off x="4267200" y="41148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10</a:t>
            </a:r>
          </a:p>
        </p:txBody>
      </p:sp>
      <p:sp>
        <p:nvSpPr>
          <p:cNvPr id="59400" name="Oval 7"/>
          <p:cNvSpPr>
            <a:spLocks noChangeArrowheads="1"/>
          </p:cNvSpPr>
          <p:nvPr/>
        </p:nvSpPr>
        <p:spPr bwMode="auto">
          <a:xfrm>
            <a:off x="2819400" y="12954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17</a:t>
            </a:r>
          </a:p>
        </p:txBody>
      </p:sp>
      <p:sp>
        <p:nvSpPr>
          <p:cNvPr id="59401" name="Oval 8"/>
          <p:cNvSpPr>
            <a:spLocks noChangeArrowheads="1"/>
          </p:cNvSpPr>
          <p:nvPr/>
        </p:nvSpPr>
        <p:spPr bwMode="auto">
          <a:xfrm>
            <a:off x="2438400" y="41148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7</a:t>
            </a:r>
          </a:p>
        </p:txBody>
      </p:sp>
      <p:sp>
        <p:nvSpPr>
          <p:cNvPr id="59402" name="Oval 9"/>
          <p:cNvSpPr>
            <a:spLocks noChangeArrowheads="1"/>
          </p:cNvSpPr>
          <p:nvPr/>
        </p:nvSpPr>
        <p:spPr bwMode="auto">
          <a:xfrm>
            <a:off x="5486400" y="46482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13</a:t>
            </a:r>
          </a:p>
        </p:txBody>
      </p:sp>
      <p:sp>
        <p:nvSpPr>
          <p:cNvPr id="59403" name="Oval 11"/>
          <p:cNvSpPr>
            <a:spLocks noChangeArrowheads="1"/>
          </p:cNvSpPr>
          <p:nvPr/>
        </p:nvSpPr>
        <p:spPr bwMode="auto">
          <a:xfrm>
            <a:off x="1676400" y="24384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6</a:t>
            </a:r>
          </a:p>
        </p:txBody>
      </p:sp>
      <p:sp>
        <p:nvSpPr>
          <p:cNvPr id="59404" name="Line 12"/>
          <p:cNvSpPr>
            <a:spLocks noChangeShapeType="1"/>
          </p:cNvSpPr>
          <p:nvPr/>
        </p:nvSpPr>
        <p:spPr bwMode="auto">
          <a:xfrm flipH="1">
            <a:off x="3352800" y="838200"/>
            <a:ext cx="6858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405" name="Line 13"/>
          <p:cNvSpPr>
            <a:spLocks noChangeShapeType="1"/>
          </p:cNvSpPr>
          <p:nvPr/>
        </p:nvSpPr>
        <p:spPr bwMode="auto">
          <a:xfrm flipH="1">
            <a:off x="2133600" y="1752600"/>
            <a:ext cx="7620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406" name="Line 14"/>
          <p:cNvSpPr>
            <a:spLocks noChangeShapeType="1"/>
          </p:cNvSpPr>
          <p:nvPr/>
        </p:nvSpPr>
        <p:spPr bwMode="auto">
          <a:xfrm>
            <a:off x="3352800" y="1752600"/>
            <a:ext cx="5334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407" name="Oval 22"/>
          <p:cNvSpPr>
            <a:spLocks noChangeArrowheads="1"/>
          </p:cNvSpPr>
          <p:nvPr/>
        </p:nvSpPr>
        <p:spPr bwMode="auto">
          <a:xfrm>
            <a:off x="4419600" y="5410200"/>
            <a:ext cx="609600" cy="533400"/>
          </a:xfrm>
          <a:prstGeom prst="ellipse">
            <a:avLst/>
          </a:prstGeom>
          <a:solidFill>
            <a:schemeClr val="accent1"/>
          </a:solidFill>
          <a:ln w="9525">
            <a:solidFill>
              <a:schemeClr val="tx1"/>
            </a:solidFill>
            <a:round/>
            <a:headEnd/>
            <a:tailEnd/>
          </a:ln>
        </p:spPr>
        <p:txBody>
          <a:bodyPr wrap="none"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800"/>
              <a:t>12</a:t>
            </a:r>
          </a:p>
        </p:txBody>
      </p:sp>
      <p:sp>
        <p:nvSpPr>
          <p:cNvPr id="59408" name="Line 25"/>
          <p:cNvSpPr>
            <a:spLocks noChangeShapeType="1"/>
          </p:cNvSpPr>
          <p:nvPr/>
        </p:nvSpPr>
        <p:spPr bwMode="auto">
          <a:xfrm>
            <a:off x="2286000" y="2819400"/>
            <a:ext cx="9144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409" name="Line 26"/>
          <p:cNvSpPr>
            <a:spLocks noChangeShapeType="1"/>
          </p:cNvSpPr>
          <p:nvPr/>
        </p:nvSpPr>
        <p:spPr bwMode="auto">
          <a:xfrm flipH="1">
            <a:off x="1219200" y="2819400"/>
            <a:ext cx="5334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410" name="Line 27"/>
          <p:cNvSpPr>
            <a:spLocks noChangeShapeType="1"/>
          </p:cNvSpPr>
          <p:nvPr/>
        </p:nvSpPr>
        <p:spPr bwMode="auto">
          <a:xfrm flipH="1">
            <a:off x="2895600" y="3657600"/>
            <a:ext cx="457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411" name="Line 28"/>
          <p:cNvSpPr>
            <a:spLocks noChangeShapeType="1"/>
          </p:cNvSpPr>
          <p:nvPr/>
        </p:nvSpPr>
        <p:spPr bwMode="auto">
          <a:xfrm>
            <a:off x="3733800" y="3657600"/>
            <a:ext cx="6858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412" name="Line 29"/>
          <p:cNvSpPr>
            <a:spLocks noChangeShapeType="1"/>
          </p:cNvSpPr>
          <p:nvPr/>
        </p:nvSpPr>
        <p:spPr bwMode="auto">
          <a:xfrm>
            <a:off x="4876800" y="4419600"/>
            <a:ext cx="609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413" name="Line 30"/>
          <p:cNvSpPr>
            <a:spLocks noChangeShapeType="1"/>
          </p:cNvSpPr>
          <p:nvPr/>
        </p:nvSpPr>
        <p:spPr bwMode="auto">
          <a:xfrm flipH="1">
            <a:off x="4953000" y="5029200"/>
            <a:ext cx="533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F8B6C537-20AB-4C92-859E-295838A3804B}" type="slidenum">
              <a:rPr lang="en-US" sz="1400" smtClean="0"/>
              <a:pPr algn="r">
                <a:spcBef>
                  <a:spcPct val="0"/>
                </a:spcBef>
                <a:buFontTx/>
                <a:buNone/>
              </a:pPr>
              <a:t>67</a:t>
            </a:fld>
            <a:endParaRPr lang="en-US" sz="1400" smtClean="0"/>
          </a:p>
        </p:txBody>
      </p:sp>
      <p:sp>
        <p:nvSpPr>
          <p:cNvPr id="60419" name="Rectangle 2"/>
          <p:cNvSpPr>
            <a:spLocks noGrp="1" noChangeArrowheads="1"/>
          </p:cNvSpPr>
          <p:nvPr>
            <p:ph type="title"/>
          </p:nvPr>
        </p:nvSpPr>
        <p:spPr/>
        <p:txBody>
          <a:bodyPr/>
          <a:lstStyle/>
          <a:p>
            <a:pPr eaLnBrk="1" hangingPunct="1"/>
            <a:r>
              <a:rPr lang="en-US" b="1" smtClean="0"/>
              <a:t>Searching of a node in a BST</a:t>
            </a:r>
          </a:p>
        </p:txBody>
      </p:sp>
      <p:sp>
        <p:nvSpPr>
          <p:cNvPr id="60420" name="Rectangle 3"/>
          <p:cNvSpPr>
            <a:spLocks noGrp="1" noChangeArrowheads="1"/>
          </p:cNvSpPr>
          <p:nvPr>
            <p:ph type="body" idx="1"/>
          </p:nvPr>
        </p:nvSpPr>
        <p:spPr/>
        <p:txBody>
          <a:bodyPr/>
          <a:lstStyle/>
          <a:p>
            <a:pPr eaLnBrk="1" hangingPunct="1">
              <a:lnSpc>
                <a:spcPct val="90000"/>
              </a:lnSpc>
            </a:pPr>
            <a:r>
              <a:rPr lang="en-US" sz="2800" smtClean="0"/>
              <a:t>To search any node in a binary tree, initially the data that is to be searched is compared with the data of the root node. </a:t>
            </a:r>
          </a:p>
          <a:p>
            <a:pPr eaLnBrk="1" hangingPunct="1">
              <a:lnSpc>
                <a:spcPct val="90000"/>
              </a:lnSpc>
            </a:pPr>
            <a:r>
              <a:rPr lang="en-US" sz="2800" smtClean="0"/>
              <a:t>If the data is equal to the data of the root then the searching is successful.</a:t>
            </a:r>
          </a:p>
          <a:p>
            <a:pPr eaLnBrk="1" hangingPunct="1">
              <a:lnSpc>
                <a:spcPct val="90000"/>
              </a:lnSpc>
            </a:pPr>
            <a:r>
              <a:rPr lang="en-US" sz="2800" smtClean="0"/>
              <a:t>If the data is found to be greater than the data of the root node then the searching process proceeds in the right sub-tree of the root node.</a:t>
            </a:r>
          </a:p>
          <a:p>
            <a:pPr eaLnBrk="1" hangingPunct="1">
              <a:lnSpc>
                <a:spcPct val="90000"/>
              </a:lnSpc>
            </a:pPr>
            <a:r>
              <a:rPr lang="en-US" sz="2800" smtClean="0"/>
              <a:t>Otherwise, searching process proceeds in the left sub-tree of the root node.</a:t>
            </a: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26C83BDD-721F-4D26-85E1-2C3C969D1690}" type="slidenum">
              <a:rPr lang="en-US" sz="1400" smtClean="0"/>
              <a:pPr algn="r">
                <a:spcBef>
                  <a:spcPct val="0"/>
                </a:spcBef>
                <a:buFontTx/>
                <a:buNone/>
              </a:pPr>
              <a:t>68</a:t>
            </a:fld>
            <a:endParaRPr lang="en-US" sz="1400" smtClean="0"/>
          </a:p>
        </p:txBody>
      </p:sp>
      <p:sp>
        <p:nvSpPr>
          <p:cNvPr id="61443" name="Rectangle 3"/>
          <p:cNvSpPr>
            <a:spLocks noGrp="1" noChangeArrowheads="1"/>
          </p:cNvSpPr>
          <p:nvPr>
            <p:ph type="body" idx="1"/>
          </p:nvPr>
        </p:nvSpPr>
        <p:spPr>
          <a:xfrm>
            <a:off x="457200" y="609600"/>
            <a:ext cx="8229600" cy="5516563"/>
          </a:xfrm>
        </p:spPr>
        <p:txBody>
          <a:bodyPr/>
          <a:lstStyle/>
          <a:p>
            <a:pPr eaLnBrk="1" hangingPunct="1"/>
            <a:r>
              <a:rPr lang="en-US" smtClean="0"/>
              <a:t>Same procedure is repeated for the left or right sub-tree until the data is found.</a:t>
            </a:r>
          </a:p>
          <a:p>
            <a:pPr eaLnBrk="1" hangingPunct="1"/>
            <a:r>
              <a:rPr lang="en-US" smtClean="0"/>
              <a:t>While searching the data if the leaf node of the tree is reached and the data is not found then it is concluded that the data is not present in the tree.</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75B3288A-9113-4B48-8D4B-C409A26C0473}" type="slidenum">
              <a:rPr lang="en-US" sz="1400" smtClean="0"/>
              <a:pPr algn="r">
                <a:spcBef>
                  <a:spcPct val="0"/>
                </a:spcBef>
                <a:buFontTx/>
                <a:buNone/>
              </a:pPr>
              <a:t>69</a:t>
            </a:fld>
            <a:endParaRPr lang="en-US" sz="1400" smtClean="0"/>
          </a:p>
        </p:txBody>
      </p:sp>
      <p:sp>
        <p:nvSpPr>
          <p:cNvPr id="62467" name="Rectangle 2"/>
          <p:cNvSpPr>
            <a:spLocks noGrp="1" noChangeArrowheads="1"/>
          </p:cNvSpPr>
          <p:nvPr>
            <p:ph type="title"/>
          </p:nvPr>
        </p:nvSpPr>
        <p:spPr/>
        <p:txBody>
          <a:bodyPr/>
          <a:lstStyle/>
          <a:p>
            <a:pPr eaLnBrk="1" hangingPunct="1"/>
            <a:r>
              <a:rPr lang="en-US" b="1" smtClean="0"/>
              <a:t>Insertion of a node in a BST</a:t>
            </a:r>
          </a:p>
        </p:txBody>
      </p:sp>
      <p:sp>
        <p:nvSpPr>
          <p:cNvPr id="62468" name="Rectangle 3"/>
          <p:cNvSpPr>
            <a:spLocks noGrp="1" noChangeArrowheads="1"/>
          </p:cNvSpPr>
          <p:nvPr>
            <p:ph type="body" idx="1"/>
          </p:nvPr>
        </p:nvSpPr>
        <p:spPr>
          <a:xfrm>
            <a:off x="457200" y="1600200"/>
            <a:ext cx="8229600" cy="4800600"/>
          </a:xfrm>
        </p:spPr>
        <p:txBody>
          <a:bodyPr/>
          <a:lstStyle/>
          <a:p>
            <a:pPr eaLnBrk="1" hangingPunct="1"/>
            <a:r>
              <a:rPr lang="en-US" smtClean="0"/>
              <a:t>To insert any node into a BST, initially the data that is to be inserted is compared with the data of the root node.</a:t>
            </a:r>
          </a:p>
          <a:p>
            <a:pPr eaLnBrk="1" hangingPunct="1"/>
            <a:r>
              <a:rPr lang="en-US" smtClean="0"/>
              <a:t>If the data is found to be greater than or equal to the data of the root node then the new node is inserted in the right sub-tree of the root node, otherwise, the new node is inserted in the left sub-tree of the root node.</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DC6FA7B8-A540-4384-81AC-D78D838F521D}" type="slidenum">
              <a:rPr lang="en-US" sz="1400" smtClean="0"/>
              <a:pPr algn="r">
                <a:spcBef>
                  <a:spcPct val="0"/>
                </a:spcBef>
                <a:buFontTx/>
                <a:buNone/>
              </a:pPr>
              <a:t>70</a:t>
            </a:fld>
            <a:endParaRPr lang="en-US" sz="1400" smtClean="0"/>
          </a:p>
        </p:txBody>
      </p:sp>
      <p:sp>
        <p:nvSpPr>
          <p:cNvPr id="63491" name="Rectangle 3"/>
          <p:cNvSpPr>
            <a:spLocks noGrp="1" noChangeArrowheads="1"/>
          </p:cNvSpPr>
          <p:nvPr>
            <p:ph type="body" idx="1"/>
          </p:nvPr>
        </p:nvSpPr>
        <p:spPr>
          <a:xfrm>
            <a:off x="457200" y="609600"/>
            <a:ext cx="8229600" cy="5516563"/>
          </a:xfrm>
        </p:spPr>
        <p:txBody>
          <a:bodyPr/>
          <a:lstStyle/>
          <a:p>
            <a:pPr eaLnBrk="1" hangingPunct="1"/>
            <a:r>
              <a:rPr lang="en-US" smtClean="0"/>
              <a:t>Now the root node of the right sub-tree or left sub-tree is taken and its data is compared with the data that is to be inserted and the same procedure is repeated. </a:t>
            </a:r>
          </a:p>
          <a:p>
            <a:pPr eaLnBrk="1" hangingPunct="1"/>
            <a:r>
              <a:rPr lang="en-US" smtClean="0"/>
              <a:t>This is done till the left or right sub-tree where the new node is to be inserted is found to be empty.</a:t>
            </a:r>
          </a:p>
          <a:p>
            <a:pPr eaLnBrk="1" hangingPunct="1"/>
            <a:r>
              <a:rPr lang="en-US" smtClean="0"/>
              <a:t>Finally, the new node is made the appropriate child of this current node.</a:t>
            </a: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F97B00BC-B562-4153-9FC3-1A00FD705896}" type="slidenum">
              <a:rPr lang="en-US" sz="1400" smtClean="0"/>
              <a:pPr algn="r">
                <a:spcBef>
                  <a:spcPct val="0"/>
                </a:spcBef>
                <a:buFontTx/>
                <a:buNone/>
              </a:pPr>
              <a:t>71</a:t>
            </a:fld>
            <a:endParaRPr lang="en-US" sz="1400" smtClean="0"/>
          </a:p>
        </p:txBody>
      </p:sp>
      <p:sp>
        <p:nvSpPr>
          <p:cNvPr id="64515" name="Rectangle 2"/>
          <p:cNvSpPr>
            <a:spLocks noGrp="1" noChangeArrowheads="1"/>
          </p:cNvSpPr>
          <p:nvPr>
            <p:ph type="title"/>
          </p:nvPr>
        </p:nvSpPr>
        <p:spPr/>
        <p:txBody>
          <a:bodyPr/>
          <a:lstStyle/>
          <a:p>
            <a:pPr eaLnBrk="1" hangingPunct="1"/>
            <a:r>
              <a:rPr lang="en-US" b="1" u="sng" smtClean="0"/>
              <a:t>Deletion from a BST</a:t>
            </a:r>
          </a:p>
        </p:txBody>
      </p:sp>
      <p:sp>
        <p:nvSpPr>
          <p:cNvPr id="64516" name="Rectangle 3"/>
          <p:cNvSpPr>
            <a:spLocks noGrp="1" noChangeArrowheads="1"/>
          </p:cNvSpPr>
          <p:nvPr>
            <p:ph type="body" idx="1"/>
          </p:nvPr>
        </p:nvSpPr>
        <p:spPr>
          <a:xfrm>
            <a:off x="457200" y="1600200"/>
            <a:ext cx="8305800" cy="4724400"/>
          </a:xfrm>
        </p:spPr>
        <p:txBody>
          <a:bodyPr/>
          <a:lstStyle/>
          <a:p>
            <a:pPr eaLnBrk="1" hangingPunct="1"/>
            <a:r>
              <a:rPr lang="en-US" sz="4400" smtClean="0"/>
              <a:t>Case 1: Node-to-be-deleted has no children</a:t>
            </a:r>
          </a:p>
          <a:p>
            <a:pPr eaLnBrk="1" hangingPunct="1"/>
            <a:r>
              <a:rPr lang="en-US" sz="4400" smtClean="0"/>
              <a:t>Case 2: Node-to-be-deleted has exactly one child</a:t>
            </a:r>
          </a:p>
          <a:p>
            <a:pPr eaLnBrk="1" hangingPunct="1"/>
            <a:r>
              <a:rPr lang="en-US" sz="4400" smtClean="0"/>
              <a:t>Case 3: Node-to-be-deleted has two children</a:t>
            </a:r>
          </a:p>
          <a:p>
            <a:pPr eaLnBrk="1" hangingPunct="1">
              <a:buFontTx/>
              <a:buNone/>
            </a:pPr>
            <a:r>
              <a:rPr lang="en-US" sz="4400" smtClean="0"/>
              <a:t> </a:t>
            </a: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3D7BD719-E8C5-47C2-BF89-25F799883203}" type="slidenum">
              <a:rPr lang="en-US" sz="1400" smtClean="0"/>
              <a:pPr algn="r">
                <a:spcBef>
                  <a:spcPct val="0"/>
                </a:spcBef>
                <a:buFontTx/>
                <a:buNone/>
              </a:pPr>
              <a:t>72</a:t>
            </a:fld>
            <a:endParaRPr lang="en-US" sz="1400" smtClean="0"/>
          </a:p>
        </p:txBody>
      </p:sp>
      <p:sp>
        <p:nvSpPr>
          <p:cNvPr id="65539" name="Rectangle 2"/>
          <p:cNvSpPr>
            <a:spLocks noGrp="1" noChangeArrowheads="1"/>
          </p:cNvSpPr>
          <p:nvPr>
            <p:ph type="title"/>
          </p:nvPr>
        </p:nvSpPr>
        <p:spPr/>
        <p:txBody>
          <a:bodyPr/>
          <a:lstStyle/>
          <a:p>
            <a:pPr eaLnBrk="1" hangingPunct="1"/>
            <a:r>
              <a:rPr lang="en-US" sz="3600" b="1" dirty="0" smtClean="0"/>
              <a:t>Case 1: Node-to-be-deleted has no children</a:t>
            </a:r>
          </a:p>
        </p:txBody>
      </p:sp>
      <p:sp>
        <p:nvSpPr>
          <p:cNvPr id="65540" name="Rectangle 3"/>
          <p:cNvSpPr>
            <a:spLocks noGrp="1" noChangeArrowheads="1"/>
          </p:cNvSpPr>
          <p:nvPr>
            <p:ph type="body" idx="1"/>
          </p:nvPr>
        </p:nvSpPr>
        <p:spPr/>
        <p:txBody>
          <a:bodyPr/>
          <a:lstStyle/>
          <a:p>
            <a:pPr eaLnBrk="1" hangingPunct="1"/>
            <a:r>
              <a:rPr lang="en-US" smtClean="0"/>
              <a:t>In this case since the </a:t>
            </a:r>
            <a:r>
              <a:rPr lang="en-US" sz="2800" b="1" smtClean="0"/>
              <a:t>Node-to-be-deleted </a:t>
            </a:r>
            <a:r>
              <a:rPr lang="en-US" sz="2800" smtClean="0"/>
              <a:t> has no children the memory occupied by this should be freed and either the left link or the right link of the parent of this node should be set to NULL.</a:t>
            </a:r>
          </a:p>
          <a:p>
            <a:pPr eaLnBrk="1" hangingPunct="1"/>
            <a:r>
              <a:rPr lang="en-US" sz="2800" smtClean="0"/>
              <a:t>Which of these is set to NULL depends upon whether the node being deleted is a left child or a right child of its parent.</a:t>
            </a:r>
            <a:endParaRPr lang="en-US" sz="2800" b="1" smtClean="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C26F6C5A-909C-41CB-856A-984AE94D65EE}" type="slidenum">
              <a:rPr lang="en-US" smtClean="0"/>
              <a:pPr>
                <a:defRPr/>
              </a:pPr>
              <a:t>73</a:t>
            </a:fld>
            <a:endParaRPr lang="en-US"/>
          </a:p>
        </p:txBody>
      </p:sp>
      <p:pic>
        <p:nvPicPr>
          <p:cNvPr id="5" name="Picture 4"/>
          <p:cNvPicPr>
            <a:picLocks noChangeAspect="1"/>
          </p:cNvPicPr>
          <p:nvPr/>
        </p:nvPicPr>
        <p:blipFill>
          <a:blip r:embed="rId2"/>
          <a:stretch>
            <a:fillRect/>
          </a:stretch>
        </p:blipFill>
        <p:spPr>
          <a:xfrm>
            <a:off x="381000" y="609600"/>
            <a:ext cx="8139278" cy="4191000"/>
          </a:xfrm>
          <a:prstGeom prst="rect">
            <a:avLst/>
          </a:prstGeom>
        </p:spPr>
      </p:pic>
      <p:sp>
        <p:nvSpPr>
          <p:cNvPr id="6" name="Rectangle 2"/>
          <p:cNvSpPr txBox="1">
            <a:spLocks noChangeArrowheads="1"/>
          </p:cNvSpPr>
          <p:nvPr/>
        </p:nvSpPr>
        <p:spPr>
          <a:xfrm>
            <a:off x="280518" y="4951412"/>
            <a:ext cx="8229600" cy="11430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eaLnBrk="1" hangingPunct="1"/>
            <a:r>
              <a:rPr lang="en-US" sz="3600" b="1" kern="0" smtClean="0"/>
              <a:t>Case 1: Node-to-be-deleted has no children</a:t>
            </a:r>
            <a:endParaRPr lang="en-US" sz="3600" b="1" kern="0" dirty="0" smtClean="0"/>
          </a:p>
        </p:txBody>
      </p:sp>
    </p:spTree>
    <p:extLst>
      <p:ext uri="{BB962C8B-B14F-4D97-AF65-F5344CB8AC3E}">
        <p14:creationId xmlns:p14="http://schemas.microsoft.com/office/powerpoint/2010/main" val="10702627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8A9CB286-E0EF-4B88-811C-C7DA8C1D0486}" type="slidenum">
              <a:rPr lang="en-US" sz="1400" smtClean="0"/>
              <a:pPr algn="r">
                <a:spcBef>
                  <a:spcPct val="0"/>
                </a:spcBef>
                <a:buFontTx/>
                <a:buNone/>
              </a:pPr>
              <a:t>74</a:t>
            </a:fld>
            <a:endParaRPr lang="en-US" sz="1400" smtClean="0"/>
          </a:p>
        </p:txBody>
      </p:sp>
      <p:sp>
        <p:nvSpPr>
          <p:cNvPr id="66563" name="Rectangle 2"/>
          <p:cNvSpPr>
            <a:spLocks noGrp="1" noChangeArrowheads="1"/>
          </p:cNvSpPr>
          <p:nvPr>
            <p:ph type="title"/>
          </p:nvPr>
        </p:nvSpPr>
        <p:spPr/>
        <p:txBody>
          <a:bodyPr/>
          <a:lstStyle/>
          <a:p>
            <a:pPr eaLnBrk="1" hangingPunct="1"/>
            <a:r>
              <a:rPr lang="en-US" sz="4000" b="1" dirty="0" smtClean="0"/>
              <a:t>Case 2: Node-to-be-deleted has exactly one child</a:t>
            </a:r>
          </a:p>
        </p:txBody>
      </p:sp>
      <p:sp>
        <p:nvSpPr>
          <p:cNvPr id="66564" name="Rectangle 3"/>
          <p:cNvSpPr>
            <a:spLocks noGrp="1" noChangeArrowheads="1"/>
          </p:cNvSpPr>
          <p:nvPr>
            <p:ph type="body" idx="1"/>
          </p:nvPr>
        </p:nvSpPr>
        <p:spPr/>
        <p:txBody>
          <a:bodyPr/>
          <a:lstStyle/>
          <a:p>
            <a:pPr eaLnBrk="1" hangingPunct="1"/>
            <a:r>
              <a:rPr lang="en-US" dirty="0" smtClean="0"/>
              <a:t>In this case since the </a:t>
            </a:r>
            <a:r>
              <a:rPr lang="en-US" sz="2800" b="1" dirty="0" smtClean="0"/>
              <a:t>Node-to-be-deleted </a:t>
            </a:r>
            <a:r>
              <a:rPr lang="en-US" sz="2800" dirty="0" smtClean="0"/>
              <a:t> has one child, we have to adjust the pointer of the parent of the node to be deleted such that after deletion it points to the child of the node being deleted.</a:t>
            </a:r>
          </a:p>
          <a:p>
            <a:pPr eaLnBrk="1" hangingPunct="1"/>
            <a:r>
              <a:rPr lang="en-US" sz="2800" b="1" dirty="0" smtClean="0"/>
              <a:t>Rule: Replace the parent with the child.</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C26F6C5A-909C-41CB-856A-984AE94D65EE}" type="slidenum">
              <a:rPr lang="en-US" smtClean="0"/>
              <a:pPr>
                <a:defRPr/>
              </a:pPr>
              <a:t>75</a:t>
            </a:fld>
            <a:endParaRPr lang="en-US"/>
          </a:p>
        </p:txBody>
      </p:sp>
      <p:pic>
        <p:nvPicPr>
          <p:cNvPr id="5" name="Picture 4"/>
          <p:cNvPicPr>
            <a:picLocks noChangeAspect="1"/>
          </p:cNvPicPr>
          <p:nvPr/>
        </p:nvPicPr>
        <p:blipFill>
          <a:blip r:embed="rId2"/>
          <a:stretch>
            <a:fillRect/>
          </a:stretch>
        </p:blipFill>
        <p:spPr>
          <a:xfrm>
            <a:off x="152399" y="990600"/>
            <a:ext cx="8686801" cy="3991232"/>
          </a:xfrm>
          <a:prstGeom prst="rect">
            <a:avLst/>
          </a:prstGeom>
        </p:spPr>
      </p:pic>
      <p:sp>
        <p:nvSpPr>
          <p:cNvPr id="6" name="Rectangle 2"/>
          <p:cNvSpPr txBox="1">
            <a:spLocks noChangeArrowheads="1"/>
          </p:cNvSpPr>
          <p:nvPr/>
        </p:nvSpPr>
        <p:spPr>
          <a:xfrm>
            <a:off x="380999" y="5102225"/>
            <a:ext cx="8229600" cy="11430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eaLnBrk="1" hangingPunct="1"/>
            <a:r>
              <a:rPr lang="en-US" sz="4000" b="1" kern="0" smtClean="0"/>
              <a:t>Case 2: Node-to-be-deleted has exactly one child</a:t>
            </a:r>
            <a:endParaRPr lang="en-US" sz="4000" b="1" kern="0" dirty="0" smtClean="0"/>
          </a:p>
        </p:txBody>
      </p:sp>
    </p:spTree>
    <p:extLst>
      <p:ext uri="{BB962C8B-B14F-4D97-AF65-F5344CB8AC3E}">
        <p14:creationId xmlns:p14="http://schemas.microsoft.com/office/powerpoint/2010/main" val="1659789321"/>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9A0946F6-8D78-4871-A089-68B807297FB3}" type="slidenum">
              <a:rPr lang="en-US" sz="1400" smtClean="0"/>
              <a:pPr algn="r">
                <a:spcBef>
                  <a:spcPct val="0"/>
                </a:spcBef>
                <a:buFontTx/>
                <a:buNone/>
              </a:pPr>
              <a:t>76</a:t>
            </a:fld>
            <a:endParaRPr lang="en-US" sz="1400" smtClean="0"/>
          </a:p>
        </p:txBody>
      </p:sp>
      <p:sp>
        <p:nvSpPr>
          <p:cNvPr id="67587" name="Rectangle 2"/>
          <p:cNvSpPr>
            <a:spLocks noGrp="1" noChangeArrowheads="1"/>
          </p:cNvSpPr>
          <p:nvPr>
            <p:ph type="title"/>
          </p:nvPr>
        </p:nvSpPr>
        <p:spPr/>
        <p:txBody>
          <a:bodyPr/>
          <a:lstStyle/>
          <a:p>
            <a:pPr eaLnBrk="1" hangingPunct="1"/>
            <a:r>
              <a:rPr lang="en-US" b="1" dirty="0" smtClean="0"/>
              <a:t>Case 3: Node-to-be-deleted has two children</a:t>
            </a:r>
          </a:p>
        </p:txBody>
      </p:sp>
      <p:sp>
        <p:nvSpPr>
          <p:cNvPr id="67588" name="Rectangle 3"/>
          <p:cNvSpPr>
            <a:spLocks noGrp="1" noChangeArrowheads="1"/>
          </p:cNvSpPr>
          <p:nvPr>
            <p:ph type="body" idx="1"/>
          </p:nvPr>
        </p:nvSpPr>
        <p:spPr>
          <a:xfrm>
            <a:off x="457200" y="1600200"/>
            <a:ext cx="8229600" cy="4525963"/>
          </a:xfrm>
        </p:spPr>
        <p:txBody>
          <a:bodyPr/>
          <a:lstStyle/>
          <a:p>
            <a:pPr eaLnBrk="1" hangingPunct="1">
              <a:lnSpc>
                <a:spcPct val="90000"/>
              </a:lnSpc>
            </a:pPr>
            <a:r>
              <a:rPr lang="en-US" dirty="0"/>
              <a:t>To handle this case, replace the </a:t>
            </a:r>
            <a:r>
              <a:rPr lang="en-US" dirty="0" smtClean="0"/>
              <a:t>node’s value with </a:t>
            </a:r>
            <a:r>
              <a:rPr lang="en-US" dirty="0"/>
              <a:t>its </a:t>
            </a:r>
            <a:r>
              <a:rPr lang="en-US" i="1" dirty="0">
                <a:solidFill>
                  <a:srgbClr val="FF0000"/>
                </a:solidFill>
              </a:rPr>
              <a:t>in-order predecessor </a:t>
            </a:r>
            <a:r>
              <a:rPr lang="en-US" dirty="0"/>
              <a:t>(largest </a:t>
            </a:r>
            <a:r>
              <a:rPr lang="en-US" dirty="0" smtClean="0"/>
              <a:t>value in </a:t>
            </a:r>
            <a:r>
              <a:rPr lang="en-US" dirty="0"/>
              <a:t>the left sub-tree) or </a:t>
            </a:r>
            <a:r>
              <a:rPr lang="en-US" i="1" dirty="0">
                <a:solidFill>
                  <a:srgbClr val="FF0000"/>
                </a:solidFill>
              </a:rPr>
              <a:t>in-order </a:t>
            </a:r>
            <a:r>
              <a:rPr lang="en-US" i="1" dirty="0" smtClean="0">
                <a:solidFill>
                  <a:srgbClr val="FF0000"/>
                </a:solidFill>
              </a:rPr>
              <a:t>successor </a:t>
            </a:r>
            <a:r>
              <a:rPr lang="en-US" dirty="0" smtClean="0"/>
              <a:t>(</a:t>
            </a:r>
            <a:r>
              <a:rPr lang="en-US" dirty="0"/>
              <a:t>smallest value in the right sub-tree</a:t>
            </a:r>
            <a:r>
              <a:rPr lang="en-US" dirty="0" smtClean="0"/>
              <a:t>). </a:t>
            </a:r>
          </a:p>
          <a:p>
            <a:pPr eaLnBrk="1" hangingPunct="1">
              <a:lnSpc>
                <a:spcPct val="90000"/>
              </a:lnSpc>
            </a:pPr>
            <a:r>
              <a:rPr lang="en-US" dirty="0" smtClean="0"/>
              <a:t>The in-order </a:t>
            </a:r>
            <a:r>
              <a:rPr lang="en-US" dirty="0"/>
              <a:t>predecessor or the successor </a:t>
            </a:r>
            <a:r>
              <a:rPr lang="en-US" dirty="0" smtClean="0"/>
              <a:t>can then </a:t>
            </a:r>
            <a:r>
              <a:rPr lang="en-US" dirty="0"/>
              <a:t>be deleted using any of the </a:t>
            </a:r>
            <a:r>
              <a:rPr lang="en-US" dirty="0" smtClean="0"/>
              <a:t>cases 0 or 1. </a:t>
            </a:r>
          </a:p>
          <a:p>
            <a:pPr marL="0" indent="0" eaLnBrk="1" hangingPunct="1">
              <a:lnSpc>
                <a:spcPct val="90000"/>
              </a:lnSpc>
              <a:buNone/>
            </a:pPr>
            <a:r>
              <a:rPr lang="en-US" dirty="0" smtClean="0"/>
              <a:t/>
            </a:r>
            <a:br>
              <a:rPr lang="en-US" dirty="0" smtClean="0"/>
            </a:br>
            <a:endParaRPr lang="en-US" dirty="0" smtClean="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C26F6C5A-909C-41CB-856A-984AE94D65EE}" type="slidenum">
              <a:rPr lang="en-US" smtClean="0"/>
              <a:pPr>
                <a:defRPr/>
              </a:pPr>
              <a:t>77</a:t>
            </a:fld>
            <a:endParaRPr lang="en-US"/>
          </a:p>
        </p:txBody>
      </p:sp>
      <p:pic>
        <p:nvPicPr>
          <p:cNvPr id="5" name="Picture 4"/>
          <p:cNvPicPr>
            <a:picLocks noChangeAspect="1"/>
          </p:cNvPicPr>
          <p:nvPr/>
        </p:nvPicPr>
        <p:blipFill>
          <a:blip r:embed="rId2"/>
          <a:stretch>
            <a:fillRect/>
          </a:stretch>
        </p:blipFill>
        <p:spPr>
          <a:xfrm>
            <a:off x="381000" y="1752599"/>
            <a:ext cx="8305800" cy="4492626"/>
          </a:xfrm>
          <a:prstGeom prst="rect">
            <a:avLst/>
          </a:prstGeom>
        </p:spPr>
      </p:pic>
      <p:sp>
        <p:nvSpPr>
          <p:cNvPr id="6" name="TextBox 5"/>
          <p:cNvSpPr txBox="1"/>
          <p:nvPr/>
        </p:nvSpPr>
        <p:spPr>
          <a:xfrm>
            <a:off x="152400" y="304800"/>
            <a:ext cx="8686800" cy="1384995"/>
          </a:xfrm>
          <a:prstGeom prst="rect">
            <a:avLst/>
          </a:prstGeom>
          <a:noFill/>
        </p:spPr>
        <p:txBody>
          <a:bodyPr wrap="square" rtlCol="0">
            <a:spAutoFit/>
          </a:bodyPr>
          <a:lstStyle/>
          <a:p>
            <a:pPr algn="just"/>
            <a:r>
              <a:rPr lang="en-IN" sz="2800" b="1" dirty="0" smtClean="0"/>
              <a:t>Deletion of node having TWO children: </a:t>
            </a:r>
          </a:p>
          <a:p>
            <a:pPr algn="just"/>
            <a:r>
              <a:rPr lang="en-IN" sz="2800" b="1" dirty="0" smtClean="0"/>
              <a:t>Predecessor Approach:  </a:t>
            </a:r>
            <a:r>
              <a:rPr lang="en-IN" sz="2800" dirty="0" smtClean="0"/>
              <a:t>Replace the node having two children with its </a:t>
            </a:r>
            <a:r>
              <a:rPr lang="en-IN" sz="2800" dirty="0" err="1" smtClean="0">
                <a:solidFill>
                  <a:srgbClr val="FF0000"/>
                </a:solidFill>
              </a:rPr>
              <a:t>Inorder</a:t>
            </a:r>
            <a:r>
              <a:rPr lang="en-IN" sz="2800" dirty="0" smtClean="0">
                <a:solidFill>
                  <a:srgbClr val="FF0000"/>
                </a:solidFill>
              </a:rPr>
              <a:t> predecessor</a:t>
            </a:r>
            <a:endParaRPr lang="en-US" sz="2800" dirty="0">
              <a:solidFill>
                <a:srgbClr val="FF0000"/>
              </a:solidFill>
            </a:endParaRPr>
          </a:p>
        </p:txBody>
      </p:sp>
    </p:spTree>
    <p:extLst>
      <p:ext uri="{BB962C8B-B14F-4D97-AF65-F5344CB8AC3E}">
        <p14:creationId xmlns:p14="http://schemas.microsoft.com/office/powerpoint/2010/main" val="108252118"/>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E5D4B50-F876-4C9D-AF52-99E4DA1D6344}" type="slidenum">
              <a:rPr lang="en-US" smtClean="0"/>
              <a:pPr>
                <a:defRPr/>
              </a:pPr>
              <a:t>78</a:t>
            </a:fld>
            <a:endParaRPr lang="en-US"/>
          </a:p>
        </p:txBody>
      </p:sp>
      <p:sp>
        <p:nvSpPr>
          <p:cNvPr id="3" name="TextBox 2"/>
          <p:cNvSpPr txBox="1"/>
          <p:nvPr/>
        </p:nvSpPr>
        <p:spPr>
          <a:xfrm>
            <a:off x="152400" y="304800"/>
            <a:ext cx="8686800" cy="1384995"/>
          </a:xfrm>
          <a:prstGeom prst="rect">
            <a:avLst/>
          </a:prstGeom>
          <a:noFill/>
        </p:spPr>
        <p:txBody>
          <a:bodyPr wrap="square" rtlCol="0">
            <a:spAutoFit/>
          </a:bodyPr>
          <a:lstStyle/>
          <a:p>
            <a:pPr algn="just"/>
            <a:r>
              <a:rPr lang="en-IN" sz="2800" b="1" dirty="0" smtClean="0"/>
              <a:t>Deletion of node having TWO children: </a:t>
            </a:r>
          </a:p>
          <a:p>
            <a:pPr algn="just"/>
            <a:r>
              <a:rPr lang="en-IN" sz="2800" b="1" dirty="0" smtClean="0"/>
              <a:t>Successor Approach:  </a:t>
            </a:r>
            <a:r>
              <a:rPr lang="en-IN" sz="2800" dirty="0" smtClean="0"/>
              <a:t>Replace the node having two children with its </a:t>
            </a:r>
            <a:r>
              <a:rPr lang="en-IN" sz="2800" dirty="0" err="1" smtClean="0">
                <a:solidFill>
                  <a:srgbClr val="FF0000"/>
                </a:solidFill>
              </a:rPr>
              <a:t>Inorder</a:t>
            </a:r>
            <a:r>
              <a:rPr lang="en-IN" sz="2800" dirty="0" smtClean="0">
                <a:solidFill>
                  <a:srgbClr val="FF0000"/>
                </a:solidFill>
              </a:rPr>
              <a:t> Successor</a:t>
            </a:r>
            <a:endParaRPr lang="en-US" sz="2800" dirty="0">
              <a:solidFill>
                <a:srgbClr val="FF0000"/>
              </a:solidFill>
            </a:endParaRPr>
          </a:p>
        </p:txBody>
      </p:sp>
      <p:pic>
        <p:nvPicPr>
          <p:cNvPr id="4" name="Picture 3"/>
          <p:cNvPicPr>
            <a:picLocks noChangeAspect="1"/>
          </p:cNvPicPr>
          <p:nvPr/>
        </p:nvPicPr>
        <p:blipFill>
          <a:blip r:embed="rId2"/>
          <a:stretch>
            <a:fillRect/>
          </a:stretch>
        </p:blipFill>
        <p:spPr>
          <a:xfrm>
            <a:off x="304800" y="1752599"/>
            <a:ext cx="8534400" cy="4492625"/>
          </a:xfrm>
          <a:prstGeom prst="rect">
            <a:avLst/>
          </a:prstGeom>
        </p:spPr>
      </p:pic>
    </p:spTree>
    <p:extLst>
      <p:ext uri="{BB962C8B-B14F-4D97-AF65-F5344CB8AC3E}">
        <p14:creationId xmlns:p14="http://schemas.microsoft.com/office/powerpoint/2010/main" val="3571325233"/>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C26F6C5A-909C-41CB-856A-984AE94D65EE}" type="slidenum">
              <a:rPr lang="en-US" smtClean="0"/>
              <a:pPr>
                <a:defRPr/>
              </a:pPr>
              <a:t>79</a:t>
            </a:fld>
            <a:endParaRPr lang="en-US"/>
          </a:p>
        </p:txBody>
      </p:sp>
      <p:pic>
        <p:nvPicPr>
          <p:cNvPr id="5" name="Picture 4"/>
          <p:cNvPicPr>
            <a:picLocks noChangeAspect="1"/>
          </p:cNvPicPr>
          <p:nvPr/>
        </p:nvPicPr>
        <p:blipFill>
          <a:blip r:embed="rId2"/>
          <a:stretch>
            <a:fillRect/>
          </a:stretch>
        </p:blipFill>
        <p:spPr>
          <a:xfrm>
            <a:off x="311426" y="1219200"/>
            <a:ext cx="8405191" cy="3581400"/>
          </a:xfrm>
          <a:prstGeom prst="rect">
            <a:avLst/>
          </a:prstGeom>
        </p:spPr>
      </p:pic>
    </p:spTree>
    <p:extLst>
      <p:ext uri="{BB962C8B-B14F-4D97-AF65-F5344CB8AC3E}">
        <p14:creationId xmlns:p14="http://schemas.microsoft.com/office/powerpoint/2010/main" val="951556931"/>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E5D4B50-F876-4C9D-AF52-99E4DA1D6344}" type="slidenum">
              <a:rPr lang="en-US" smtClean="0"/>
              <a:pPr>
                <a:defRPr/>
              </a:pPr>
              <a:t>80</a:t>
            </a:fld>
            <a:endParaRPr lang="en-US"/>
          </a:p>
        </p:txBody>
      </p:sp>
      <p:pic>
        <p:nvPicPr>
          <p:cNvPr id="3" name="Picture 2"/>
          <p:cNvPicPr>
            <a:picLocks noChangeAspect="1"/>
          </p:cNvPicPr>
          <p:nvPr/>
        </p:nvPicPr>
        <p:blipFill>
          <a:blip r:embed="rId2"/>
          <a:stretch>
            <a:fillRect/>
          </a:stretch>
        </p:blipFill>
        <p:spPr>
          <a:xfrm>
            <a:off x="598073" y="76200"/>
            <a:ext cx="7273969" cy="6721475"/>
          </a:xfrm>
          <a:prstGeom prst="rect">
            <a:avLst/>
          </a:prstGeom>
        </p:spPr>
      </p:pic>
      <p:sp>
        <p:nvSpPr>
          <p:cNvPr id="4" name="TextBox 3"/>
          <p:cNvSpPr txBox="1"/>
          <p:nvPr/>
        </p:nvSpPr>
        <p:spPr>
          <a:xfrm>
            <a:off x="381000" y="457200"/>
            <a:ext cx="3048000" cy="400110"/>
          </a:xfrm>
          <a:prstGeom prst="rect">
            <a:avLst/>
          </a:prstGeom>
          <a:noFill/>
        </p:spPr>
        <p:txBody>
          <a:bodyPr wrap="square" rtlCol="0">
            <a:spAutoFit/>
          </a:bodyPr>
          <a:lstStyle/>
          <a:p>
            <a:r>
              <a:rPr lang="en-IN" sz="2000" b="1" dirty="0" smtClean="0"/>
              <a:t>BST with the input data</a:t>
            </a:r>
            <a:endParaRPr lang="en-US" sz="2000" b="1" dirty="0"/>
          </a:p>
        </p:txBody>
      </p:sp>
    </p:spTree>
    <p:extLst>
      <p:ext uri="{BB962C8B-B14F-4D97-AF65-F5344CB8AC3E}">
        <p14:creationId xmlns:p14="http://schemas.microsoft.com/office/powerpoint/2010/main" val="1089139141"/>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E5D4B50-F876-4C9D-AF52-99E4DA1D6344}" type="slidenum">
              <a:rPr lang="en-US" smtClean="0"/>
              <a:pPr>
                <a:defRPr/>
              </a:pPr>
              <a:t>81</a:t>
            </a:fld>
            <a:endParaRPr lang="en-US"/>
          </a:p>
        </p:txBody>
      </p:sp>
      <p:pic>
        <p:nvPicPr>
          <p:cNvPr id="3" name="Picture 2"/>
          <p:cNvPicPr>
            <a:picLocks noChangeAspect="1"/>
          </p:cNvPicPr>
          <p:nvPr/>
        </p:nvPicPr>
        <p:blipFill rotWithShape="1">
          <a:blip r:embed="rId2"/>
          <a:srcRect t="4865"/>
          <a:stretch/>
        </p:blipFill>
        <p:spPr>
          <a:xfrm>
            <a:off x="347339" y="89683"/>
            <a:ext cx="8263261" cy="6158717"/>
          </a:xfrm>
          <a:prstGeom prst="rect">
            <a:avLst/>
          </a:prstGeom>
        </p:spPr>
      </p:pic>
      <p:sp>
        <p:nvSpPr>
          <p:cNvPr id="4" name="TextBox 3"/>
          <p:cNvSpPr txBox="1"/>
          <p:nvPr/>
        </p:nvSpPr>
        <p:spPr>
          <a:xfrm>
            <a:off x="533400" y="152400"/>
            <a:ext cx="381000" cy="533400"/>
          </a:xfrm>
          <a:prstGeom prst="rect">
            <a:avLst/>
          </a:prstGeom>
          <a:noFill/>
        </p:spPr>
        <p:txBody>
          <a:bodyPr wrap="square" rtlCol="0">
            <a:spAutoFit/>
          </a:bodyPr>
          <a:lstStyle/>
          <a:p>
            <a:r>
              <a:rPr lang="en-IN" sz="2800" b="1" dirty="0" smtClean="0"/>
              <a:t>a</a:t>
            </a:r>
            <a:endParaRPr lang="en-US" sz="2800" b="1" dirty="0"/>
          </a:p>
        </p:txBody>
      </p:sp>
    </p:spTree>
    <p:extLst>
      <p:ext uri="{BB962C8B-B14F-4D97-AF65-F5344CB8AC3E}">
        <p14:creationId xmlns:p14="http://schemas.microsoft.com/office/powerpoint/2010/main" val="3189963302"/>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E5D4B50-F876-4C9D-AF52-99E4DA1D6344}" type="slidenum">
              <a:rPr lang="en-US" smtClean="0"/>
              <a:pPr>
                <a:defRPr/>
              </a:pPr>
              <a:t>82</a:t>
            </a:fld>
            <a:endParaRPr lang="en-US"/>
          </a:p>
        </p:txBody>
      </p:sp>
      <p:pic>
        <p:nvPicPr>
          <p:cNvPr id="3" name="Picture 2"/>
          <p:cNvPicPr>
            <a:picLocks noChangeAspect="1"/>
          </p:cNvPicPr>
          <p:nvPr/>
        </p:nvPicPr>
        <p:blipFill>
          <a:blip r:embed="rId2"/>
          <a:stretch>
            <a:fillRect/>
          </a:stretch>
        </p:blipFill>
        <p:spPr>
          <a:xfrm>
            <a:off x="838200" y="163017"/>
            <a:ext cx="7315200" cy="6320333"/>
          </a:xfrm>
          <a:prstGeom prst="rect">
            <a:avLst/>
          </a:prstGeom>
        </p:spPr>
      </p:pic>
      <p:sp>
        <p:nvSpPr>
          <p:cNvPr id="4" name="TextBox 3"/>
          <p:cNvSpPr txBox="1"/>
          <p:nvPr/>
        </p:nvSpPr>
        <p:spPr>
          <a:xfrm>
            <a:off x="533400" y="152400"/>
            <a:ext cx="381000" cy="533400"/>
          </a:xfrm>
          <a:prstGeom prst="rect">
            <a:avLst/>
          </a:prstGeom>
          <a:noFill/>
        </p:spPr>
        <p:txBody>
          <a:bodyPr wrap="square" rtlCol="0">
            <a:spAutoFit/>
          </a:bodyPr>
          <a:lstStyle/>
          <a:p>
            <a:r>
              <a:rPr lang="en-IN" sz="2800" b="1" dirty="0"/>
              <a:t>b</a:t>
            </a:r>
            <a:endParaRPr lang="en-US" sz="2800" b="1" dirty="0"/>
          </a:p>
        </p:txBody>
      </p:sp>
    </p:spTree>
    <p:extLst>
      <p:ext uri="{BB962C8B-B14F-4D97-AF65-F5344CB8AC3E}">
        <p14:creationId xmlns:p14="http://schemas.microsoft.com/office/powerpoint/2010/main" val="4074155090"/>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C26F6C5A-909C-41CB-856A-984AE94D65EE}" type="slidenum">
              <a:rPr lang="en-US" smtClean="0"/>
              <a:pPr>
                <a:defRPr/>
              </a:pPr>
              <a:t>83</a:t>
            </a:fld>
            <a:endParaRPr lang="en-US"/>
          </a:p>
        </p:txBody>
      </p:sp>
      <p:pic>
        <p:nvPicPr>
          <p:cNvPr id="5" name="Picture 4"/>
          <p:cNvPicPr>
            <a:picLocks noChangeAspect="1"/>
          </p:cNvPicPr>
          <p:nvPr/>
        </p:nvPicPr>
        <p:blipFill>
          <a:blip r:embed="rId2"/>
          <a:stretch>
            <a:fillRect/>
          </a:stretch>
        </p:blipFill>
        <p:spPr>
          <a:xfrm>
            <a:off x="381000" y="72069"/>
            <a:ext cx="7982049" cy="6649406"/>
          </a:xfrm>
          <a:prstGeom prst="rect">
            <a:avLst/>
          </a:prstGeom>
        </p:spPr>
      </p:pic>
    </p:spTree>
    <p:extLst>
      <p:ext uri="{BB962C8B-B14F-4D97-AF65-F5344CB8AC3E}">
        <p14:creationId xmlns:p14="http://schemas.microsoft.com/office/powerpoint/2010/main" val="3741037890"/>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E5D4B50-F876-4C9D-AF52-99E4DA1D6344}" type="slidenum">
              <a:rPr lang="en-US" smtClean="0"/>
              <a:pPr>
                <a:defRPr/>
              </a:pPr>
              <a:t>84</a:t>
            </a:fld>
            <a:endParaRPr lang="en-US"/>
          </a:p>
        </p:txBody>
      </p:sp>
      <p:pic>
        <p:nvPicPr>
          <p:cNvPr id="3" name="Picture 2"/>
          <p:cNvPicPr>
            <a:picLocks noChangeAspect="1"/>
          </p:cNvPicPr>
          <p:nvPr/>
        </p:nvPicPr>
        <p:blipFill>
          <a:blip r:embed="rId2"/>
          <a:stretch>
            <a:fillRect/>
          </a:stretch>
        </p:blipFill>
        <p:spPr>
          <a:xfrm>
            <a:off x="990600" y="774986"/>
            <a:ext cx="7010400" cy="6083014"/>
          </a:xfrm>
          <a:prstGeom prst="rect">
            <a:avLst/>
          </a:prstGeom>
        </p:spPr>
      </p:pic>
      <p:sp>
        <p:nvSpPr>
          <p:cNvPr id="4" name="TextBox 3"/>
          <p:cNvSpPr txBox="1"/>
          <p:nvPr/>
        </p:nvSpPr>
        <p:spPr>
          <a:xfrm>
            <a:off x="304800" y="171736"/>
            <a:ext cx="8382000" cy="923330"/>
          </a:xfrm>
          <a:prstGeom prst="rect">
            <a:avLst/>
          </a:prstGeom>
          <a:noFill/>
        </p:spPr>
        <p:txBody>
          <a:bodyPr wrap="square" rtlCol="0">
            <a:spAutoFit/>
          </a:bodyPr>
          <a:lstStyle/>
          <a:p>
            <a:r>
              <a:rPr lang="en-IN" b="1" dirty="0" smtClean="0"/>
              <a:t>BST after deletion of root node(45). The root node (45) can also be replaced with </a:t>
            </a:r>
            <a:r>
              <a:rPr lang="en-IN" b="1" dirty="0" err="1" smtClean="0"/>
              <a:t>Inorder</a:t>
            </a:r>
            <a:r>
              <a:rPr lang="en-IN" b="1" dirty="0" smtClean="0"/>
              <a:t> successor (54). In that case, 54 will become the root node having 39 and 56 as left and right child respectively.</a:t>
            </a:r>
            <a:endParaRPr lang="en-US" b="1" dirty="0"/>
          </a:p>
        </p:txBody>
      </p:sp>
    </p:spTree>
    <p:extLst>
      <p:ext uri="{BB962C8B-B14F-4D97-AF65-F5344CB8AC3E}">
        <p14:creationId xmlns:p14="http://schemas.microsoft.com/office/powerpoint/2010/main" val="2102165979"/>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E5D4B50-F876-4C9D-AF52-99E4DA1D6344}" type="slidenum">
              <a:rPr lang="en-US" smtClean="0"/>
              <a:pPr>
                <a:defRPr/>
              </a:pPr>
              <a:t>85</a:t>
            </a:fld>
            <a:endParaRPr lang="en-US"/>
          </a:p>
        </p:txBody>
      </p:sp>
      <p:pic>
        <p:nvPicPr>
          <p:cNvPr id="3" name="Picture 2"/>
          <p:cNvPicPr>
            <a:picLocks noChangeAspect="1"/>
          </p:cNvPicPr>
          <p:nvPr/>
        </p:nvPicPr>
        <p:blipFill>
          <a:blip r:embed="rId2"/>
          <a:stretch>
            <a:fillRect/>
          </a:stretch>
        </p:blipFill>
        <p:spPr>
          <a:xfrm>
            <a:off x="168580" y="609600"/>
            <a:ext cx="8823020" cy="5711825"/>
          </a:xfrm>
          <a:prstGeom prst="rect">
            <a:avLst/>
          </a:prstGeom>
        </p:spPr>
      </p:pic>
      <p:sp>
        <p:nvSpPr>
          <p:cNvPr id="4" name="TextBox 3"/>
          <p:cNvSpPr txBox="1"/>
          <p:nvPr/>
        </p:nvSpPr>
        <p:spPr>
          <a:xfrm>
            <a:off x="228600" y="152400"/>
            <a:ext cx="4114800" cy="369332"/>
          </a:xfrm>
          <a:prstGeom prst="rect">
            <a:avLst/>
          </a:prstGeom>
          <a:noFill/>
        </p:spPr>
        <p:txBody>
          <a:bodyPr wrap="square" rtlCol="0">
            <a:spAutoFit/>
          </a:bodyPr>
          <a:lstStyle/>
          <a:p>
            <a:r>
              <a:rPr lang="en-IN" b="1" dirty="0" smtClean="0"/>
              <a:t>BST after Insertion of nodes</a:t>
            </a:r>
            <a:endParaRPr lang="en-US" b="1" dirty="0"/>
          </a:p>
        </p:txBody>
      </p:sp>
    </p:spTree>
    <p:extLst>
      <p:ext uri="{BB962C8B-B14F-4D97-AF65-F5344CB8AC3E}">
        <p14:creationId xmlns:p14="http://schemas.microsoft.com/office/powerpoint/2010/main" val="260049395"/>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p:txBody>
          <a:bodyPr/>
          <a:lstStyle/>
          <a:p>
            <a:r>
              <a:rPr lang="en-IN" dirty="0" smtClean="0"/>
              <a:t>AVL Trees</a:t>
            </a:r>
            <a:endParaRPr lang="en-US" dirty="0" smtClean="0"/>
          </a:p>
        </p:txBody>
      </p:sp>
      <p:sp>
        <p:nvSpPr>
          <p:cNvPr id="68611" name="Content Placeholder 2"/>
          <p:cNvSpPr>
            <a:spLocks noGrp="1"/>
          </p:cNvSpPr>
          <p:nvPr>
            <p:ph idx="1"/>
          </p:nvPr>
        </p:nvSpPr>
        <p:spPr>
          <a:xfrm>
            <a:off x="457200" y="1447800"/>
            <a:ext cx="8229600" cy="4953000"/>
          </a:xfrm>
        </p:spPr>
        <p:txBody>
          <a:bodyPr/>
          <a:lstStyle/>
          <a:p>
            <a:r>
              <a:rPr lang="en-US" dirty="0" smtClean="0"/>
              <a:t>AVL trees ensure that the heights of left and right </a:t>
            </a:r>
            <a:r>
              <a:rPr lang="en-US" dirty="0" err="1" smtClean="0"/>
              <a:t>subtrees</a:t>
            </a:r>
            <a:r>
              <a:rPr lang="en-US" dirty="0" smtClean="0"/>
              <a:t> of any node differ by at most 1. This balanced structure guarantees that the maximum height of the tree remains logarithmic, resulting in efficient search, insertion, and deletion operations. Compared to unbalanced binary search trees, AVL trees provide more consistent and predictable performance.</a:t>
            </a:r>
          </a:p>
        </p:txBody>
      </p:sp>
      <p:sp>
        <p:nvSpPr>
          <p:cNvPr id="6861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C8BAF5CE-3E50-4736-9BF4-88540A3C8011}" type="slidenum">
              <a:rPr lang="en-US" sz="1400" smtClean="0"/>
              <a:pPr algn="r">
                <a:spcBef>
                  <a:spcPct val="0"/>
                </a:spcBef>
                <a:buFontTx/>
                <a:buNone/>
              </a:pPr>
              <a:t>86</a:t>
            </a:fld>
            <a:endParaRPr lang="en-US" sz="1400" smtClean="0"/>
          </a:p>
        </p:txBody>
      </p:sp>
    </p:spTree>
    <p:extLst>
      <p:ext uri="{BB962C8B-B14F-4D97-AF65-F5344CB8AC3E}">
        <p14:creationId xmlns:p14="http://schemas.microsoft.com/office/powerpoint/2010/main" val="3273985868"/>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E5D4B50-F876-4C9D-AF52-99E4DA1D6344}" type="slidenum">
              <a:rPr lang="en-US" smtClean="0"/>
              <a:pPr>
                <a:defRPr/>
              </a:pPr>
              <a:t>87</a:t>
            </a:fld>
            <a:endParaRPr lang="en-US"/>
          </a:p>
        </p:txBody>
      </p:sp>
      <p:pic>
        <p:nvPicPr>
          <p:cNvPr id="3" name="Picture 2"/>
          <p:cNvPicPr>
            <a:picLocks noChangeAspect="1"/>
          </p:cNvPicPr>
          <p:nvPr/>
        </p:nvPicPr>
        <p:blipFill>
          <a:blip r:embed="rId2"/>
          <a:stretch>
            <a:fillRect/>
          </a:stretch>
        </p:blipFill>
        <p:spPr>
          <a:xfrm>
            <a:off x="1119909" y="1219200"/>
            <a:ext cx="6576291" cy="5046921"/>
          </a:xfrm>
          <a:prstGeom prst="rect">
            <a:avLst/>
          </a:prstGeom>
        </p:spPr>
      </p:pic>
      <p:sp>
        <p:nvSpPr>
          <p:cNvPr id="4" name="TextBox 3"/>
          <p:cNvSpPr txBox="1"/>
          <p:nvPr/>
        </p:nvSpPr>
        <p:spPr>
          <a:xfrm>
            <a:off x="700808" y="468868"/>
            <a:ext cx="7262091" cy="369332"/>
          </a:xfrm>
          <a:prstGeom prst="rect">
            <a:avLst/>
          </a:prstGeom>
          <a:noFill/>
        </p:spPr>
        <p:txBody>
          <a:bodyPr wrap="square" rtlCol="0">
            <a:spAutoFit/>
          </a:bodyPr>
          <a:lstStyle/>
          <a:p>
            <a:r>
              <a:rPr lang="en-IN" b="1" dirty="0" smtClean="0"/>
              <a:t>AVL Tree with numbers inserted in ascending order from 1 to 10</a:t>
            </a:r>
            <a:endParaRPr lang="en-US" b="1" dirty="0"/>
          </a:p>
        </p:txBody>
      </p:sp>
    </p:spTree>
    <p:extLst>
      <p:ext uri="{BB962C8B-B14F-4D97-AF65-F5344CB8AC3E}">
        <p14:creationId xmlns:p14="http://schemas.microsoft.com/office/powerpoint/2010/main" val="2455698450"/>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E5D4B50-F876-4C9D-AF52-99E4DA1D6344}" type="slidenum">
              <a:rPr lang="en-US" smtClean="0"/>
              <a:pPr>
                <a:defRPr/>
              </a:pPr>
              <a:t>88</a:t>
            </a:fld>
            <a:endParaRPr lang="en-US"/>
          </a:p>
        </p:txBody>
      </p:sp>
      <p:sp>
        <p:nvSpPr>
          <p:cNvPr id="3" name="TextBox 2"/>
          <p:cNvSpPr txBox="1"/>
          <p:nvPr/>
        </p:nvSpPr>
        <p:spPr>
          <a:xfrm>
            <a:off x="609600" y="533400"/>
            <a:ext cx="7848599" cy="369332"/>
          </a:xfrm>
          <a:prstGeom prst="rect">
            <a:avLst/>
          </a:prstGeom>
          <a:noFill/>
        </p:spPr>
        <p:txBody>
          <a:bodyPr wrap="square" rtlCol="0">
            <a:spAutoFit/>
          </a:bodyPr>
          <a:lstStyle/>
          <a:p>
            <a:r>
              <a:rPr lang="en-IN" b="1" dirty="0" smtClean="0"/>
              <a:t>AVL Tree with numbers inserted in descending order from 10 to 1</a:t>
            </a:r>
            <a:endParaRPr lang="en-US" b="1" dirty="0"/>
          </a:p>
        </p:txBody>
      </p:sp>
      <p:pic>
        <p:nvPicPr>
          <p:cNvPr id="4" name="Picture 3"/>
          <p:cNvPicPr>
            <a:picLocks noChangeAspect="1"/>
          </p:cNvPicPr>
          <p:nvPr/>
        </p:nvPicPr>
        <p:blipFill>
          <a:blip r:embed="rId2"/>
          <a:stretch>
            <a:fillRect/>
          </a:stretch>
        </p:blipFill>
        <p:spPr>
          <a:xfrm>
            <a:off x="914400" y="1205814"/>
            <a:ext cx="6781800" cy="5074971"/>
          </a:xfrm>
          <a:prstGeom prst="rect">
            <a:avLst/>
          </a:prstGeom>
        </p:spPr>
      </p:pic>
    </p:spTree>
    <p:extLst>
      <p:ext uri="{BB962C8B-B14F-4D97-AF65-F5344CB8AC3E}">
        <p14:creationId xmlns:p14="http://schemas.microsoft.com/office/powerpoint/2010/main" val="3430554685"/>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E5D4B50-F876-4C9D-AF52-99E4DA1D6344}" type="slidenum">
              <a:rPr lang="en-US" smtClean="0"/>
              <a:pPr>
                <a:defRPr/>
              </a:pPr>
              <a:t>89</a:t>
            </a:fld>
            <a:endParaRPr lang="en-US"/>
          </a:p>
        </p:txBody>
      </p:sp>
      <p:pic>
        <p:nvPicPr>
          <p:cNvPr id="3" name="Picture 2"/>
          <p:cNvPicPr>
            <a:picLocks noChangeAspect="1"/>
          </p:cNvPicPr>
          <p:nvPr/>
        </p:nvPicPr>
        <p:blipFill>
          <a:blip r:embed="rId2"/>
          <a:stretch>
            <a:fillRect/>
          </a:stretch>
        </p:blipFill>
        <p:spPr>
          <a:xfrm>
            <a:off x="228600" y="209861"/>
            <a:ext cx="7848600" cy="6511614"/>
          </a:xfrm>
          <a:prstGeom prst="rect">
            <a:avLst/>
          </a:prstGeom>
        </p:spPr>
      </p:pic>
    </p:spTree>
    <p:extLst>
      <p:ext uri="{BB962C8B-B14F-4D97-AF65-F5344CB8AC3E}">
        <p14:creationId xmlns:p14="http://schemas.microsoft.com/office/powerpoint/2010/main" val="2257846382"/>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E5D4B50-F876-4C9D-AF52-99E4DA1D6344}" type="slidenum">
              <a:rPr lang="en-US" smtClean="0"/>
              <a:pPr>
                <a:defRPr/>
              </a:pPr>
              <a:t>90</a:t>
            </a:fld>
            <a:endParaRPr lang="en-US"/>
          </a:p>
        </p:txBody>
      </p:sp>
      <p:pic>
        <p:nvPicPr>
          <p:cNvPr id="3" name="Picture 2"/>
          <p:cNvPicPr>
            <a:picLocks noChangeAspect="1"/>
          </p:cNvPicPr>
          <p:nvPr/>
        </p:nvPicPr>
        <p:blipFill>
          <a:blip r:embed="rId2"/>
          <a:stretch>
            <a:fillRect/>
          </a:stretch>
        </p:blipFill>
        <p:spPr>
          <a:xfrm>
            <a:off x="304800" y="990600"/>
            <a:ext cx="4071730" cy="4267200"/>
          </a:xfrm>
          <a:prstGeom prst="rect">
            <a:avLst/>
          </a:prstGeom>
        </p:spPr>
      </p:pic>
      <p:pic>
        <p:nvPicPr>
          <p:cNvPr id="4" name="Picture 3"/>
          <p:cNvPicPr>
            <a:picLocks noChangeAspect="1"/>
          </p:cNvPicPr>
          <p:nvPr/>
        </p:nvPicPr>
        <p:blipFill>
          <a:blip r:embed="rId3"/>
          <a:stretch>
            <a:fillRect/>
          </a:stretch>
        </p:blipFill>
        <p:spPr>
          <a:xfrm>
            <a:off x="4863548" y="1181100"/>
            <a:ext cx="3810000" cy="3886200"/>
          </a:xfrm>
          <a:prstGeom prst="rect">
            <a:avLst/>
          </a:prstGeom>
        </p:spPr>
      </p:pic>
      <p:sp>
        <p:nvSpPr>
          <p:cNvPr id="5" name="TextBox 4"/>
          <p:cNvSpPr txBox="1"/>
          <p:nvPr/>
        </p:nvSpPr>
        <p:spPr>
          <a:xfrm>
            <a:off x="304800" y="588138"/>
            <a:ext cx="1752600" cy="369332"/>
          </a:xfrm>
          <a:prstGeom prst="rect">
            <a:avLst/>
          </a:prstGeom>
          <a:noFill/>
        </p:spPr>
        <p:txBody>
          <a:bodyPr wrap="square" rtlCol="0">
            <a:spAutoFit/>
          </a:bodyPr>
          <a:lstStyle/>
          <a:p>
            <a:r>
              <a:rPr lang="en-IN" b="1" dirty="0" smtClean="0"/>
              <a:t>Answer of 17</a:t>
            </a:r>
            <a:endParaRPr lang="en-US" b="1" dirty="0"/>
          </a:p>
        </p:txBody>
      </p:sp>
    </p:spTree>
    <p:extLst>
      <p:ext uri="{BB962C8B-B14F-4D97-AF65-F5344CB8AC3E}">
        <p14:creationId xmlns:p14="http://schemas.microsoft.com/office/powerpoint/2010/main" val="52830476"/>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E5D4B50-F876-4C9D-AF52-99E4DA1D6344}" type="slidenum">
              <a:rPr lang="en-US" smtClean="0"/>
              <a:pPr>
                <a:defRPr/>
              </a:pPr>
              <a:t>91</a:t>
            </a:fld>
            <a:endParaRPr lang="en-US"/>
          </a:p>
        </p:txBody>
      </p:sp>
      <p:pic>
        <p:nvPicPr>
          <p:cNvPr id="3" name="Picture 2"/>
          <p:cNvPicPr>
            <a:picLocks noChangeAspect="1"/>
          </p:cNvPicPr>
          <p:nvPr/>
        </p:nvPicPr>
        <p:blipFill>
          <a:blip r:embed="rId2"/>
          <a:stretch>
            <a:fillRect/>
          </a:stretch>
        </p:blipFill>
        <p:spPr>
          <a:xfrm>
            <a:off x="1447800" y="593394"/>
            <a:ext cx="6553200" cy="5651831"/>
          </a:xfrm>
          <a:prstGeom prst="rect">
            <a:avLst/>
          </a:prstGeom>
        </p:spPr>
      </p:pic>
      <p:sp>
        <p:nvSpPr>
          <p:cNvPr id="4" name="TextBox 3"/>
          <p:cNvSpPr txBox="1"/>
          <p:nvPr/>
        </p:nvSpPr>
        <p:spPr>
          <a:xfrm>
            <a:off x="304800" y="588138"/>
            <a:ext cx="1752600" cy="369332"/>
          </a:xfrm>
          <a:prstGeom prst="rect">
            <a:avLst/>
          </a:prstGeom>
          <a:noFill/>
        </p:spPr>
        <p:txBody>
          <a:bodyPr wrap="square" rtlCol="0">
            <a:spAutoFit/>
          </a:bodyPr>
          <a:lstStyle/>
          <a:p>
            <a:r>
              <a:rPr lang="en-IN" b="1" dirty="0" smtClean="0"/>
              <a:t>Answer of 18</a:t>
            </a:r>
            <a:endParaRPr lang="en-US" b="1" dirty="0"/>
          </a:p>
        </p:txBody>
      </p:sp>
    </p:spTree>
    <p:extLst>
      <p:ext uri="{BB962C8B-B14F-4D97-AF65-F5344CB8AC3E}">
        <p14:creationId xmlns:p14="http://schemas.microsoft.com/office/powerpoint/2010/main" val="3622661744"/>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28600" y="685800"/>
            <a:ext cx="8763000" cy="4221162"/>
          </a:xfrm>
        </p:spPr>
        <p:txBody>
          <a:bodyPr/>
          <a:lstStyle/>
          <a:p>
            <a:r>
              <a:rPr lang="en-IN" dirty="0" smtClean="0"/>
              <a:t>Create AVL tree with the following nodes : </a:t>
            </a:r>
            <a:br>
              <a:rPr lang="en-IN" dirty="0" smtClean="0"/>
            </a:br>
            <a:r>
              <a:rPr lang="en-IN" b="1" dirty="0" smtClean="0"/>
              <a:t>21, 17, 15, 23, 27, 20, 10, 13</a:t>
            </a:r>
            <a:endParaRPr lang="en-US" b="1" dirty="0"/>
          </a:p>
        </p:txBody>
      </p:sp>
      <p:sp>
        <p:nvSpPr>
          <p:cNvPr id="2" name="Slide Number Placeholder 1"/>
          <p:cNvSpPr>
            <a:spLocks noGrp="1"/>
          </p:cNvSpPr>
          <p:nvPr>
            <p:ph type="sldNum" sz="quarter" idx="12"/>
          </p:nvPr>
        </p:nvSpPr>
        <p:spPr/>
        <p:txBody>
          <a:bodyPr/>
          <a:lstStyle/>
          <a:p>
            <a:pPr>
              <a:defRPr/>
            </a:pPr>
            <a:fld id="{CE5D4B50-F876-4C9D-AF52-99E4DA1D6344}" type="slidenum">
              <a:rPr lang="en-US" smtClean="0"/>
              <a:pPr>
                <a:defRPr/>
              </a:pPr>
              <a:t>92</a:t>
            </a:fld>
            <a:endParaRPr lang="en-US"/>
          </a:p>
        </p:txBody>
      </p:sp>
    </p:spTree>
    <p:extLst>
      <p:ext uri="{BB962C8B-B14F-4D97-AF65-F5344CB8AC3E}">
        <p14:creationId xmlns:p14="http://schemas.microsoft.com/office/powerpoint/2010/main" val="2119459448"/>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DFB23298-DD53-4E44-A580-0F2456B8DC1B}" type="slidenum">
              <a:rPr lang="en-US" smtClean="0"/>
              <a:pPr>
                <a:defRPr/>
              </a:pPr>
              <a:t>93</a:t>
            </a:fld>
            <a:endParaRPr lang="en-US"/>
          </a:p>
        </p:txBody>
      </p:sp>
      <p:pic>
        <p:nvPicPr>
          <p:cNvPr id="4" name="Picture 3"/>
          <p:cNvPicPr>
            <a:picLocks noChangeAspect="1"/>
          </p:cNvPicPr>
          <p:nvPr/>
        </p:nvPicPr>
        <p:blipFill>
          <a:blip r:embed="rId2"/>
          <a:stretch>
            <a:fillRect/>
          </a:stretch>
        </p:blipFill>
        <p:spPr>
          <a:xfrm>
            <a:off x="228600" y="0"/>
            <a:ext cx="2057400" cy="3131820"/>
          </a:xfrm>
          <a:prstGeom prst="rect">
            <a:avLst/>
          </a:prstGeom>
        </p:spPr>
      </p:pic>
      <p:pic>
        <p:nvPicPr>
          <p:cNvPr id="5" name="Picture 4"/>
          <p:cNvPicPr>
            <a:picLocks noChangeAspect="1"/>
          </p:cNvPicPr>
          <p:nvPr/>
        </p:nvPicPr>
        <p:blipFill>
          <a:blip r:embed="rId3"/>
          <a:stretch>
            <a:fillRect/>
          </a:stretch>
        </p:blipFill>
        <p:spPr>
          <a:xfrm>
            <a:off x="2743200" y="457200"/>
            <a:ext cx="2286000" cy="2476500"/>
          </a:xfrm>
          <a:prstGeom prst="rect">
            <a:avLst/>
          </a:prstGeom>
        </p:spPr>
      </p:pic>
      <p:pic>
        <p:nvPicPr>
          <p:cNvPr id="6" name="Picture 5"/>
          <p:cNvPicPr>
            <a:picLocks noChangeAspect="1"/>
          </p:cNvPicPr>
          <p:nvPr/>
        </p:nvPicPr>
        <p:blipFill>
          <a:blip r:embed="rId4"/>
          <a:stretch>
            <a:fillRect/>
          </a:stretch>
        </p:blipFill>
        <p:spPr>
          <a:xfrm>
            <a:off x="5867400" y="147988"/>
            <a:ext cx="2362200" cy="2983832"/>
          </a:xfrm>
          <a:prstGeom prst="rect">
            <a:avLst/>
          </a:prstGeom>
        </p:spPr>
      </p:pic>
      <p:pic>
        <p:nvPicPr>
          <p:cNvPr id="7" name="Picture 6"/>
          <p:cNvPicPr>
            <a:picLocks noChangeAspect="1"/>
          </p:cNvPicPr>
          <p:nvPr/>
        </p:nvPicPr>
        <p:blipFill>
          <a:blip r:embed="rId5"/>
          <a:stretch>
            <a:fillRect/>
          </a:stretch>
        </p:blipFill>
        <p:spPr>
          <a:xfrm>
            <a:off x="233680" y="2933700"/>
            <a:ext cx="2790825" cy="3763385"/>
          </a:xfrm>
          <a:prstGeom prst="rect">
            <a:avLst/>
          </a:prstGeom>
        </p:spPr>
      </p:pic>
      <p:pic>
        <p:nvPicPr>
          <p:cNvPr id="8" name="Picture 7"/>
          <p:cNvPicPr>
            <a:picLocks noChangeAspect="1"/>
          </p:cNvPicPr>
          <p:nvPr/>
        </p:nvPicPr>
        <p:blipFill>
          <a:blip r:embed="rId6"/>
          <a:stretch>
            <a:fillRect/>
          </a:stretch>
        </p:blipFill>
        <p:spPr>
          <a:xfrm>
            <a:off x="3276600" y="3157220"/>
            <a:ext cx="2935779" cy="3088005"/>
          </a:xfrm>
          <a:prstGeom prst="rect">
            <a:avLst/>
          </a:prstGeom>
        </p:spPr>
      </p:pic>
      <p:sp>
        <p:nvSpPr>
          <p:cNvPr id="9" name="TextBox 8"/>
          <p:cNvSpPr txBox="1"/>
          <p:nvPr/>
        </p:nvSpPr>
        <p:spPr>
          <a:xfrm>
            <a:off x="533400" y="457200"/>
            <a:ext cx="685800" cy="461665"/>
          </a:xfrm>
          <a:prstGeom prst="rect">
            <a:avLst/>
          </a:prstGeom>
          <a:noFill/>
        </p:spPr>
        <p:txBody>
          <a:bodyPr wrap="square" rtlCol="0">
            <a:spAutoFit/>
          </a:bodyPr>
          <a:lstStyle/>
          <a:p>
            <a:pPr algn="ctr"/>
            <a:r>
              <a:rPr lang="en-IN" sz="2400" b="1" dirty="0" smtClean="0"/>
              <a:t>LL</a:t>
            </a:r>
            <a:endParaRPr lang="en-US" sz="2400" b="1" dirty="0"/>
          </a:p>
        </p:txBody>
      </p:sp>
      <p:sp>
        <p:nvSpPr>
          <p:cNvPr id="10" name="TextBox 9"/>
          <p:cNvSpPr txBox="1"/>
          <p:nvPr/>
        </p:nvSpPr>
        <p:spPr>
          <a:xfrm>
            <a:off x="990600" y="5253335"/>
            <a:ext cx="685800" cy="461665"/>
          </a:xfrm>
          <a:prstGeom prst="rect">
            <a:avLst/>
          </a:prstGeom>
          <a:noFill/>
        </p:spPr>
        <p:txBody>
          <a:bodyPr wrap="square" rtlCol="0">
            <a:spAutoFit/>
          </a:bodyPr>
          <a:lstStyle/>
          <a:p>
            <a:pPr algn="ctr"/>
            <a:r>
              <a:rPr lang="en-IN" sz="2400" b="1" dirty="0" smtClean="0"/>
              <a:t>RR</a:t>
            </a:r>
            <a:endParaRPr lang="en-US" sz="2400" b="1" dirty="0"/>
          </a:p>
        </p:txBody>
      </p:sp>
    </p:spTree>
    <p:extLst>
      <p:ext uri="{BB962C8B-B14F-4D97-AF65-F5344CB8AC3E}">
        <p14:creationId xmlns:p14="http://schemas.microsoft.com/office/powerpoint/2010/main" val="2938625172"/>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E5D4B50-F876-4C9D-AF52-99E4DA1D6344}" type="slidenum">
              <a:rPr lang="en-US" smtClean="0"/>
              <a:pPr>
                <a:defRPr/>
              </a:pPr>
              <a:t>94</a:t>
            </a:fld>
            <a:endParaRPr lang="en-US"/>
          </a:p>
        </p:txBody>
      </p:sp>
      <p:pic>
        <p:nvPicPr>
          <p:cNvPr id="4" name="Picture 3"/>
          <p:cNvPicPr>
            <a:picLocks noChangeAspect="1"/>
          </p:cNvPicPr>
          <p:nvPr/>
        </p:nvPicPr>
        <p:blipFill>
          <a:blip r:embed="rId2"/>
          <a:stretch>
            <a:fillRect/>
          </a:stretch>
        </p:blipFill>
        <p:spPr>
          <a:xfrm>
            <a:off x="4191000" y="304800"/>
            <a:ext cx="3124200" cy="2926466"/>
          </a:xfrm>
          <a:prstGeom prst="rect">
            <a:avLst/>
          </a:prstGeom>
        </p:spPr>
      </p:pic>
      <p:pic>
        <p:nvPicPr>
          <p:cNvPr id="6" name="Picture 5"/>
          <p:cNvPicPr>
            <a:picLocks noChangeAspect="1"/>
          </p:cNvPicPr>
          <p:nvPr/>
        </p:nvPicPr>
        <p:blipFill>
          <a:blip r:embed="rId3"/>
          <a:stretch>
            <a:fillRect/>
          </a:stretch>
        </p:blipFill>
        <p:spPr>
          <a:xfrm>
            <a:off x="4417072" y="3195706"/>
            <a:ext cx="3549650" cy="3348381"/>
          </a:xfrm>
          <a:prstGeom prst="rect">
            <a:avLst/>
          </a:prstGeom>
        </p:spPr>
      </p:pic>
      <p:sp>
        <p:nvSpPr>
          <p:cNvPr id="7" name="TextBox 6"/>
          <p:cNvSpPr txBox="1"/>
          <p:nvPr/>
        </p:nvSpPr>
        <p:spPr>
          <a:xfrm>
            <a:off x="-76200" y="1900535"/>
            <a:ext cx="685800" cy="461665"/>
          </a:xfrm>
          <a:prstGeom prst="rect">
            <a:avLst/>
          </a:prstGeom>
          <a:noFill/>
        </p:spPr>
        <p:txBody>
          <a:bodyPr wrap="square" rtlCol="0">
            <a:spAutoFit/>
          </a:bodyPr>
          <a:lstStyle/>
          <a:p>
            <a:pPr algn="ctr"/>
            <a:r>
              <a:rPr lang="en-IN" sz="2400" b="1" dirty="0" smtClean="0"/>
              <a:t>RL</a:t>
            </a:r>
            <a:endParaRPr lang="en-US" sz="2400" b="1" dirty="0"/>
          </a:p>
        </p:txBody>
      </p:sp>
      <p:pic>
        <p:nvPicPr>
          <p:cNvPr id="9" name="Picture 8"/>
          <p:cNvPicPr>
            <a:picLocks noChangeAspect="1"/>
          </p:cNvPicPr>
          <p:nvPr/>
        </p:nvPicPr>
        <p:blipFill>
          <a:blip r:embed="rId4"/>
          <a:stretch>
            <a:fillRect/>
          </a:stretch>
        </p:blipFill>
        <p:spPr>
          <a:xfrm>
            <a:off x="434663" y="304800"/>
            <a:ext cx="2613337" cy="3106764"/>
          </a:xfrm>
          <a:prstGeom prst="rect">
            <a:avLst/>
          </a:prstGeom>
        </p:spPr>
      </p:pic>
      <p:pic>
        <p:nvPicPr>
          <p:cNvPr id="10" name="Picture 9"/>
          <p:cNvPicPr>
            <a:picLocks noChangeAspect="1"/>
          </p:cNvPicPr>
          <p:nvPr/>
        </p:nvPicPr>
        <p:blipFill>
          <a:blip r:embed="rId5"/>
          <a:stretch>
            <a:fillRect/>
          </a:stretch>
        </p:blipFill>
        <p:spPr>
          <a:xfrm>
            <a:off x="399103" y="3200400"/>
            <a:ext cx="3297891" cy="3560914"/>
          </a:xfrm>
          <a:prstGeom prst="rect">
            <a:avLst/>
          </a:prstGeom>
        </p:spPr>
      </p:pic>
      <p:sp>
        <p:nvSpPr>
          <p:cNvPr id="11" name="Rectangle 10"/>
          <p:cNvSpPr/>
          <p:nvPr/>
        </p:nvSpPr>
        <p:spPr>
          <a:xfrm>
            <a:off x="3276600" y="6318249"/>
            <a:ext cx="4419600" cy="400110"/>
          </a:xfrm>
          <a:prstGeom prst="rect">
            <a:avLst/>
          </a:prstGeom>
        </p:spPr>
        <p:txBody>
          <a:bodyPr wrap="square">
            <a:spAutoFit/>
          </a:bodyPr>
          <a:lstStyle/>
          <a:p>
            <a:r>
              <a:rPr lang="en-IN" sz="2000" b="1" dirty="0"/>
              <a:t>Problem using All four rotations</a:t>
            </a:r>
            <a:endParaRPr lang="en-US" sz="2000" b="1" dirty="0"/>
          </a:p>
        </p:txBody>
      </p:sp>
    </p:spTree>
    <p:extLst>
      <p:ext uri="{BB962C8B-B14F-4D97-AF65-F5344CB8AC3E}">
        <p14:creationId xmlns:p14="http://schemas.microsoft.com/office/powerpoint/2010/main" val="4106460862"/>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DFB23298-DD53-4E44-A580-0F2456B8DC1B}" type="slidenum">
              <a:rPr lang="en-US" smtClean="0"/>
              <a:pPr>
                <a:defRPr/>
              </a:pPr>
              <a:t>95</a:t>
            </a:fld>
            <a:endParaRPr lang="en-US"/>
          </a:p>
        </p:txBody>
      </p:sp>
      <p:pic>
        <p:nvPicPr>
          <p:cNvPr id="4" name="Picture 3"/>
          <p:cNvPicPr>
            <a:picLocks noChangeAspect="1"/>
          </p:cNvPicPr>
          <p:nvPr/>
        </p:nvPicPr>
        <p:blipFill>
          <a:blip r:embed="rId2"/>
          <a:stretch>
            <a:fillRect/>
          </a:stretch>
        </p:blipFill>
        <p:spPr>
          <a:xfrm>
            <a:off x="1143000" y="300038"/>
            <a:ext cx="6629400" cy="6049328"/>
          </a:xfrm>
          <a:prstGeom prst="rect">
            <a:avLst/>
          </a:prstGeom>
        </p:spPr>
      </p:pic>
    </p:spTree>
    <p:extLst>
      <p:ext uri="{BB962C8B-B14F-4D97-AF65-F5344CB8AC3E}">
        <p14:creationId xmlns:p14="http://schemas.microsoft.com/office/powerpoint/2010/main" val="2706111966"/>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E5D4B50-F876-4C9D-AF52-99E4DA1D6344}" type="slidenum">
              <a:rPr lang="en-US" smtClean="0"/>
              <a:pPr>
                <a:defRPr/>
              </a:pPr>
              <a:t>96</a:t>
            </a:fld>
            <a:endParaRPr lang="en-US"/>
          </a:p>
        </p:txBody>
      </p:sp>
      <p:pic>
        <p:nvPicPr>
          <p:cNvPr id="3" name="Picture 2"/>
          <p:cNvPicPr>
            <a:picLocks noChangeAspect="1"/>
          </p:cNvPicPr>
          <p:nvPr/>
        </p:nvPicPr>
        <p:blipFill>
          <a:blip r:embed="rId2"/>
          <a:stretch>
            <a:fillRect/>
          </a:stretch>
        </p:blipFill>
        <p:spPr>
          <a:xfrm>
            <a:off x="457200" y="39645"/>
            <a:ext cx="7848600" cy="6742155"/>
          </a:xfrm>
          <a:prstGeom prst="rect">
            <a:avLst/>
          </a:prstGeom>
        </p:spPr>
      </p:pic>
    </p:spTree>
    <p:extLst>
      <p:ext uri="{BB962C8B-B14F-4D97-AF65-F5344CB8AC3E}">
        <p14:creationId xmlns:p14="http://schemas.microsoft.com/office/powerpoint/2010/main" val="4200066380"/>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E5D4B50-F876-4C9D-AF52-99E4DA1D6344}" type="slidenum">
              <a:rPr lang="en-US" smtClean="0"/>
              <a:pPr>
                <a:defRPr/>
              </a:pPr>
              <a:t>97</a:t>
            </a:fld>
            <a:endParaRPr lang="en-US"/>
          </a:p>
        </p:txBody>
      </p:sp>
      <p:pic>
        <p:nvPicPr>
          <p:cNvPr id="3" name="Picture 2"/>
          <p:cNvPicPr>
            <a:picLocks noChangeAspect="1"/>
          </p:cNvPicPr>
          <p:nvPr/>
        </p:nvPicPr>
        <p:blipFill>
          <a:blip r:embed="rId2"/>
          <a:stretch>
            <a:fillRect/>
          </a:stretch>
        </p:blipFill>
        <p:spPr>
          <a:xfrm>
            <a:off x="-1" y="380999"/>
            <a:ext cx="8975117" cy="5864225"/>
          </a:xfrm>
          <a:prstGeom prst="rect">
            <a:avLst/>
          </a:prstGeom>
        </p:spPr>
      </p:pic>
      <p:sp>
        <p:nvSpPr>
          <p:cNvPr id="4" name="TextBox 3"/>
          <p:cNvSpPr txBox="1"/>
          <p:nvPr/>
        </p:nvSpPr>
        <p:spPr>
          <a:xfrm>
            <a:off x="609600" y="685800"/>
            <a:ext cx="4114800" cy="369332"/>
          </a:xfrm>
          <a:prstGeom prst="rect">
            <a:avLst/>
          </a:prstGeom>
          <a:noFill/>
        </p:spPr>
        <p:txBody>
          <a:bodyPr wrap="square" rtlCol="0">
            <a:spAutoFit/>
          </a:bodyPr>
          <a:lstStyle/>
          <a:p>
            <a:r>
              <a:rPr lang="en-IN" b="1" dirty="0" smtClean="0"/>
              <a:t>AVL Tree after Insertion of nodes</a:t>
            </a:r>
            <a:endParaRPr lang="en-US" b="1" dirty="0"/>
          </a:p>
        </p:txBody>
      </p:sp>
    </p:spTree>
    <p:extLst>
      <p:ext uri="{BB962C8B-B14F-4D97-AF65-F5344CB8AC3E}">
        <p14:creationId xmlns:p14="http://schemas.microsoft.com/office/powerpoint/2010/main" val="807093899"/>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E5D4B50-F876-4C9D-AF52-99E4DA1D6344}" type="slidenum">
              <a:rPr lang="en-US" smtClean="0"/>
              <a:pPr>
                <a:defRPr/>
              </a:pPr>
              <a:t>98</a:t>
            </a:fld>
            <a:endParaRPr lang="en-US"/>
          </a:p>
        </p:txBody>
      </p:sp>
      <p:pic>
        <p:nvPicPr>
          <p:cNvPr id="3" name="Picture 2"/>
          <p:cNvPicPr>
            <a:picLocks noChangeAspect="1"/>
          </p:cNvPicPr>
          <p:nvPr/>
        </p:nvPicPr>
        <p:blipFill>
          <a:blip r:embed="rId2"/>
          <a:stretch>
            <a:fillRect/>
          </a:stretch>
        </p:blipFill>
        <p:spPr>
          <a:xfrm>
            <a:off x="152400" y="228600"/>
            <a:ext cx="8077200" cy="6330165"/>
          </a:xfrm>
          <a:prstGeom prst="rect">
            <a:avLst/>
          </a:prstGeom>
        </p:spPr>
      </p:pic>
      <p:sp>
        <p:nvSpPr>
          <p:cNvPr id="4" name="TextBox 3"/>
          <p:cNvSpPr txBox="1"/>
          <p:nvPr/>
        </p:nvSpPr>
        <p:spPr>
          <a:xfrm>
            <a:off x="304800" y="773668"/>
            <a:ext cx="4114800" cy="369332"/>
          </a:xfrm>
          <a:prstGeom prst="rect">
            <a:avLst/>
          </a:prstGeom>
          <a:noFill/>
        </p:spPr>
        <p:txBody>
          <a:bodyPr wrap="square" rtlCol="0">
            <a:spAutoFit/>
          </a:bodyPr>
          <a:lstStyle/>
          <a:p>
            <a:r>
              <a:rPr lang="en-IN" b="1" dirty="0" smtClean="0"/>
              <a:t>AVL Tree after Deletion of nodes</a:t>
            </a:r>
            <a:endParaRPr lang="en-US" b="1" dirty="0"/>
          </a:p>
        </p:txBody>
      </p:sp>
    </p:spTree>
    <p:extLst>
      <p:ext uri="{BB962C8B-B14F-4D97-AF65-F5344CB8AC3E}">
        <p14:creationId xmlns:p14="http://schemas.microsoft.com/office/powerpoint/2010/main" val="2747333140"/>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b="1" dirty="0" smtClean="0"/>
              <a:t>MCA 2021-22</a:t>
            </a:r>
            <a:endParaRPr lang="en-US" b="1" dirty="0"/>
          </a:p>
        </p:txBody>
      </p:sp>
      <p:sp>
        <p:nvSpPr>
          <p:cNvPr id="5" name="Content Placeholder 4"/>
          <p:cNvSpPr>
            <a:spLocks noGrp="1"/>
          </p:cNvSpPr>
          <p:nvPr>
            <p:ph idx="1"/>
          </p:nvPr>
        </p:nvSpPr>
        <p:spPr/>
        <p:txBody>
          <a:bodyPr/>
          <a:lstStyle/>
          <a:p>
            <a:r>
              <a:rPr lang="en-IN" dirty="0" smtClean="0"/>
              <a:t>Insert the following elements in empty AVL tree: </a:t>
            </a:r>
          </a:p>
          <a:p>
            <a:pPr marL="0" indent="0">
              <a:buNone/>
            </a:pPr>
            <a:r>
              <a:rPr lang="en-IN" dirty="0" smtClean="0"/>
              <a:t>45, 55, 65, 75, 80, 90, 100, 110, 120, 130, 40, 35, 25, 20, 15, 10, 5 </a:t>
            </a:r>
            <a:endParaRPr lang="en-US" dirty="0"/>
          </a:p>
        </p:txBody>
      </p:sp>
      <p:sp>
        <p:nvSpPr>
          <p:cNvPr id="2" name="Slide Number Placeholder 1"/>
          <p:cNvSpPr>
            <a:spLocks noGrp="1"/>
          </p:cNvSpPr>
          <p:nvPr>
            <p:ph type="sldNum" sz="quarter" idx="12"/>
          </p:nvPr>
        </p:nvSpPr>
        <p:spPr/>
        <p:txBody>
          <a:bodyPr/>
          <a:lstStyle/>
          <a:p>
            <a:pPr>
              <a:defRPr/>
            </a:pPr>
            <a:fld id="{CE5D4B50-F876-4C9D-AF52-99E4DA1D6344}" type="slidenum">
              <a:rPr lang="en-US" smtClean="0"/>
              <a:pPr>
                <a:defRPr/>
              </a:pPr>
              <a:t>99</a:t>
            </a:fld>
            <a:endParaRPr lang="en-US"/>
          </a:p>
        </p:txBody>
      </p:sp>
    </p:spTree>
    <p:extLst>
      <p:ext uri="{BB962C8B-B14F-4D97-AF65-F5344CB8AC3E}">
        <p14:creationId xmlns:p14="http://schemas.microsoft.com/office/powerpoint/2010/main" val="4212277145"/>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E5D4B50-F876-4C9D-AF52-99E4DA1D6344}" type="slidenum">
              <a:rPr lang="en-US" smtClean="0"/>
              <a:pPr>
                <a:defRPr/>
              </a:pPr>
              <a:t>100</a:t>
            </a:fld>
            <a:endParaRPr lang="en-US"/>
          </a:p>
        </p:txBody>
      </p:sp>
      <p:pic>
        <p:nvPicPr>
          <p:cNvPr id="3" name="Picture 2"/>
          <p:cNvPicPr>
            <a:picLocks noChangeAspect="1"/>
          </p:cNvPicPr>
          <p:nvPr/>
        </p:nvPicPr>
        <p:blipFill>
          <a:blip r:embed="rId2"/>
          <a:stretch>
            <a:fillRect/>
          </a:stretch>
        </p:blipFill>
        <p:spPr>
          <a:xfrm>
            <a:off x="-76200" y="209589"/>
            <a:ext cx="9067800" cy="6267411"/>
          </a:xfrm>
          <a:prstGeom prst="rect">
            <a:avLst/>
          </a:prstGeom>
        </p:spPr>
      </p:pic>
    </p:spTree>
    <p:extLst>
      <p:ext uri="{BB962C8B-B14F-4D97-AF65-F5344CB8AC3E}">
        <p14:creationId xmlns:p14="http://schemas.microsoft.com/office/powerpoint/2010/main" val="1983015878"/>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30E2B021-BA0A-450F-B6BB-F1478336A46E}" type="slidenum">
              <a:rPr lang="en-US" sz="1400" smtClean="0"/>
              <a:pPr algn="r">
                <a:spcBef>
                  <a:spcPct val="0"/>
                </a:spcBef>
                <a:buFontTx/>
                <a:buNone/>
              </a:pPr>
              <a:t>101</a:t>
            </a:fld>
            <a:endParaRPr lang="en-US" sz="1400" smtClean="0"/>
          </a:p>
        </p:txBody>
      </p:sp>
      <p:sp>
        <p:nvSpPr>
          <p:cNvPr id="69635" name="Rectangle 2"/>
          <p:cNvSpPr>
            <a:spLocks noGrp="1" noChangeArrowheads="1"/>
          </p:cNvSpPr>
          <p:nvPr>
            <p:ph type="title"/>
          </p:nvPr>
        </p:nvSpPr>
        <p:spPr/>
        <p:txBody>
          <a:bodyPr/>
          <a:lstStyle/>
          <a:p>
            <a:pPr eaLnBrk="1" hangingPunct="1"/>
            <a:r>
              <a:rPr lang="en-US" smtClean="0"/>
              <a:t>Sparse Matrix</a:t>
            </a:r>
          </a:p>
        </p:txBody>
      </p:sp>
      <p:sp>
        <p:nvSpPr>
          <p:cNvPr id="69636" name="Rectangle 3"/>
          <p:cNvSpPr>
            <a:spLocks noGrp="1" noChangeArrowheads="1"/>
          </p:cNvSpPr>
          <p:nvPr>
            <p:ph type="body" idx="1"/>
          </p:nvPr>
        </p:nvSpPr>
        <p:spPr/>
        <p:txBody>
          <a:bodyPr/>
          <a:lstStyle/>
          <a:p>
            <a:pPr eaLnBrk="1" hangingPunct="1"/>
            <a:r>
              <a:rPr lang="en-US" smtClean="0"/>
              <a:t>Matrices with relatively high proportion of zero entries are called sparse matrices.</a:t>
            </a:r>
          </a:p>
          <a:p>
            <a:pPr eaLnBrk="1" hangingPunct="1"/>
            <a:r>
              <a:rPr lang="en-US" b="1" u="sng" smtClean="0"/>
              <a:t>Lower Triangular Matrix:</a:t>
            </a:r>
            <a:r>
              <a:rPr lang="en-US" smtClean="0"/>
              <a:t> A square matrix where all the entries </a:t>
            </a:r>
            <a:r>
              <a:rPr lang="en-US" b="1" smtClean="0"/>
              <a:t>above</a:t>
            </a:r>
            <a:r>
              <a:rPr lang="en-US" smtClean="0"/>
              <a:t> the main diagonal are zero or equivalently, where all the non-zero entries can only occur </a:t>
            </a:r>
            <a:r>
              <a:rPr lang="en-US" b="1" smtClean="0"/>
              <a:t>on or below</a:t>
            </a:r>
            <a:r>
              <a:rPr lang="en-US" smtClean="0"/>
              <a:t> the main diagonal, is called a Lower Triangular matrix.</a:t>
            </a:r>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FEBF6965-DA49-48C5-9411-253EAF12042A}" type="slidenum">
              <a:rPr lang="en-US" sz="1400" smtClean="0"/>
              <a:pPr algn="r">
                <a:spcBef>
                  <a:spcPct val="0"/>
                </a:spcBef>
                <a:buFontTx/>
                <a:buNone/>
              </a:pPr>
              <a:t>102</a:t>
            </a:fld>
            <a:endParaRPr lang="en-US" sz="1400" smtClean="0"/>
          </a:p>
        </p:txBody>
      </p:sp>
      <p:graphicFrame>
        <p:nvGraphicFramePr>
          <p:cNvPr id="56322" name="Group 2"/>
          <p:cNvGraphicFramePr>
            <a:graphicFrameLocks noGrp="1"/>
          </p:cNvGraphicFramePr>
          <p:nvPr/>
        </p:nvGraphicFramePr>
        <p:xfrm>
          <a:off x="1524000" y="1397000"/>
          <a:ext cx="6096000" cy="4064000"/>
        </p:xfrm>
        <a:graphic>
          <a:graphicData uri="http://schemas.openxmlformats.org/drawingml/2006/table">
            <a:tbl>
              <a:tblPr/>
              <a:tblGrid>
                <a:gridCol w="1219200"/>
                <a:gridCol w="1219200"/>
                <a:gridCol w="1219200"/>
                <a:gridCol w="1219200"/>
                <a:gridCol w="1219200"/>
              </a:tblGrid>
              <a:tr h="812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chemeClr val="tx1"/>
                          </a:solidFill>
                          <a:effectLst/>
                          <a:latin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rgbClr val="FF0000"/>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rgbClr val="FF0000"/>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12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rgbClr val="FF0000"/>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rgbClr val="FF0000"/>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rgbClr val="FF0000"/>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12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rgbClr val="FF0000"/>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rgbClr val="FF0000"/>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12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rgbClr val="FF0000"/>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12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0697" name="Text Box 40"/>
          <p:cNvSpPr txBox="1">
            <a:spLocks noChangeArrowheads="1"/>
          </p:cNvSpPr>
          <p:nvPr/>
        </p:nvSpPr>
        <p:spPr bwMode="auto">
          <a:xfrm>
            <a:off x="1828800" y="609600"/>
            <a:ext cx="5715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2800" b="1"/>
              <a:t>Lower Triangular Matrix</a:t>
            </a: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EE3BE3DF-61CE-4489-A78E-80BDD16A0C27}" type="slidenum">
              <a:rPr lang="en-US" sz="1400" smtClean="0"/>
              <a:pPr algn="r">
                <a:spcBef>
                  <a:spcPct val="0"/>
                </a:spcBef>
                <a:buFontTx/>
                <a:buNone/>
              </a:pPr>
              <a:t>103</a:t>
            </a:fld>
            <a:endParaRPr lang="en-US" sz="1400" smtClean="0"/>
          </a:p>
        </p:txBody>
      </p:sp>
      <p:sp>
        <p:nvSpPr>
          <p:cNvPr id="71683" name="Rectangle 3"/>
          <p:cNvSpPr>
            <a:spLocks noGrp="1" noChangeArrowheads="1"/>
          </p:cNvSpPr>
          <p:nvPr>
            <p:ph type="body" idx="1"/>
          </p:nvPr>
        </p:nvSpPr>
        <p:spPr>
          <a:xfrm>
            <a:off x="457200" y="381000"/>
            <a:ext cx="8229600" cy="5745163"/>
          </a:xfrm>
        </p:spPr>
        <p:txBody>
          <a:bodyPr/>
          <a:lstStyle/>
          <a:p>
            <a:pPr eaLnBrk="1" hangingPunct="1"/>
            <a:r>
              <a:rPr lang="en-US" b="1" u="sng" smtClean="0"/>
              <a:t>Upper Triangular Matrix:</a:t>
            </a:r>
            <a:r>
              <a:rPr lang="en-US" smtClean="0"/>
              <a:t> A square matrix where all the entries </a:t>
            </a:r>
            <a:r>
              <a:rPr lang="en-US" b="1" smtClean="0"/>
              <a:t>below</a:t>
            </a:r>
            <a:r>
              <a:rPr lang="en-US" smtClean="0"/>
              <a:t> the main diagonal are zero or equivalently, where all the non-zero entries can only occur </a:t>
            </a:r>
            <a:r>
              <a:rPr lang="en-US" b="1" smtClean="0"/>
              <a:t>on or above</a:t>
            </a:r>
            <a:r>
              <a:rPr lang="en-US" smtClean="0"/>
              <a:t> the main diagonal, is called a Upper Triangular matrix.</a:t>
            </a:r>
          </a:p>
          <a:p>
            <a:pPr eaLnBrk="1" hangingPunct="1"/>
            <a:r>
              <a:rPr lang="en-US" b="1" u="sng" smtClean="0"/>
              <a:t>Tridiagonal Matrix: </a:t>
            </a:r>
            <a:r>
              <a:rPr lang="en-US" smtClean="0"/>
              <a:t>A square matrix where non-zero entries can only occur on the diagonal or on elements immediately above or below the diagonal, is called a tridiagonal matrix.</a:t>
            </a: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9D51EA7E-7BF5-43B2-970C-A33A904AAA6C}" type="slidenum">
              <a:rPr lang="en-US" sz="1400" smtClean="0"/>
              <a:pPr algn="r">
                <a:spcBef>
                  <a:spcPct val="0"/>
                </a:spcBef>
                <a:buFontTx/>
                <a:buNone/>
              </a:pPr>
              <a:t>104</a:t>
            </a:fld>
            <a:endParaRPr lang="en-US" sz="1400" smtClean="0"/>
          </a:p>
        </p:txBody>
      </p:sp>
      <p:graphicFrame>
        <p:nvGraphicFramePr>
          <p:cNvPr id="55338" name="Group 42"/>
          <p:cNvGraphicFramePr>
            <a:graphicFrameLocks noGrp="1"/>
          </p:cNvGraphicFramePr>
          <p:nvPr/>
        </p:nvGraphicFramePr>
        <p:xfrm>
          <a:off x="1524000" y="1397000"/>
          <a:ext cx="6096000" cy="4064000"/>
        </p:xfrm>
        <a:graphic>
          <a:graphicData uri="http://schemas.openxmlformats.org/drawingml/2006/table">
            <a:tbl>
              <a:tblPr/>
              <a:tblGrid>
                <a:gridCol w="1219200"/>
                <a:gridCol w="1219200"/>
                <a:gridCol w="1219200"/>
                <a:gridCol w="1219200"/>
                <a:gridCol w="1219200"/>
              </a:tblGrid>
              <a:tr h="812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chemeClr val="tx1"/>
                          </a:solidFill>
                          <a:effectLst/>
                          <a:latin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89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45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12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rgbClr val="FF0000"/>
                          </a:solidFill>
                          <a:effectLst/>
                          <a:latin typeface="Arial"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12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rgbClr val="FF0000"/>
                          </a:solidFill>
                          <a:effectLst/>
                          <a:latin typeface="Arial"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rgbClr val="FF0000"/>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12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rgbClr val="FF0000"/>
                          </a:solidFill>
                          <a:effectLst/>
                          <a:latin typeface="Arial"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rgbClr val="FF0000"/>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rgbClr val="FF0000"/>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78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12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rgbClr val="FF0000"/>
                          </a:solidFill>
                          <a:effectLst/>
                          <a:latin typeface="Arial"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rgbClr val="FF0000"/>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rgbClr val="FF0000"/>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rgbClr val="FF0000"/>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2745" name="Text Box 43"/>
          <p:cNvSpPr txBox="1">
            <a:spLocks noChangeArrowheads="1"/>
          </p:cNvSpPr>
          <p:nvPr/>
        </p:nvSpPr>
        <p:spPr bwMode="auto">
          <a:xfrm>
            <a:off x="1828800" y="609600"/>
            <a:ext cx="5715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2800" b="1"/>
              <a:t>Upper Triangular Matrix</a:t>
            </a: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333F41EE-F646-410A-A75A-E59204C6A453}" type="slidenum">
              <a:rPr lang="en-US" sz="1400" smtClean="0"/>
              <a:pPr algn="r">
                <a:spcBef>
                  <a:spcPct val="0"/>
                </a:spcBef>
                <a:buFontTx/>
                <a:buNone/>
              </a:pPr>
              <a:t>105</a:t>
            </a:fld>
            <a:endParaRPr lang="en-US" sz="1400" smtClean="0"/>
          </a:p>
        </p:txBody>
      </p:sp>
      <p:graphicFrame>
        <p:nvGraphicFramePr>
          <p:cNvPr id="58370" name="Group 2"/>
          <p:cNvGraphicFramePr>
            <a:graphicFrameLocks noGrp="1"/>
          </p:cNvGraphicFramePr>
          <p:nvPr/>
        </p:nvGraphicFramePr>
        <p:xfrm>
          <a:off x="1524000" y="1397000"/>
          <a:ext cx="6096000" cy="4064000"/>
        </p:xfrm>
        <a:graphic>
          <a:graphicData uri="http://schemas.openxmlformats.org/drawingml/2006/table">
            <a:tbl>
              <a:tblPr/>
              <a:tblGrid>
                <a:gridCol w="1219200"/>
                <a:gridCol w="1219200"/>
                <a:gridCol w="1219200"/>
                <a:gridCol w="1219200"/>
                <a:gridCol w="1219200"/>
              </a:tblGrid>
              <a:tr h="812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rgbClr val="FF0000"/>
                          </a:solidFill>
                          <a:effectLst/>
                          <a:latin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kern="1200" cap="none" normalizeH="0" baseline="0" dirty="0" smtClean="0">
                          <a:ln>
                            <a:noFill/>
                          </a:ln>
                          <a:solidFill>
                            <a:srgbClr val="FF0000"/>
                          </a:solidFill>
                          <a:effectLst/>
                          <a:latin typeface="Arial" charset="0"/>
                          <a:ea typeface="+mn-ea"/>
                          <a:cs typeface="+mn-cs"/>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12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kern="1200" cap="none" normalizeH="0" baseline="0" dirty="0" smtClean="0">
                          <a:ln>
                            <a:noFill/>
                          </a:ln>
                          <a:solidFill>
                            <a:srgbClr val="FF0000"/>
                          </a:solidFill>
                          <a:effectLst/>
                          <a:latin typeface="Arial" charset="0"/>
                          <a:ea typeface="+mn-ea"/>
                          <a:cs typeface="+mn-cs"/>
                        </a:rPr>
                        <a:t>42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kern="1200" cap="none" normalizeH="0" baseline="0" dirty="0" smtClean="0">
                          <a:ln>
                            <a:noFill/>
                          </a:ln>
                          <a:solidFill>
                            <a:srgbClr val="FF0000"/>
                          </a:solidFill>
                          <a:effectLst/>
                          <a:latin typeface="Arial" charset="0"/>
                          <a:ea typeface="+mn-ea"/>
                          <a:cs typeface="+mn-cs"/>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kern="1200" cap="none" normalizeH="0" baseline="0" dirty="0" smtClean="0">
                          <a:ln>
                            <a:noFill/>
                          </a:ln>
                          <a:solidFill>
                            <a:srgbClr val="FF0000"/>
                          </a:solidFill>
                          <a:effectLst/>
                          <a:latin typeface="Arial" charset="0"/>
                          <a:ea typeface="+mn-ea"/>
                          <a:cs typeface="+mn-cs"/>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12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kern="1200" cap="none" normalizeH="0" baseline="0" dirty="0" smtClean="0">
                          <a:ln>
                            <a:noFill/>
                          </a:ln>
                          <a:solidFill>
                            <a:srgbClr val="FF0000"/>
                          </a:solidFill>
                          <a:effectLst/>
                          <a:latin typeface="Arial" charset="0"/>
                          <a:ea typeface="+mn-ea"/>
                          <a:cs typeface="+mn-cs"/>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kern="1200" cap="none" normalizeH="0" baseline="0" dirty="0" smtClean="0">
                          <a:ln>
                            <a:noFill/>
                          </a:ln>
                          <a:solidFill>
                            <a:srgbClr val="FF0000"/>
                          </a:solidFill>
                          <a:effectLst/>
                          <a:latin typeface="Arial" charset="0"/>
                          <a:ea typeface="+mn-ea"/>
                          <a:cs typeface="+mn-cs"/>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kern="1200" cap="none" normalizeH="0" baseline="0" dirty="0" smtClean="0">
                          <a:ln>
                            <a:noFill/>
                          </a:ln>
                          <a:solidFill>
                            <a:srgbClr val="FF0000"/>
                          </a:solidFill>
                          <a:effectLst/>
                          <a:latin typeface="Arial" charset="0"/>
                          <a:ea typeface="+mn-ea"/>
                          <a:cs typeface="+mn-cs"/>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12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kern="1200" cap="none" normalizeH="0" baseline="0" dirty="0" smtClean="0">
                          <a:ln>
                            <a:noFill/>
                          </a:ln>
                          <a:solidFill>
                            <a:srgbClr val="FF0000"/>
                          </a:solidFill>
                          <a:effectLst/>
                          <a:latin typeface="Arial" charset="0"/>
                          <a:ea typeface="+mn-ea"/>
                          <a:cs typeface="+mn-cs"/>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kern="1200" cap="none" normalizeH="0" baseline="0" dirty="0" smtClean="0">
                          <a:ln>
                            <a:noFill/>
                          </a:ln>
                          <a:solidFill>
                            <a:srgbClr val="FF0000"/>
                          </a:solidFill>
                          <a:effectLst/>
                          <a:latin typeface="Arial" charset="0"/>
                          <a:ea typeface="+mn-ea"/>
                          <a:cs typeface="+mn-cs"/>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kern="1200" cap="none" normalizeH="0" baseline="0" dirty="0" smtClean="0">
                          <a:ln>
                            <a:noFill/>
                          </a:ln>
                          <a:solidFill>
                            <a:srgbClr val="FF0000"/>
                          </a:solidFill>
                          <a:effectLst/>
                          <a:latin typeface="Arial" charset="0"/>
                          <a:ea typeface="+mn-ea"/>
                          <a:cs typeface="+mn-cs"/>
                        </a:rPr>
                        <a:t>78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12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kern="1200" cap="none" normalizeH="0" baseline="0" dirty="0" smtClean="0">
                          <a:ln>
                            <a:noFill/>
                          </a:ln>
                          <a:solidFill>
                            <a:srgbClr val="FF0000"/>
                          </a:solidFill>
                          <a:effectLst/>
                          <a:latin typeface="Arial" charset="0"/>
                          <a:ea typeface="+mn-ea"/>
                          <a:cs typeface="+mn-cs"/>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kern="1200" cap="none" normalizeH="0" baseline="0" dirty="0" smtClean="0">
                          <a:ln>
                            <a:noFill/>
                          </a:ln>
                          <a:solidFill>
                            <a:srgbClr val="FF0000"/>
                          </a:solidFill>
                          <a:effectLst/>
                          <a:latin typeface="Arial" charset="0"/>
                          <a:ea typeface="+mn-ea"/>
                          <a:cs typeface="+mn-cs"/>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3769" name="Text Box 40"/>
          <p:cNvSpPr txBox="1">
            <a:spLocks noChangeArrowheads="1"/>
          </p:cNvSpPr>
          <p:nvPr/>
        </p:nvSpPr>
        <p:spPr bwMode="auto">
          <a:xfrm>
            <a:off x="1828800" y="609600"/>
            <a:ext cx="5715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2800" b="1"/>
              <a:t>Tridiagonal Matrix</a:t>
            </a:r>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EDBB6E55-4333-45D0-9842-F068703C74E2}" type="slidenum">
              <a:rPr lang="en-US" sz="1400" smtClean="0"/>
              <a:pPr algn="r">
                <a:spcBef>
                  <a:spcPct val="0"/>
                </a:spcBef>
                <a:buFontTx/>
                <a:buNone/>
              </a:pPr>
              <a:t>106</a:t>
            </a:fld>
            <a:endParaRPr lang="en-US" sz="1400" smtClean="0"/>
          </a:p>
        </p:txBody>
      </p:sp>
      <p:graphicFrame>
        <p:nvGraphicFramePr>
          <p:cNvPr id="59496" name="Group 104"/>
          <p:cNvGraphicFramePr>
            <a:graphicFrameLocks noGrp="1"/>
          </p:cNvGraphicFramePr>
          <p:nvPr>
            <p:ph idx="1"/>
          </p:nvPr>
        </p:nvGraphicFramePr>
        <p:xfrm>
          <a:off x="423863" y="1371600"/>
          <a:ext cx="8186737" cy="5097463"/>
        </p:xfrm>
        <a:graphic>
          <a:graphicData uri="http://schemas.openxmlformats.org/drawingml/2006/table">
            <a:tbl>
              <a:tblPr/>
              <a:tblGrid>
                <a:gridCol w="1023937"/>
                <a:gridCol w="1022350"/>
                <a:gridCol w="1023938"/>
                <a:gridCol w="1022350"/>
                <a:gridCol w="1023937"/>
                <a:gridCol w="1022350"/>
                <a:gridCol w="1023938"/>
                <a:gridCol w="1023937"/>
              </a:tblGrid>
              <a:tr h="5715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chemeClr val="accent2"/>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accent2"/>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accent2"/>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accent2"/>
                          </a:solidFill>
                          <a:effectLst/>
                          <a:latin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accent2"/>
                          </a:solidFill>
                          <a:effectLst/>
                          <a:latin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accent2"/>
                          </a:solidFill>
                          <a:effectLst/>
                          <a:latin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accent2"/>
                          </a:solidFill>
                          <a:effectLst/>
                          <a:latin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accent2"/>
                          </a:solidFill>
                          <a:effectLst/>
                          <a:latin typeface="Arial"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77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accent2"/>
                          </a:solidFill>
                          <a:effectLst/>
                          <a:latin typeface="Arial"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3300"/>
                          </a:solidFill>
                          <a:effectLst/>
                          <a:latin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45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accent2"/>
                          </a:solidFill>
                          <a:effectLst/>
                          <a:latin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3300"/>
                          </a:solidFill>
                          <a:effectLst/>
                          <a:latin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3300"/>
                          </a:solidFill>
                          <a:effectLst/>
                          <a:latin typeface="Arial" charset="0"/>
                        </a:rPr>
                        <a:t>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77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accent2"/>
                          </a:solidFill>
                          <a:effectLst/>
                          <a:latin typeface="Arial"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3300"/>
                          </a:solidFill>
                          <a:effectLst/>
                          <a:latin typeface="Arial"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6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accent2"/>
                          </a:solidFill>
                          <a:effectLst/>
                          <a:latin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3300"/>
                          </a:solidFill>
                          <a:effectLst/>
                          <a:latin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3300"/>
                          </a:solidFill>
                          <a:effectLst/>
                          <a:latin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77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accent2"/>
                          </a:solidFill>
                          <a:effectLst/>
                          <a:latin typeface="Arial" charset="0"/>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3300"/>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3300"/>
                          </a:solidFill>
                          <a:effectLst/>
                          <a:latin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45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accent2"/>
                          </a:solidFill>
                          <a:effectLst/>
                          <a:latin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77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accent2"/>
                          </a:solidFill>
                          <a:effectLst/>
                          <a:latin typeface="Arial"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3300"/>
                          </a:solidFill>
                          <a:effectLst/>
                          <a:latin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4838" name="Text Box 106"/>
          <p:cNvSpPr txBox="1">
            <a:spLocks noChangeArrowheads="1"/>
          </p:cNvSpPr>
          <p:nvPr/>
        </p:nvSpPr>
        <p:spPr bwMode="auto">
          <a:xfrm>
            <a:off x="381000" y="533400"/>
            <a:ext cx="6705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50000"/>
              </a:spcBef>
              <a:buFontTx/>
              <a:buNone/>
            </a:pPr>
            <a:r>
              <a:rPr lang="en-US" sz="2800"/>
              <a:t>Suppose given sparse matrix is:</a:t>
            </a: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FontTx/>
              <a:buNone/>
            </a:pPr>
            <a:fld id="{6E30DC8D-B89A-4D4C-87AB-F9CD567B31DD}" type="slidenum">
              <a:rPr lang="en-US" sz="1400" smtClean="0"/>
              <a:pPr algn="r">
                <a:spcBef>
                  <a:spcPct val="0"/>
                </a:spcBef>
                <a:buFontTx/>
                <a:buNone/>
              </a:pPr>
              <a:t>107</a:t>
            </a:fld>
            <a:endParaRPr lang="en-US" sz="1400" smtClean="0"/>
          </a:p>
        </p:txBody>
      </p:sp>
      <p:sp>
        <p:nvSpPr>
          <p:cNvPr id="75779" name="Rectangle 4"/>
          <p:cNvSpPr>
            <a:spLocks noChangeArrowheads="1"/>
          </p:cNvSpPr>
          <p:nvPr/>
        </p:nvSpPr>
        <p:spPr bwMode="auto">
          <a:xfrm>
            <a:off x="228600" y="917575"/>
            <a:ext cx="4572000" cy="594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l" eaLnBrk="1" hangingPunct="1">
              <a:spcBef>
                <a:spcPct val="0"/>
              </a:spcBef>
              <a:buFontTx/>
              <a:buNone/>
            </a:pPr>
            <a:r>
              <a:rPr lang="fr-FR"/>
              <a:t>int sparseMatrix[10][3]={</a:t>
            </a:r>
          </a:p>
          <a:p>
            <a:pPr algn="l" eaLnBrk="1" hangingPunct="1">
              <a:spcBef>
                <a:spcPct val="0"/>
              </a:spcBef>
              <a:buFontTx/>
              <a:buNone/>
            </a:pPr>
            <a:r>
              <a:rPr lang="fr-FR"/>
              <a:t>	</a:t>
            </a:r>
            <a:r>
              <a:rPr lang="fr-FR">
                <a:solidFill>
                  <a:srgbClr val="FF3300"/>
                </a:solidFill>
              </a:rPr>
              <a:t>7,7,9</a:t>
            </a:r>
            <a:r>
              <a:rPr lang="fr-FR"/>
              <a:t>,</a:t>
            </a:r>
          </a:p>
          <a:p>
            <a:pPr algn="l" eaLnBrk="1" hangingPunct="1">
              <a:spcBef>
                <a:spcPct val="0"/>
              </a:spcBef>
              <a:buFontTx/>
              <a:buNone/>
            </a:pPr>
            <a:r>
              <a:rPr lang="fr-FR"/>
              <a:t>	0,3,5,</a:t>
            </a:r>
          </a:p>
          <a:p>
            <a:pPr algn="l" eaLnBrk="1" hangingPunct="1">
              <a:spcBef>
                <a:spcPct val="0"/>
              </a:spcBef>
              <a:buFontTx/>
              <a:buNone/>
            </a:pPr>
            <a:r>
              <a:rPr lang="fr-FR"/>
              <a:t>	1,1,4,</a:t>
            </a:r>
          </a:p>
          <a:p>
            <a:pPr algn="l" eaLnBrk="1" hangingPunct="1">
              <a:spcBef>
                <a:spcPct val="0"/>
              </a:spcBef>
              <a:buFontTx/>
              <a:buNone/>
            </a:pPr>
            <a:r>
              <a:rPr lang="fr-FR"/>
              <a:t>	1,6,7,</a:t>
            </a:r>
          </a:p>
          <a:p>
            <a:pPr algn="l" eaLnBrk="1" hangingPunct="1">
              <a:spcBef>
                <a:spcPct val="0"/>
              </a:spcBef>
              <a:buFontTx/>
              <a:buNone/>
            </a:pPr>
            <a:r>
              <a:rPr lang="fr-FR"/>
              <a:t>	2,4,9,</a:t>
            </a:r>
          </a:p>
          <a:p>
            <a:pPr algn="l" eaLnBrk="1" hangingPunct="1">
              <a:spcBef>
                <a:spcPct val="0"/>
              </a:spcBef>
              <a:buFontTx/>
              <a:buNone/>
            </a:pPr>
            <a:r>
              <a:rPr lang="fr-FR"/>
              <a:t>	3,1,3,</a:t>
            </a:r>
          </a:p>
          <a:p>
            <a:pPr algn="l" eaLnBrk="1" hangingPunct="1">
              <a:spcBef>
                <a:spcPct val="0"/>
              </a:spcBef>
              <a:buFontTx/>
              <a:buNone/>
            </a:pPr>
            <a:r>
              <a:rPr lang="fr-FR"/>
              <a:t>	3,3,2,</a:t>
            </a:r>
          </a:p>
          <a:p>
            <a:pPr algn="l" eaLnBrk="1" hangingPunct="1">
              <a:spcBef>
                <a:spcPct val="0"/>
              </a:spcBef>
              <a:buFontTx/>
              <a:buNone/>
            </a:pPr>
            <a:r>
              <a:rPr lang="fr-FR"/>
              <a:t>	4,0,1,</a:t>
            </a:r>
          </a:p>
          <a:p>
            <a:pPr algn="l" eaLnBrk="1" hangingPunct="1">
              <a:spcBef>
                <a:spcPct val="0"/>
              </a:spcBef>
              <a:buFontTx/>
              <a:buNone/>
            </a:pPr>
            <a:r>
              <a:rPr lang="fr-FR"/>
              <a:t>	4,2,2,</a:t>
            </a:r>
          </a:p>
          <a:p>
            <a:pPr algn="l" eaLnBrk="1" hangingPunct="1">
              <a:spcBef>
                <a:spcPct val="0"/>
              </a:spcBef>
              <a:buFontTx/>
              <a:buNone/>
            </a:pPr>
            <a:r>
              <a:rPr lang="fr-FR"/>
              <a:t>	6,2,8</a:t>
            </a:r>
          </a:p>
          <a:p>
            <a:pPr algn="l" eaLnBrk="1" hangingPunct="1">
              <a:spcBef>
                <a:spcPct val="0"/>
              </a:spcBef>
              <a:buFontTx/>
              <a:buNone/>
            </a:pPr>
            <a:r>
              <a:rPr lang="fr-FR"/>
              <a:t>};</a:t>
            </a:r>
            <a:endParaRPr lang="en-US"/>
          </a:p>
        </p:txBody>
      </p:sp>
      <p:sp>
        <p:nvSpPr>
          <p:cNvPr id="75780" name="Text Box 5"/>
          <p:cNvSpPr txBox="1">
            <a:spLocks noChangeArrowheads="1"/>
          </p:cNvSpPr>
          <p:nvPr/>
        </p:nvSpPr>
        <p:spPr bwMode="auto">
          <a:xfrm>
            <a:off x="3352800" y="1258888"/>
            <a:ext cx="5486400" cy="521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2800" b="1" u="sng"/>
              <a:t>NOTE:</a:t>
            </a:r>
            <a:r>
              <a:rPr lang="en-US" sz="2800"/>
              <a:t> </a:t>
            </a:r>
          </a:p>
          <a:p>
            <a:pPr eaLnBrk="1" hangingPunct="1">
              <a:spcBef>
                <a:spcPct val="50000"/>
              </a:spcBef>
            </a:pPr>
            <a:r>
              <a:rPr lang="en-US" sz="2800"/>
              <a:t> The first row (i.e. 0</a:t>
            </a:r>
            <a:r>
              <a:rPr lang="en-US" sz="2800" baseline="30000"/>
              <a:t>th</a:t>
            </a:r>
            <a:r>
              <a:rPr lang="en-US" sz="2800"/>
              <a:t> row) in this array stores the information about the Total number of rows, columns and non-zero elements present in the given array.</a:t>
            </a:r>
          </a:p>
          <a:p>
            <a:pPr eaLnBrk="1" hangingPunct="1">
              <a:spcBef>
                <a:spcPct val="50000"/>
              </a:spcBef>
            </a:pPr>
            <a:r>
              <a:rPr lang="en-US" sz="2800"/>
              <a:t> From the 1</a:t>
            </a:r>
            <a:r>
              <a:rPr lang="en-US" sz="2800" baseline="30000"/>
              <a:t>st</a:t>
            </a:r>
            <a:r>
              <a:rPr lang="en-US" sz="2800"/>
              <a:t> row onwards this array stores the row and column position of a non-zero element and the value of the non-zero element.</a:t>
            </a:r>
          </a:p>
        </p:txBody>
      </p:sp>
      <p:sp>
        <p:nvSpPr>
          <p:cNvPr id="75781" name="Rectangle 6"/>
          <p:cNvSpPr>
            <a:spLocks noChangeArrowheads="1"/>
          </p:cNvSpPr>
          <p:nvPr/>
        </p:nvSpPr>
        <p:spPr bwMode="auto">
          <a:xfrm>
            <a:off x="381000" y="76200"/>
            <a:ext cx="8382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sz="2400" b="1" u="sng">
                <a:solidFill>
                  <a:schemeClr val="tx2"/>
                </a:solidFill>
              </a:rPr>
              <a:t>3-tuple Representation of a sparse matrix in memory</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36917</TotalTime>
  <Words>3613</Words>
  <Application>Microsoft Office PowerPoint</Application>
  <PresentationFormat>On-screen Show (4:3)</PresentationFormat>
  <Paragraphs>700</Paragraphs>
  <Slides>107</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107</vt:i4>
      </vt:variant>
    </vt:vector>
  </HeadingPairs>
  <TitlesOfParts>
    <vt:vector size="109" baseType="lpstr">
      <vt:lpstr>Arial</vt:lpstr>
      <vt:lpstr>Default Design</vt:lpstr>
      <vt:lpstr>TREES</vt:lpstr>
      <vt:lpstr>TREE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Representation of Binary tree in memory</vt:lpstr>
      <vt:lpstr>PowerPoint Presentation</vt:lpstr>
      <vt:lpstr>PowerPoint Presentation</vt:lpstr>
      <vt:lpstr>Array representation</vt:lpstr>
      <vt:lpstr>PowerPoint Presentation</vt:lpstr>
      <vt:lpstr>PowerPoint Presentation</vt:lpstr>
      <vt:lpstr>PowerPoint Presentation</vt:lpstr>
      <vt:lpstr>Strictly Binary Tree</vt:lpstr>
      <vt:lpstr>PowerPoint Presentation</vt:lpstr>
      <vt:lpstr>PowerPoint Presentation</vt:lpstr>
      <vt:lpstr>COMPLETE BINARY TREE: A  complete binary tree is a binary tree that satisfies two conditions: 1. In a complete binary tree, every level, except possibly the last, is completely filled. 2. All nodes are as far left as possible.</vt:lpstr>
      <vt:lpstr>PowerPoint Presentation</vt:lpstr>
      <vt:lpstr>PowerPoint Presentation</vt:lpstr>
      <vt:lpstr>PowerPoint Presentation</vt:lpstr>
      <vt:lpstr>PowerPoint Presentation</vt:lpstr>
      <vt:lpstr>PowerPoint Presentation</vt:lpstr>
      <vt:lpstr>PowerPoint Presentation</vt:lpstr>
      <vt:lpstr>TRAVERSALS IN BINARY TREE</vt:lpstr>
      <vt:lpstr>Preorder Traversal</vt:lpstr>
      <vt:lpstr>Inorder Traversal</vt:lpstr>
      <vt:lpstr>Postorder Traversal</vt:lpstr>
      <vt:lpstr>PowerPoint Presentation</vt:lpstr>
      <vt:lpstr>PowerPoint Presentation</vt:lpstr>
      <vt:lpstr>PowerPoint Presentation</vt:lpstr>
      <vt:lpstr>PowerPoint Presentation</vt:lpstr>
      <vt:lpstr>PowerPoint Presentation</vt:lpstr>
      <vt:lpstr>PowerPoint Presentation</vt:lpstr>
      <vt:lpstr>PROBLEM: Write the preorder, inorder and postorder sequence of nodes.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Post Order: F D J G E B I H C A</vt:lpstr>
      <vt:lpstr>PowerPoint Presentation</vt:lpstr>
      <vt:lpstr>PowerPoint Presentation</vt:lpstr>
      <vt:lpstr>PowerPoint Presentation</vt:lpstr>
      <vt:lpstr>PowerPoint Presentation</vt:lpstr>
      <vt:lpstr>Binary Search Tree (BST)</vt:lpstr>
      <vt:lpstr>PowerPoint Presentation</vt:lpstr>
      <vt:lpstr>PowerPoint Presentation</vt:lpstr>
      <vt:lpstr>PowerPoint Presentation</vt:lpstr>
      <vt:lpstr>PowerPoint Presentation</vt:lpstr>
      <vt:lpstr>PowerPoint Presentation</vt:lpstr>
      <vt:lpstr>PowerPoint Presentation</vt:lpstr>
      <vt:lpstr>Searching of a node in a BST</vt:lpstr>
      <vt:lpstr>PowerPoint Presentation</vt:lpstr>
      <vt:lpstr>Insertion of a node in a BST</vt:lpstr>
      <vt:lpstr>PowerPoint Presentation</vt:lpstr>
      <vt:lpstr>Deletion from a BST</vt:lpstr>
      <vt:lpstr>Case 1: Node-to-be-deleted has no children</vt:lpstr>
      <vt:lpstr>PowerPoint Presentation</vt:lpstr>
      <vt:lpstr>Case 2: Node-to-be-deleted has exactly one child</vt:lpstr>
      <vt:lpstr>PowerPoint Presentation</vt:lpstr>
      <vt:lpstr>Case 3: Node-to-be-deleted has two children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AVL Trees</vt:lpstr>
      <vt:lpstr>PowerPoint Presentation</vt:lpstr>
      <vt:lpstr>PowerPoint Presentation</vt:lpstr>
      <vt:lpstr>PowerPoint Presentation</vt:lpstr>
      <vt:lpstr>PowerPoint Presentation</vt:lpstr>
      <vt:lpstr>PowerPoint Presentation</vt:lpstr>
      <vt:lpstr>Create AVL tree with the following nodes :  21, 17, 15, 23, 27, 20, 10, 13</vt:lpstr>
      <vt:lpstr>PowerPoint Presentation</vt:lpstr>
      <vt:lpstr>PowerPoint Presentation</vt:lpstr>
      <vt:lpstr>PowerPoint Presentation</vt:lpstr>
      <vt:lpstr>PowerPoint Presentation</vt:lpstr>
      <vt:lpstr>PowerPoint Presentation</vt:lpstr>
      <vt:lpstr>PowerPoint Presentation</vt:lpstr>
      <vt:lpstr>MCA 2021-22</vt:lpstr>
      <vt:lpstr>PowerPoint Presentation</vt:lpstr>
      <vt:lpstr>Sparse Matrix</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NVN</dc:creator>
  <cp:lastModifiedBy>Naveen</cp:lastModifiedBy>
  <cp:revision>236</cp:revision>
  <dcterms:created xsi:type="dcterms:W3CDTF">2005-06-30T02:27:22Z</dcterms:created>
  <dcterms:modified xsi:type="dcterms:W3CDTF">2025-05-07T07:04:33Z</dcterms:modified>
</cp:coreProperties>
</file>